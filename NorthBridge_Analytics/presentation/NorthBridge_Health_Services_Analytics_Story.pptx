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Tickets</c:v>
                </c:pt>
              </c:strCache>
            </c:strRef>
          </c:tx>
          <c:spPr>
            <a:solidFill>
              <a:srgbClr val="1C7293"/>
            </a:solidFill>
            <a:effectLst/>
          </c:spPr>
          <c:invertIfNegative val="0"/>
          <c:dLbls>
            <c:numFmt formatCode="#,##0" sourceLinked="0"/>
            <c:txPr>
              <a:bodyPr/>
              <a:lstStyle/>
              <a:p>
                <a:pPr>
                  <a:defRPr b="0" i="0" strike="noStrike" sz="1100" u="none">
                    <a:solidFill>
                      <a:srgbClr val="26313A"/>
                    </a:solidFill>
                    <a:latin typeface="Arial"/>
                  </a:defRPr>
                </a:pPr>
              </a:p>
            </c:txPr>
            <c:showLegendKey val="0"/>
            <c:showVal val="1"/>
            <c:showCatName val="0"/>
            <c:showSerName val="0"/>
            <c:showPercent val="0"/>
            <c:showBubbleSize val="0"/>
            <c:showLeaderLines val="0"/>
          </c:dLbls>
          <c:cat>
            <c:multiLvlStrRef>
              <c:f>Sheet1!$A$2:$A$6</c:f>
              <c:multiLvlStrCache>
                <c:ptCount val="5"/>
                <c:lvl>
                  <c:pt idx="0">
                    <c:v>Appointment
Change</c:v>
                  </c:pt>
                  <c:pt idx="1">
                    <c:v>Billing
Issue</c:v>
                  </c:pt>
                  <c:pt idx="2">
                    <c:v>Insurance
Query</c:v>
                  </c:pt>
                  <c:pt idx="3">
                    <c:v>Document
Request</c:v>
                  </c:pt>
                  <c:pt idx="4">
                    <c:v>Complaint</c:v>
                  </c:pt>
                </c:lvl>
              </c:multiLvlStrCache>
            </c:multiLvlStrRef>
          </c:cat>
          <c:val>
            <c:numRef>
              <c:f>Sheet1!$B$2:$B$6</c:f>
              <c:numCache>
                <c:formatCode>General</c:formatCode>
                <c:ptCount val="5"/>
                <c:pt idx="0">
                  <c:v>1200</c:v>
                </c:pt>
                <c:pt idx="1">
                  <c:v>873</c:v>
                </c:pt>
                <c:pt idx="2">
                  <c:v>706</c:v>
                </c:pt>
                <c:pt idx="3">
                  <c:v>415</c:v>
                </c:pt>
                <c:pt idx="4">
                  <c:v>306</c:v>
                </c:pt>
              </c:numCache>
            </c:numRef>
          </c:val>
        </c:ser>
        <c:dLbls>
          <c:numFmt formatCode="#,##0" sourceLinked="0"/>
          <c:txPr>
            <a:bodyPr/>
            <a:lstStyle/>
            <a:p>
              <a:pPr>
                <a:defRPr b="0" i="0" strike="noStrike" sz="1100" u="none">
                  <a:solidFill>
                    <a:srgbClr val="26313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26313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Tickets</c:v>
                </c:pt>
              </c:strCache>
            </c:strRef>
          </c:tx>
          <c:spPr>
            <a:solidFill>
              <a:srgbClr val="0B2E4F"/>
            </a:solidFill>
            <a:effectLst/>
          </c:spPr>
          <c:invertIfNegative val="0"/>
          <c:dLbls>
            <c:numFmt formatCode="#,##0" sourceLinked="0"/>
            <c:txPr>
              <a:bodyPr/>
              <a:lstStyle/>
              <a:p>
                <a:pPr>
                  <a:defRPr b="0" i="0" strike="noStrike" sz="1100" u="none">
                    <a:solidFill>
                      <a:srgbClr val="26313A"/>
                    </a:solidFill>
                    <a:latin typeface="Arial"/>
                  </a:defRPr>
                </a:pPr>
              </a:p>
            </c:txPr>
            <c:showLegendKey val="0"/>
            <c:showVal val="1"/>
            <c:showCatName val="0"/>
            <c:showSerName val="0"/>
            <c:showPercent val="0"/>
            <c:showBubbleSize val="0"/>
            <c:showLeaderLines val="0"/>
          </c:dLbls>
          <c:cat>
            <c:multiLvlStrRef>
              <c:f>Sheet1!$A$2:$A$5</c:f>
              <c:multiLvlStrCache>
                <c:ptCount val="4"/>
                <c:lvl>
                  <c:pt idx="0">
                    <c:v>Email</c:v>
                  </c:pt>
                  <c:pt idx="1">
                    <c:v>Portal</c:v>
                  </c:pt>
                  <c:pt idx="2">
                    <c:v>Phone</c:v>
                  </c:pt>
                  <c:pt idx="3">
                    <c:v>Form</c:v>
                  </c:pt>
                </c:lvl>
              </c:multiLvlStrCache>
            </c:multiLvlStrRef>
          </c:cat>
          <c:val>
            <c:numRef>
              <c:f>Sheet1!$B$2:$B$5</c:f>
              <c:numCache>
                <c:formatCode>General</c:formatCode>
                <c:ptCount val="4"/>
                <c:pt idx="0">
                  <c:v>1221</c:v>
                </c:pt>
                <c:pt idx="1">
                  <c:v>977</c:v>
                </c:pt>
                <c:pt idx="2">
                  <c:v>905</c:v>
                </c:pt>
                <c:pt idx="3">
                  <c:v>397</c:v>
                </c:pt>
              </c:numCache>
            </c:numRef>
          </c:val>
        </c:ser>
        <c:dLbls>
          <c:numFmt formatCode="#,##0" sourceLinked="0"/>
          <c:txPr>
            <a:bodyPr/>
            <a:lstStyle/>
            <a:p>
              <a:pPr>
                <a:defRPr b="0" i="0" strike="noStrike" sz="1100" u="none">
                  <a:solidFill>
                    <a:srgbClr val="2631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313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Hours</c:v>
                </c:pt>
              </c:strCache>
            </c:strRef>
          </c:tx>
          <c:spPr>
            <a:solidFill>
              <a:srgbClr val="E4572E"/>
            </a:solidFill>
            <a:effectLst/>
          </c:spPr>
          <c:invertIfNegative val="0"/>
          <c:dLbls>
            <c:numFmt formatCode="#,##0" sourceLinked="0"/>
            <c:txPr>
              <a:bodyPr/>
              <a:lstStyle/>
              <a:p>
                <a:pPr>
                  <a:defRPr b="0" i="0" strike="noStrike" sz="1100" u="none">
                    <a:solidFill>
                      <a:srgbClr val="26313A"/>
                    </a:solidFill>
                    <a:latin typeface="Arial"/>
                  </a:defRPr>
                </a:pPr>
              </a:p>
            </c:txPr>
            <c:showLegendKey val="0"/>
            <c:showVal val="1"/>
            <c:showCatName val="0"/>
            <c:showSerName val="0"/>
            <c:showPercent val="0"/>
            <c:showBubbleSize val="0"/>
            <c:showLeaderLines val="0"/>
          </c:dLbls>
          <c:cat>
            <c:multiLvlStrRef>
              <c:f>Sheet1!$A$2:$A$5</c:f>
              <c:multiLvlStrCache>
                <c:ptCount val="4"/>
                <c:lvl>
                  <c:pt idx="0">
                    <c:v>P1 Critical</c:v>
                  </c:pt>
                  <c:pt idx="1">
                    <c:v>P2 High</c:v>
                  </c:pt>
                  <c:pt idx="2">
                    <c:v>P3 Standard</c:v>
                  </c:pt>
                  <c:pt idx="3">
                    <c:v>P4 Low</c:v>
                  </c:pt>
                </c:lvl>
              </c:multiLvlStrCache>
            </c:multiLvlStrRef>
          </c:cat>
          <c:val>
            <c:numRef>
              <c:f>Sheet1!$B$2:$B$5</c:f>
              <c:numCache>
                <c:formatCode>General</c:formatCode>
                <c:ptCount val="4"/>
                <c:pt idx="0">
                  <c:v>1.2</c:v>
                </c:pt>
                <c:pt idx="1">
                  <c:v>2.5</c:v>
                </c:pt>
                <c:pt idx="2">
                  <c:v>4.7</c:v>
                </c:pt>
                <c:pt idx="3">
                  <c:v>14.2</c:v>
                </c:pt>
              </c:numCache>
            </c:numRef>
          </c:val>
        </c:ser>
        <c:dLbls>
          <c:numFmt formatCode="#,##0" sourceLinked="0"/>
          <c:txPr>
            <a:bodyPr/>
            <a:lstStyle/>
            <a:p>
              <a:pPr>
                <a:defRPr b="0" i="0" strike="noStrike" sz="1100" u="none">
                  <a:solidFill>
                    <a:srgbClr val="2631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313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Hours</c:v>
                </c:pt>
              </c:strCache>
            </c:strRef>
          </c:tx>
          <c:spPr>
            <a:solidFill>
              <a:srgbClr val="1C7293"/>
            </a:solidFill>
            <a:effectLst/>
          </c:spPr>
          <c:invertIfNegative val="0"/>
          <c:dLbls>
            <c:numFmt formatCode="#,##0" sourceLinked="0"/>
            <c:txPr>
              <a:bodyPr/>
              <a:lstStyle/>
              <a:p>
                <a:pPr>
                  <a:defRPr b="0" i="0" strike="noStrike" sz="1100" u="none">
                    <a:solidFill>
                      <a:srgbClr val="26313A"/>
                    </a:solidFill>
                    <a:latin typeface="Arial"/>
                  </a:defRPr>
                </a:pPr>
              </a:p>
            </c:txPr>
            <c:showLegendKey val="0"/>
            <c:showVal val="1"/>
            <c:showCatName val="0"/>
            <c:showSerName val="0"/>
            <c:showPercent val="0"/>
            <c:showBubbleSize val="0"/>
            <c:showLeaderLines val="0"/>
          </c:dLbls>
          <c:cat>
            <c:multiLvlStrRef>
              <c:f>Sheet1!$A$2:$A$5</c:f>
              <c:multiLvlStrCache>
                <c:ptCount val="4"/>
                <c:lvl>
                  <c:pt idx="0">
                    <c:v>P1 Critical</c:v>
                  </c:pt>
                  <c:pt idx="1">
                    <c:v>P2 High</c:v>
                  </c:pt>
                  <c:pt idx="2">
                    <c:v>P3 Standard</c:v>
                  </c:pt>
                  <c:pt idx="3">
                    <c:v>P4 Low</c:v>
                  </c:pt>
                </c:lvl>
              </c:multiLvlStrCache>
            </c:multiLvlStrRef>
          </c:cat>
          <c:val>
            <c:numRef>
              <c:f>Sheet1!$B$2:$B$5</c:f>
              <c:numCache>
                <c:formatCode>General</c:formatCode>
                <c:ptCount val="4"/>
                <c:pt idx="0">
                  <c:v>5.3</c:v>
                </c:pt>
                <c:pt idx="1">
                  <c:v>15</c:v>
                </c:pt>
                <c:pt idx="2">
                  <c:v>47.3</c:v>
                </c:pt>
                <c:pt idx="3">
                  <c:v>83.4</c:v>
                </c:pt>
              </c:numCache>
            </c:numRef>
          </c:val>
        </c:ser>
        <c:dLbls>
          <c:numFmt formatCode="#,##0" sourceLinked="0"/>
          <c:txPr>
            <a:bodyPr/>
            <a:lstStyle/>
            <a:p>
              <a:pPr>
                <a:defRPr b="0" i="0" strike="noStrike" sz="1100" u="none">
                  <a:solidFill>
                    <a:srgbClr val="2631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313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Breached tickets</c:v>
                </c:pt>
              </c:strCache>
            </c:strRef>
          </c:tx>
          <c:spPr>
            <a:solidFill>
              <a:srgbClr val="E4572E"/>
            </a:solidFill>
            <a:effectLst/>
          </c:spPr>
          <c:invertIfNegative val="0"/>
          <c:dLbls>
            <c:numFmt formatCode="#,##0" sourceLinked="0"/>
            <c:txPr>
              <a:bodyPr/>
              <a:lstStyle/>
              <a:p>
                <a:pPr>
                  <a:defRPr b="0" i="0" strike="noStrike" sz="1100" u="none">
                    <a:solidFill>
                      <a:srgbClr val="26313A"/>
                    </a:solidFill>
                    <a:latin typeface="Arial"/>
                  </a:defRPr>
                </a:pPr>
              </a:p>
            </c:txPr>
            <c:showLegendKey val="0"/>
            <c:showVal val="1"/>
            <c:showCatName val="0"/>
            <c:showSerName val="0"/>
            <c:showPercent val="0"/>
            <c:showBubbleSize val="0"/>
            <c:showLeaderLines val="0"/>
          </c:dLbls>
          <c:cat>
            <c:multiLvlStrRef>
              <c:f>Sheet1!$A$2:$A$5</c:f>
              <c:multiLvlStrCache>
                <c:ptCount val="4"/>
                <c:lvl>
                  <c:pt idx="0">
                    <c:v>P3 Standard</c:v>
                  </c:pt>
                  <c:pt idx="1">
                    <c:v>P2 High</c:v>
                  </c:pt>
                  <c:pt idx="2">
                    <c:v>P4 Low</c:v>
                  </c:pt>
                  <c:pt idx="3">
                    <c:v>P1 Critical</c:v>
                  </c:pt>
                </c:lvl>
              </c:multiLvlStrCache>
            </c:multiLvlStrRef>
          </c:cat>
          <c:val>
            <c:numRef>
              <c:f>Sheet1!$B$2:$B$5</c:f>
              <c:numCache>
                <c:formatCode>General</c:formatCode>
                <c:ptCount val="4"/>
                <c:pt idx="0">
                  <c:v>426</c:v>
                </c:pt>
                <c:pt idx="1">
                  <c:v>168</c:v>
                </c:pt>
                <c:pt idx="2">
                  <c:v>86</c:v>
                </c:pt>
                <c:pt idx="3">
                  <c:v>74</c:v>
                </c:pt>
              </c:numCache>
            </c:numRef>
          </c:val>
        </c:ser>
        <c:dLbls>
          <c:numFmt formatCode="#,##0" sourceLinked="0"/>
          <c:txPr>
            <a:bodyPr/>
            <a:lstStyle/>
            <a:p>
              <a:pPr>
                <a:defRPr b="0" i="0" strike="noStrike" sz="1100" u="none">
                  <a:solidFill>
                    <a:srgbClr val="26313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6313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Days</c:v>
                </c:pt>
              </c:strCache>
            </c:strRef>
          </c:tx>
          <c:spPr>
            <a:solidFill>
              <a:srgbClr val="9FD8DE"/>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P4</c:v>
                  </c:pt>
                  <c:pt idx="1">
                    <c:v>P2</c:v>
                  </c:pt>
                  <c:pt idx="2">
                    <c:v>P3</c:v>
                  </c:pt>
                  <c:pt idx="3">
                    <c:v>P1</c:v>
                  </c:pt>
                </c:lvl>
              </c:multiLvlStrCache>
            </c:multiLvlStrRef>
          </c:cat>
          <c:val>
            <c:numRef>
              <c:f>Sheet1!$B$2:$B$5</c:f>
              <c:numCache>
                <c:formatCode>General</c:formatCode>
                <c:ptCount val="4"/>
                <c:pt idx="0">
                  <c:v>432.7</c:v>
                </c:pt>
                <c:pt idx="1">
                  <c:v>413.4</c:v>
                </c:pt>
                <c:pt idx="2">
                  <c:v>403.6</c:v>
                </c:pt>
                <c:pt idx="3">
                  <c:v>402.7</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2E4F"/>
        </a:solid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Past SLA</c:v>
                </c:pt>
              </c:strCache>
            </c:strRef>
          </c:tx>
          <c:spPr>
            <a:solidFill>
              <a:srgbClr val="E4572E"/>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P3</c:v>
                  </c:pt>
                  <c:pt idx="1">
                    <c:v>P2</c:v>
                  </c:pt>
                  <c:pt idx="2">
                    <c:v>P4</c:v>
                  </c:pt>
                  <c:pt idx="3">
                    <c:v>P1</c:v>
                  </c:pt>
                </c:lvl>
              </c:multiLvlStrCache>
            </c:multiLvlStrRef>
          </c:cat>
          <c:val>
            <c:numRef>
              <c:f>Sheet1!$B$2:$B$5</c:f>
              <c:numCache>
                <c:formatCode>General</c:formatCode>
                <c:ptCount val="4"/>
                <c:pt idx="0">
                  <c:v>1253</c:v>
                </c:pt>
                <c:pt idx="1">
                  <c:v>511</c:v>
                </c:pt>
                <c:pt idx="2">
                  <c:v>253</c:v>
                </c:pt>
                <c:pt idx="3">
                  <c:v>163</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2E4F"/>
        </a:solid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Escalation rate</c:v>
                </c:pt>
              </c:strCache>
            </c:strRef>
          </c:tx>
          <c:spPr>
            <a:solidFill>
              <a:srgbClr val="1C7293"/>
            </a:solidFill>
            <a:effectLst/>
          </c:spPr>
          <c:invertIfNegative val="0"/>
          <c:dLbls>
            <c:numFmt formatCode="0.0&quot;%&quot;" sourceLinked="0"/>
            <c:txPr>
              <a:bodyPr/>
              <a:lstStyle/>
              <a:p>
                <a:pPr>
                  <a:defRPr b="0" i="0" strike="noStrike" sz="1050" u="none">
                    <a:solidFill>
                      <a:srgbClr val="26313A"/>
                    </a:solidFill>
                    <a:latin typeface="Arial"/>
                  </a:defRPr>
                </a:pPr>
              </a:p>
            </c:txPr>
            <c:showLegendKey val="0"/>
            <c:showVal val="1"/>
            <c:showCatName val="0"/>
            <c:showSerName val="0"/>
            <c:showPercent val="0"/>
            <c:showBubbleSize val="0"/>
            <c:showLeaderLines val="0"/>
          </c:dLbls>
          <c:cat>
            <c:multiLvlStrRef>
              <c:f>Sheet1!$A$2:$A$7</c:f>
              <c:multiLvlStrCache>
                <c:ptCount val="6"/>
                <c:lvl>
                  <c:pt idx="0">
                    <c:v>Isla Clarke</c:v>
                  </c:pt>
                  <c:pt idx="1">
                    <c:v>Charlie Nowak</c:v>
                  </c:pt>
                  <c:pt idx="2">
                    <c:v>Parveen Campbell</c:v>
                  </c:pt>
                  <c:pt idx="3">
                    <c:v>Declan Osei</c:v>
                  </c:pt>
                  <c:pt idx="4">
                    <c:v>Ananya Byrne</c:v>
                  </c:pt>
                  <c:pt idx="5">
                    <c:v>Ava Kowalczyk</c:v>
                  </c:pt>
                </c:lvl>
              </c:multiLvlStrCache>
            </c:multiLvlStrRef>
          </c:cat>
          <c:val>
            <c:numRef>
              <c:f>Sheet1!$B$2:$B$7</c:f>
              <c:numCache>
                <c:formatCode>General</c:formatCode>
                <c:ptCount val="6"/>
                <c:pt idx="0">
                  <c:v>20</c:v>
                </c:pt>
                <c:pt idx="1">
                  <c:v>15.9</c:v>
                </c:pt>
                <c:pt idx="2">
                  <c:v>15</c:v>
                </c:pt>
                <c:pt idx="3">
                  <c:v>12.9</c:v>
                </c:pt>
                <c:pt idx="4">
                  <c:v>12.7</c:v>
                </c:pt>
                <c:pt idx="5">
                  <c:v>6.5</c:v>
                </c:pt>
              </c:numCache>
            </c:numRef>
          </c:val>
        </c:ser>
        <c:dLbls>
          <c:numFmt formatCode="0.0&quot;%&quot;" sourceLinked="0"/>
          <c:txPr>
            <a:bodyPr/>
            <a:lstStyle/>
            <a:p>
              <a:pPr>
                <a:defRPr b="0" i="0" strike="noStrike" sz="1050" u="none">
                  <a:solidFill>
                    <a:srgbClr val="26313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26313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Resolution rate</c:v>
                </c:pt>
              </c:strCache>
            </c:strRef>
          </c:tx>
          <c:spPr>
            <a:solidFill>
              <a:srgbClr val="1C7293"/>
            </a:solidFill>
            <a:effectLst/>
          </c:spPr>
          <c:invertIfNegative val="0"/>
          <c:dLbls>
            <c:numFmt formatCode="0.0&quot;%&quot;" sourceLinked="0"/>
            <c:txPr>
              <a:bodyPr/>
              <a:lstStyle/>
              <a:p>
                <a:pPr>
                  <a:defRPr b="0" i="0" strike="noStrike" sz="1000" u="none">
                    <a:solidFill>
                      <a:srgbClr val="26313A"/>
                    </a:solidFill>
                    <a:latin typeface="Arial"/>
                  </a:defRPr>
                </a:pPr>
              </a:p>
            </c:txPr>
            <c:showLegendKey val="0"/>
            <c:showVal val="1"/>
            <c:showCatName val="0"/>
            <c:showSerName val="0"/>
            <c:showPercent val="0"/>
            <c:showBubbleSize val="0"/>
            <c:showLeaderLines val="0"/>
          </c:dLbls>
          <c:cat>
            <c:multiLvlStrRef>
              <c:f>Sheet1!$A$2:$A$6</c:f>
              <c:multiLvlStrCache>
                <c:ptCount val="5"/>
                <c:lvl>
                  <c:pt idx="0">
                    <c:v>City Specialist
Services</c:v>
                  </c:pt>
                  <c:pt idx="1">
                    <c:v>District GP
Practice</c:v>
                  </c:pt>
                  <c:pt idx="2">
                    <c:v>Royal GP
Practice</c:v>
                  </c:pt>
                  <c:pt idx="3">
                    <c:v>Central Specialist
Services</c:v>
                  </c:pt>
                  <c:pt idx="4">
                    <c:v>Central GP
Practice</c:v>
                  </c:pt>
                </c:lvl>
              </c:multiLvlStrCache>
            </c:multiLvlStrRef>
          </c:cat>
          <c:val>
            <c:numRef>
              <c:f>Sheet1!$B$2:$B$6</c:f>
              <c:numCache>
                <c:formatCode>General</c:formatCode>
                <c:ptCount val="5"/>
                <c:pt idx="0">
                  <c:v>39.4</c:v>
                </c:pt>
                <c:pt idx="1">
                  <c:v>38.7</c:v>
                </c:pt>
                <c:pt idx="2">
                  <c:v>38.5</c:v>
                </c:pt>
                <c:pt idx="3">
                  <c:v>38.3</c:v>
                </c:pt>
                <c:pt idx="4">
                  <c:v>37.9</c:v>
                </c:pt>
              </c:numCache>
            </c:numRef>
          </c:val>
        </c:ser>
        <c:dLbls>
          <c:numFmt formatCode="0.0&quot;%&quot;" sourceLinked="0"/>
          <c:txPr>
            <a:bodyPr/>
            <a:lstStyle/>
            <a:p>
              <a:pPr>
                <a:defRPr b="0" i="0" strike="noStrike" sz="1000" u="none">
                  <a:solidFill>
                    <a:srgbClr val="26313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26313A"/>
                </a:solidFill>
                <a:latin typeface="Arial"/>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Breach rate</c:v>
                </c:pt>
              </c:strCache>
            </c:strRef>
          </c:tx>
          <c:spPr>
            <a:solidFill>
              <a:srgbClr val="E4572E"/>
            </a:solidFill>
            <a:effectLst/>
          </c:spPr>
          <c:invertIfNegative val="0"/>
          <c:dLbls>
            <c:numFmt formatCode="0.0&quot;%&quot;" sourceLinked="0"/>
            <c:txPr>
              <a:bodyPr/>
              <a:lstStyle/>
              <a:p>
                <a:pPr>
                  <a:defRPr b="0" i="0" strike="noStrike" sz="1000" u="none">
                    <a:solidFill>
                      <a:srgbClr val="26313A"/>
                    </a:solidFill>
                    <a:latin typeface="Arial"/>
                  </a:defRPr>
                </a:pPr>
              </a:p>
            </c:txPr>
            <c:showLegendKey val="0"/>
            <c:showVal val="1"/>
            <c:showCatName val="0"/>
            <c:showSerName val="0"/>
            <c:showPercent val="0"/>
            <c:showBubbleSize val="0"/>
            <c:showLeaderLines val="0"/>
          </c:dLbls>
          <c:cat>
            <c:multiLvlStrRef>
              <c:f>Sheet1!$A$2:$A$6</c:f>
              <c:multiLvlStrCache>
                <c:ptCount val="5"/>
                <c:lvl>
                  <c:pt idx="0">
                    <c:v>Marshfield Health
Associates</c:v>
                  </c:pt>
                  <c:pt idx="1">
                    <c:v>Crown GP
Practice</c:v>
                  </c:pt>
                  <c:pt idx="2">
                    <c:v>Northbrook Dental
Group</c:v>
                  </c:pt>
                  <c:pt idx="3">
                    <c:v>Queensbury GP
Practice</c:v>
                  </c:pt>
                  <c:pt idx="4">
                    <c:v>Jubilee Health
Services</c:v>
                  </c:pt>
                </c:lvl>
              </c:multiLvlStrCache>
            </c:multiLvlStrRef>
          </c:cat>
          <c:val>
            <c:numRef>
              <c:f>Sheet1!$B$2:$B$6</c:f>
              <c:numCache>
                <c:formatCode>General</c:formatCode>
                <c:ptCount val="5"/>
                <c:pt idx="0">
                  <c:v>33.3</c:v>
                </c:pt>
                <c:pt idx="1">
                  <c:v>32</c:v>
                </c:pt>
                <c:pt idx="2">
                  <c:v>30.6</c:v>
                </c:pt>
                <c:pt idx="3">
                  <c:v>29.8</c:v>
                </c:pt>
                <c:pt idx="4">
                  <c:v>29.6</c:v>
                </c:pt>
              </c:numCache>
            </c:numRef>
          </c:val>
        </c:ser>
        <c:dLbls>
          <c:numFmt formatCode="0.0&quot;%&quot;" sourceLinked="0"/>
          <c:txPr>
            <a:bodyPr/>
            <a:lstStyle/>
            <a:p>
              <a:pPr>
                <a:defRPr b="0" i="0" strike="noStrike" sz="1000" u="none">
                  <a:solidFill>
                    <a:srgbClr val="26313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26313A"/>
                </a:solidFill>
                <a:latin typeface="Arial"/>
              </a:defRPr>
            </a:pPr>
            <a:endParaRPr lang="en-US"/>
          </a:p>
        </c:txPr>
        <c:crossAx val="2094734552"/>
        <c:crosses val="autoZero"/>
        <c:auto val="1"/>
        <c:lblAlgn val="ctr"/>
        <c:noMultiLvlLbl val="1"/>
      </c:catAx>
      <c:valAx>
        <c:axId val="2094734552"/>
        <c:scaling>
          <c:orientation val="minMax"/>
          <c:max val="3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4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E4F"/>
          </a:solidFill>
          <a:ln/>
        </p:spPr>
      </p:sp>
      <p:sp>
        <p:nvSpPr>
          <p:cNvPr id="3" name="Shape 1"/>
          <p:cNvSpPr/>
          <p:nvPr/>
        </p:nvSpPr>
        <p:spPr>
          <a:xfrm>
            <a:off x="8778240" y="-2011680"/>
            <a:ext cx="5486400" cy="5486400"/>
          </a:xfrm>
          <a:prstGeom prst="ellipse">
            <a:avLst/>
          </a:prstGeom>
          <a:solidFill>
            <a:srgbClr val="1C7293">
              <a:alpha val="22000"/>
            </a:srgbClr>
          </a:solidFill>
          <a:ln/>
        </p:spPr>
      </p:sp>
      <p:sp>
        <p:nvSpPr>
          <p:cNvPr id="4" name="Shape 2"/>
          <p:cNvSpPr/>
          <p:nvPr/>
        </p:nvSpPr>
        <p:spPr>
          <a:xfrm>
            <a:off x="-2194560" y="4206240"/>
            <a:ext cx="4572000" cy="4572000"/>
          </a:xfrm>
          <a:prstGeom prst="ellipse">
            <a:avLst/>
          </a:prstGeom>
          <a:solidFill>
            <a:srgbClr val="1C7293">
              <a:alpha val="15000"/>
            </a:srgbClr>
          </a:solidFill>
          <a:ln/>
        </p:spPr>
      </p:sp>
      <p:sp>
        <p:nvSpPr>
          <p:cNvPr id="5" name="Text 3"/>
          <p:cNvSpPr txBox="1"/>
          <p:nvPr/>
        </p:nvSpPr>
        <p:spPr>
          <a:xfrm>
            <a:off x="502920" y="2148840"/>
            <a:ext cx="10058400" cy="365760"/>
          </a:xfrm>
          <a:prstGeom prst="rect">
            <a:avLst/>
          </a:prstGeom>
          <a:noFill/>
          <a:ln/>
        </p:spPr>
        <p:txBody>
          <a:bodyPr wrap="square" lIns="0" tIns="0" rIns="0" bIns="0" rtlCol="0" anchor="ctr"/>
          <a:lstStyle/>
          <a:p>
            <a:pPr indent="0" marL="0">
              <a:buNone/>
            </a:pPr>
            <a:r>
              <a:rPr lang="en-US" sz="1400" b="1" spc="300" kern="0" dirty="0">
                <a:solidFill>
                  <a:srgbClr val="9FD8DE"/>
                </a:solidFill>
                <a:latin typeface="Calibri" pitchFamily="34" charset="0"/>
                <a:ea typeface="Calibri" pitchFamily="34" charset="-122"/>
                <a:cs typeface="Calibri" pitchFamily="34" charset="-120"/>
              </a:rPr>
              <a:t>CUSTOMER SERVICE &amp; SLA OPERATIONS REVIEW</a:t>
            </a:r>
            <a:endParaRPr lang="en-US" sz="1400" dirty="0"/>
          </a:p>
        </p:txBody>
      </p:sp>
      <p:sp>
        <p:nvSpPr>
          <p:cNvPr id="6" name="Text 4"/>
          <p:cNvSpPr txBox="1"/>
          <p:nvPr/>
        </p:nvSpPr>
        <p:spPr>
          <a:xfrm>
            <a:off x="502920" y="2514600"/>
            <a:ext cx="1060704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NorthBridge Health Services Ltd</a:t>
            </a:r>
            <a:endParaRPr lang="en-US" sz="4400" dirty="0"/>
          </a:p>
        </p:txBody>
      </p:sp>
      <p:sp>
        <p:nvSpPr>
          <p:cNvPr id="7" name="Text 5"/>
          <p:cNvSpPr txBox="1"/>
          <p:nvPr/>
        </p:nvSpPr>
        <p:spPr>
          <a:xfrm>
            <a:off x="502920" y="3611880"/>
            <a:ext cx="8412480" cy="640080"/>
          </a:xfrm>
          <a:prstGeom prst="rect">
            <a:avLst/>
          </a:prstGeom>
          <a:noFill/>
          <a:ln/>
        </p:spPr>
        <p:txBody>
          <a:bodyPr wrap="square" lIns="0" tIns="0" rIns="0" bIns="0" rtlCol="0" anchor="ctr"/>
          <a:lstStyle/>
          <a:p>
            <a:pPr indent="0" marL="0">
              <a:buNone/>
            </a:pPr>
            <a:r>
              <a:rPr lang="en-US" sz="1500" dirty="0">
                <a:solidFill>
                  <a:srgbClr val="D6E9EC"/>
                </a:solidFill>
                <a:latin typeface="Calibri" pitchFamily="34" charset="0"/>
                <a:ea typeface="Calibri" pitchFamily="34" charset="-122"/>
                <a:cs typeface="Calibri" pitchFamily="34" charset="-120"/>
              </a:rPr>
              <a:t>A data-driven look at ticket performance, SLA compliance, and where the operation is under the most strain.</a:t>
            </a:r>
            <a:endParaRPr lang="en-US" sz="1500" dirty="0"/>
          </a:p>
        </p:txBody>
      </p:sp>
      <p:sp>
        <p:nvSpPr>
          <p:cNvPr id="8" name="Shape 6"/>
          <p:cNvSpPr/>
          <p:nvPr/>
        </p:nvSpPr>
        <p:spPr>
          <a:xfrm>
            <a:off x="502920" y="4434840"/>
            <a:ext cx="2194560" cy="0"/>
          </a:xfrm>
          <a:prstGeom prst="line">
            <a:avLst/>
          </a:prstGeom>
          <a:noFill/>
          <a:ln w="31750">
            <a:solidFill>
              <a:srgbClr val="1C7293"/>
            </a:solidFill>
            <a:prstDash val="solid"/>
          </a:ln>
        </p:spPr>
      </p:sp>
      <p:sp>
        <p:nvSpPr>
          <p:cNvPr id="9" name="Text 7"/>
          <p:cNvSpPr txBox="1"/>
          <p:nvPr/>
        </p:nvSpPr>
        <p:spPr>
          <a:xfrm>
            <a:off x="502920" y="4617720"/>
            <a:ext cx="9144000" cy="365760"/>
          </a:xfrm>
          <a:prstGeom prst="rect">
            <a:avLst/>
          </a:prstGeom>
          <a:noFill/>
          <a:ln/>
        </p:spPr>
        <p:txBody>
          <a:bodyPr wrap="square" lIns="0" tIns="0" rIns="0" bIns="0" rtlCol="0" anchor="ctr"/>
          <a:lstStyle/>
          <a:p>
            <a:pPr indent="0" marL="0">
              <a:buNone/>
            </a:pPr>
            <a:r>
              <a:rPr lang="en-US" sz="1300" dirty="0">
                <a:solidFill>
                  <a:srgbClr val="9FD8DE"/>
                </a:solidFill>
                <a:latin typeface="Calibri" pitchFamily="34" charset="0"/>
                <a:ea typeface="Calibri" pitchFamily="34" charset="-122"/>
                <a:cs typeface="Calibri" pitchFamily="34" charset="-120"/>
              </a:rPr>
              <a:t>Reporting period: </a:t>
            </a:r>
            <a:pPr indent="0" marL="0">
              <a:buNone/>
            </a:pPr>
            <a:r>
              <a:rPr lang="en-US" sz="1300" b="1" dirty="0">
                <a:solidFill>
                  <a:srgbClr val="FFFFFF"/>
                </a:solidFill>
                <a:latin typeface="Calibri" pitchFamily="34" charset="0"/>
                <a:ea typeface="Calibri" pitchFamily="34" charset="-122"/>
                <a:cs typeface="Calibri" pitchFamily="34" charset="-120"/>
              </a:rPr>
              <a:t>January 2023 – March 2025   </a:t>
            </a:r>
            <a:pPr indent="0" marL="0">
              <a:buNone/>
            </a:pPr>
            <a:r>
              <a:rPr lang="en-US" sz="1300" dirty="0">
                <a:solidFill>
                  <a:srgbClr val="9FD8DE"/>
                </a:solidFill>
                <a:latin typeface="Calibri" pitchFamily="34" charset="0"/>
                <a:ea typeface="Calibri" pitchFamily="34" charset="-122"/>
                <a:cs typeface="Calibri" pitchFamily="34" charset="-120"/>
              </a:rPr>
              <a:t>|   Data as of: </a:t>
            </a:r>
            <a:pPr indent="0" marL="0">
              <a:buNone/>
            </a:pPr>
            <a:r>
              <a:rPr lang="en-US" sz="1300" b="1" dirty="0">
                <a:solidFill>
                  <a:srgbClr val="FFFFFF"/>
                </a:solidFill>
                <a:latin typeface="Calibri" pitchFamily="34" charset="0"/>
                <a:ea typeface="Calibri" pitchFamily="34" charset="-122"/>
                <a:cs typeface="Calibri" pitchFamily="34" charset="-120"/>
              </a:rPr>
              <a:t>31 March 2025</a:t>
            </a:r>
            <a:endParaRPr lang="en-US" sz="1300" dirty="0"/>
          </a:p>
        </p:txBody>
      </p:sp>
      <p:sp>
        <p:nvSpPr>
          <p:cNvPr id="10" name="Text 8"/>
          <p:cNvSpPr txBox="1"/>
          <p:nvPr/>
        </p:nvSpPr>
        <p:spPr>
          <a:xfrm>
            <a:off x="502920" y="6172200"/>
            <a:ext cx="8229600" cy="320040"/>
          </a:xfrm>
          <a:prstGeom prst="rect">
            <a:avLst/>
          </a:prstGeom>
          <a:noFill/>
          <a:ln/>
        </p:spPr>
        <p:txBody>
          <a:bodyPr wrap="square" lIns="0" tIns="0" rIns="0" bIns="0" rtlCol="0" anchor="ctr"/>
          <a:lstStyle/>
          <a:p>
            <a:pPr indent="0" marL="0">
              <a:buNone/>
            </a:pPr>
            <a:r>
              <a:rPr lang="en-US" sz="1150" i="1" dirty="0">
                <a:solidFill>
                  <a:srgbClr val="9FD8DE"/>
                </a:solidFill>
                <a:latin typeface="Calibri" pitchFamily="34" charset="0"/>
                <a:ea typeface="Calibri" pitchFamily="34" charset="-122"/>
                <a:cs typeface="Calibri" pitchFamily="34" charset="-120"/>
              </a:rPr>
              <a:t>Prepared by Iheanyi Okwara  —  SQL Analysis &amp; Power BI Reporting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EXECUTIVE OVERVIEW</a:t>
            </a:r>
            <a:endParaRPr lang="en-US" sz="1200" dirty="0"/>
          </a:p>
        </p:txBody>
      </p:sp>
      <p:sp>
        <p:nvSpPr>
          <p:cNvPr id="3" name="Text 1"/>
          <p:cNvSpPr txBox="1"/>
          <p:nvPr/>
        </p:nvSpPr>
        <p:spPr>
          <a:xfrm>
            <a:off x="502920" y="603504"/>
            <a:ext cx="10607040" cy="640080"/>
          </a:xfrm>
          <a:prstGeom prst="rect">
            <a:avLst/>
          </a:prstGeom>
          <a:noFill/>
          <a:ln/>
        </p:spPr>
        <p:txBody>
          <a:bodyPr wrap="square" lIns="0" tIns="0" rIns="0" bIns="0" rtlCol="0" anchor="ctr"/>
          <a:lstStyle/>
          <a:p>
            <a:pPr indent="0" marL="0">
              <a:buNone/>
            </a:pPr>
            <a:r>
              <a:rPr lang="en-US" sz="2800" b="1" dirty="0">
                <a:solidFill>
                  <a:srgbClr val="0B2E4F"/>
                </a:solidFill>
                <a:latin typeface="Cambria" pitchFamily="34" charset="0"/>
                <a:ea typeface="Cambria" pitchFamily="34" charset="-122"/>
                <a:cs typeface="Cambria" pitchFamily="34" charset="-120"/>
              </a:rPr>
              <a:t>Where the operation stands today</a:t>
            </a:r>
            <a:endParaRPr lang="en-US" sz="2800" dirty="0"/>
          </a:p>
        </p:txBody>
      </p:sp>
      <p:sp>
        <p:nvSpPr>
          <p:cNvPr id="4" name="Shape 2"/>
          <p:cNvSpPr/>
          <p:nvPr/>
        </p:nvSpPr>
        <p:spPr>
          <a:xfrm>
            <a:off x="502920" y="1417320"/>
            <a:ext cx="2542032" cy="1234440"/>
          </a:xfrm>
          <a:prstGeom prst="roundRect">
            <a:avLst>
              <a:gd name="adj" fmla="val 5926"/>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5" name="Text 3"/>
          <p:cNvSpPr txBox="1"/>
          <p:nvPr/>
        </p:nvSpPr>
        <p:spPr>
          <a:xfrm>
            <a:off x="502920" y="1527048"/>
            <a:ext cx="2542032" cy="667512"/>
          </a:xfrm>
          <a:prstGeom prst="rect">
            <a:avLst/>
          </a:prstGeom>
          <a:noFill/>
          <a:ln/>
        </p:spPr>
        <p:txBody>
          <a:bodyPr wrap="square" lIns="0" tIns="0" rIns="0" bIns="0" rtlCol="0" anchor="ctr"/>
          <a:lstStyle/>
          <a:p>
            <a:pPr algn="ctr" indent="0" marL="0">
              <a:buNone/>
            </a:pPr>
            <a:r>
              <a:rPr lang="en-US" sz="3000" b="1" dirty="0">
                <a:solidFill>
                  <a:srgbClr val="0B2E4F"/>
                </a:solidFill>
                <a:latin typeface="Cambria" pitchFamily="34" charset="0"/>
                <a:ea typeface="Cambria" pitchFamily="34" charset="-122"/>
                <a:cs typeface="Cambria" pitchFamily="34" charset="-120"/>
              </a:rPr>
              <a:t>3,500</a:t>
            </a:r>
            <a:endParaRPr lang="en-US" sz="3000" dirty="0"/>
          </a:p>
        </p:txBody>
      </p:sp>
      <p:sp>
        <p:nvSpPr>
          <p:cNvPr id="6" name="Text 4"/>
          <p:cNvSpPr txBox="1"/>
          <p:nvPr/>
        </p:nvSpPr>
        <p:spPr>
          <a:xfrm>
            <a:off x="576072" y="2231136"/>
            <a:ext cx="2395728"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Total tickets logged</a:t>
            </a:r>
            <a:endParaRPr lang="en-US" sz="1150" dirty="0"/>
          </a:p>
        </p:txBody>
      </p:sp>
      <p:sp>
        <p:nvSpPr>
          <p:cNvPr id="7" name="Shape 5"/>
          <p:cNvSpPr/>
          <p:nvPr/>
        </p:nvSpPr>
        <p:spPr>
          <a:xfrm>
            <a:off x="3209544" y="1417320"/>
            <a:ext cx="2542032" cy="1234440"/>
          </a:xfrm>
          <a:prstGeom prst="roundRect">
            <a:avLst>
              <a:gd name="adj" fmla="val 5926"/>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8" name="Text 6"/>
          <p:cNvSpPr txBox="1"/>
          <p:nvPr/>
        </p:nvSpPr>
        <p:spPr>
          <a:xfrm>
            <a:off x="3209544" y="1527048"/>
            <a:ext cx="2542032" cy="667512"/>
          </a:xfrm>
          <a:prstGeom prst="rect">
            <a:avLst/>
          </a:prstGeom>
          <a:noFill/>
          <a:ln/>
        </p:spPr>
        <p:txBody>
          <a:bodyPr wrap="square" lIns="0" tIns="0" rIns="0" bIns="0" rtlCol="0" anchor="ctr"/>
          <a:lstStyle/>
          <a:p>
            <a:pPr algn="ctr" indent="0" marL="0">
              <a:buNone/>
            </a:pPr>
            <a:r>
              <a:rPr lang="en-US" sz="3000" b="1" dirty="0">
                <a:solidFill>
                  <a:srgbClr val="E4572E"/>
                </a:solidFill>
                <a:latin typeface="Cambria" pitchFamily="34" charset="0"/>
                <a:ea typeface="Cambria" pitchFamily="34" charset="-122"/>
                <a:cs typeface="Cambria" pitchFamily="34" charset="-120"/>
              </a:rPr>
              <a:t>37.6%</a:t>
            </a:r>
            <a:endParaRPr lang="en-US" sz="3000" dirty="0"/>
          </a:p>
        </p:txBody>
      </p:sp>
      <p:sp>
        <p:nvSpPr>
          <p:cNvPr id="9" name="Text 7"/>
          <p:cNvSpPr txBox="1"/>
          <p:nvPr/>
        </p:nvSpPr>
        <p:spPr>
          <a:xfrm>
            <a:off x="3282696" y="2231136"/>
            <a:ext cx="2395728"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Resolution rate</a:t>
            </a:r>
            <a:endParaRPr lang="en-US" sz="1150" dirty="0"/>
          </a:p>
        </p:txBody>
      </p:sp>
      <p:sp>
        <p:nvSpPr>
          <p:cNvPr id="10" name="Shape 8"/>
          <p:cNvSpPr/>
          <p:nvPr/>
        </p:nvSpPr>
        <p:spPr>
          <a:xfrm>
            <a:off x="5916168" y="1417320"/>
            <a:ext cx="2542032" cy="1234440"/>
          </a:xfrm>
          <a:prstGeom prst="roundRect">
            <a:avLst>
              <a:gd name="adj" fmla="val 5926"/>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11" name="Text 9"/>
          <p:cNvSpPr txBox="1"/>
          <p:nvPr/>
        </p:nvSpPr>
        <p:spPr>
          <a:xfrm>
            <a:off x="5916168" y="1527048"/>
            <a:ext cx="2542032" cy="667512"/>
          </a:xfrm>
          <a:prstGeom prst="rect">
            <a:avLst/>
          </a:prstGeom>
          <a:noFill/>
          <a:ln/>
        </p:spPr>
        <p:txBody>
          <a:bodyPr wrap="square" lIns="0" tIns="0" rIns="0" bIns="0" rtlCol="0" anchor="ctr"/>
          <a:lstStyle/>
          <a:p>
            <a:pPr algn="ctr" indent="0" marL="0">
              <a:buNone/>
            </a:pPr>
            <a:r>
              <a:rPr lang="en-US" sz="3000" b="1" dirty="0">
                <a:solidFill>
                  <a:srgbClr val="2E9E6B"/>
                </a:solidFill>
                <a:latin typeface="Cambria" pitchFamily="34" charset="0"/>
                <a:ea typeface="Cambria" pitchFamily="34" charset="-122"/>
                <a:cs typeface="Cambria" pitchFamily="34" charset="-120"/>
              </a:rPr>
              <a:t>78.5%</a:t>
            </a:r>
            <a:endParaRPr lang="en-US" sz="3000" dirty="0"/>
          </a:p>
        </p:txBody>
      </p:sp>
      <p:sp>
        <p:nvSpPr>
          <p:cNvPr id="12" name="Text 10"/>
          <p:cNvSpPr txBox="1"/>
          <p:nvPr/>
        </p:nvSpPr>
        <p:spPr>
          <a:xfrm>
            <a:off x="5989320" y="2231136"/>
            <a:ext cx="2395728"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SLA compliance rate</a:t>
            </a:r>
            <a:endParaRPr lang="en-US" sz="1150" dirty="0"/>
          </a:p>
        </p:txBody>
      </p:sp>
      <p:sp>
        <p:nvSpPr>
          <p:cNvPr id="13" name="Shape 11"/>
          <p:cNvSpPr/>
          <p:nvPr/>
        </p:nvSpPr>
        <p:spPr>
          <a:xfrm>
            <a:off x="8622792" y="1417320"/>
            <a:ext cx="2542032" cy="1234440"/>
          </a:xfrm>
          <a:prstGeom prst="roundRect">
            <a:avLst>
              <a:gd name="adj" fmla="val 5926"/>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14" name="Text 12"/>
          <p:cNvSpPr txBox="1"/>
          <p:nvPr/>
        </p:nvSpPr>
        <p:spPr>
          <a:xfrm>
            <a:off x="8622792" y="1527048"/>
            <a:ext cx="2542032" cy="667512"/>
          </a:xfrm>
          <a:prstGeom prst="rect">
            <a:avLst/>
          </a:prstGeom>
          <a:noFill/>
          <a:ln/>
        </p:spPr>
        <p:txBody>
          <a:bodyPr wrap="square" lIns="0" tIns="0" rIns="0" bIns="0" rtlCol="0" anchor="ctr"/>
          <a:lstStyle/>
          <a:p>
            <a:pPr algn="ctr" indent="0" marL="0">
              <a:buNone/>
            </a:pPr>
            <a:r>
              <a:rPr lang="en-US" sz="3000" b="1" dirty="0">
                <a:solidFill>
                  <a:srgbClr val="0B2E4F"/>
                </a:solidFill>
                <a:latin typeface="Cambria" pitchFamily="34" charset="0"/>
                <a:ea typeface="Cambria" pitchFamily="34" charset="-122"/>
                <a:cs typeface="Cambria" pitchFamily="34" charset="-120"/>
              </a:rPr>
              <a:t>464</a:t>
            </a:r>
            <a:endParaRPr lang="en-US" sz="3000" dirty="0"/>
          </a:p>
        </p:txBody>
      </p:sp>
      <p:sp>
        <p:nvSpPr>
          <p:cNvPr id="15" name="Text 13"/>
          <p:cNvSpPr txBox="1"/>
          <p:nvPr/>
        </p:nvSpPr>
        <p:spPr>
          <a:xfrm>
            <a:off x="8695944" y="2231136"/>
            <a:ext cx="2395728"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Escalated tickets</a:t>
            </a:r>
            <a:endParaRPr lang="en-US" sz="1150" dirty="0"/>
          </a:p>
        </p:txBody>
      </p:sp>
      <p:sp>
        <p:nvSpPr>
          <p:cNvPr id="16" name="Shape 14"/>
          <p:cNvSpPr/>
          <p:nvPr/>
        </p:nvSpPr>
        <p:spPr>
          <a:xfrm>
            <a:off x="502920" y="2880360"/>
            <a:ext cx="11183112" cy="3063240"/>
          </a:xfrm>
          <a:prstGeom prst="roundRect">
            <a:avLst>
              <a:gd name="adj" fmla="val 1791"/>
            </a:avLst>
          </a:prstGeom>
          <a:solidFill>
            <a:srgbClr val="EAF3F6"/>
          </a:solidFill>
          <a:ln w="12700">
            <a:solidFill>
              <a:srgbClr val="DDE7EA"/>
            </a:solidFill>
            <a:prstDash val="solid"/>
          </a:ln>
        </p:spPr>
      </p:sp>
      <p:sp>
        <p:nvSpPr>
          <p:cNvPr id="17" name="Text 15"/>
          <p:cNvSpPr txBox="1"/>
          <p:nvPr/>
        </p:nvSpPr>
        <p:spPr>
          <a:xfrm>
            <a:off x="822960" y="3127248"/>
            <a:ext cx="7315200" cy="365760"/>
          </a:xfrm>
          <a:prstGeom prst="rect">
            <a:avLst/>
          </a:prstGeom>
          <a:noFill/>
          <a:ln/>
        </p:spPr>
        <p:txBody>
          <a:bodyPr wrap="square" lIns="0" tIns="0" rIns="0" bIns="0" rtlCol="0" anchor="ctr"/>
          <a:lstStyle/>
          <a:p>
            <a:pPr indent="0" marL="0">
              <a:buNone/>
            </a:pPr>
            <a:r>
              <a:rPr lang="en-US" sz="1700" b="1" dirty="0">
                <a:solidFill>
                  <a:srgbClr val="0B2E4F"/>
                </a:solidFill>
                <a:latin typeface="Cambria" pitchFamily="34" charset="0"/>
                <a:ea typeface="Cambria" pitchFamily="34" charset="-122"/>
                <a:cs typeface="Cambria" pitchFamily="34" charset="-120"/>
              </a:rPr>
              <a:t>The story in brief</a:t>
            </a:r>
            <a:endParaRPr lang="en-US" sz="1700" dirty="0"/>
          </a:p>
        </p:txBody>
      </p:sp>
      <p:sp>
        <p:nvSpPr>
          <p:cNvPr id="18" name="Text 16"/>
          <p:cNvSpPr txBox="1"/>
          <p:nvPr/>
        </p:nvSpPr>
        <p:spPr>
          <a:xfrm>
            <a:off x="822960" y="3611880"/>
            <a:ext cx="10515600" cy="2194560"/>
          </a:xfrm>
          <a:prstGeom prst="rect">
            <a:avLst/>
          </a:prstGeom>
          <a:noFill/>
          <a:ln/>
        </p:spPr>
        <p:txBody>
          <a:bodyPr wrap="square" lIns="0" tIns="0" rIns="0" bIns="0" rtlCol="0" anchor="ctr"/>
          <a:lstStyle/>
          <a:p>
            <a:pPr marL="228600" indent="-228600">
              <a:lnSpc>
                <a:spcPct val="105000"/>
              </a:lnSpc>
              <a:spcAft>
                <a:spcPts val="1000"/>
              </a:spcAft>
              <a:buSzPct val="100000"/>
              <a:buChar char="•"/>
            </a:pPr>
            <a:r>
              <a:rPr lang="en-US" sz="1350" dirty="0">
                <a:solidFill>
                  <a:srgbClr val="26313A"/>
                </a:solidFill>
                <a:latin typeface="Calibri" pitchFamily="34" charset="0"/>
                <a:ea typeface="Calibri" pitchFamily="34" charset="-122"/>
                <a:cs typeface="Calibri" pitchFamily="34" charset="-120"/>
              </a:rPr>
              <a:t>Of 3,500 tickets, 37.6% carry a formal “Resolved” status and 56.7% are “Closed” — 94% finalised one way or another. The dashboard's “Open Tickets” KPI (2,183) counts everything not flagged Resolved, so it likely folds in Closed tickets too — worth clarifying before treating it as a live queue (see slide 6).</a:t>
            </a:r>
            <a:endParaRPr lang="en-US" sz="1350" dirty="0"/>
          </a:p>
          <a:p>
            <a:pPr marL="228600" indent="-228600">
              <a:lnSpc>
                <a:spcPct val="105000"/>
              </a:lnSpc>
              <a:spcAft>
                <a:spcPts val="1000"/>
              </a:spcAft>
              <a:buSzPct val="100000"/>
              <a:buChar char="•"/>
            </a:pPr>
            <a:r>
              <a:rPr lang="en-US" sz="1350" dirty="0">
                <a:solidFill>
                  <a:srgbClr val="26313A"/>
                </a:solidFill>
                <a:latin typeface="Calibri" pitchFamily="34" charset="0"/>
                <a:ea typeface="Calibri" pitchFamily="34" charset="-122"/>
                <a:cs typeface="Calibri" pitchFamily="34" charset="-120"/>
              </a:rPr>
              <a:t>SLA compliance sits at 78.5% overall, but that masks a much sharper problem underneath: once a ticket is logged as unresolved, it tends to stay that way indefinitely rather than closing out quickly.</a:t>
            </a:r>
            <a:endParaRPr lang="en-US" sz="1350" dirty="0"/>
          </a:p>
          <a:p>
            <a:pPr marL="228600" indent="-228600">
              <a:lnSpc>
                <a:spcPct val="105000"/>
              </a:lnSpc>
              <a:spcAft>
                <a:spcPts val="1000"/>
              </a:spcAft>
              <a:buSzPct val="100000"/>
              <a:buChar char="•"/>
            </a:pPr>
            <a:r>
              <a:rPr lang="en-US" sz="1350" dirty="0">
                <a:solidFill>
                  <a:srgbClr val="26313A"/>
                </a:solidFill>
                <a:latin typeface="Calibri" pitchFamily="34" charset="0"/>
                <a:ea typeface="Calibri" pitchFamily="34" charset="-122"/>
                <a:cs typeface="Calibri" pitchFamily="34" charset="-120"/>
              </a:rPr>
              <a:t>Whatever the true live backlog turns out to be, the tickets sitting in it are old — averaging 400+ days past their SLA due date across every priority level, P1 Critical included.</a:t>
            </a:r>
            <a:endParaRPr lang="en-US" sz="1350" dirty="0"/>
          </a:p>
          <a:p>
            <a:pPr marL="228600" indent="-228600">
              <a:lnSpc>
                <a:spcPct val="105000"/>
              </a:lnSpc>
              <a:spcAft>
                <a:spcPts val="1000"/>
              </a:spcAft>
              <a:buSzPct val="100000"/>
              <a:buChar char="•"/>
            </a:pPr>
            <a:r>
              <a:rPr lang="en-US" sz="1350" dirty="0">
                <a:solidFill>
                  <a:srgbClr val="26313A"/>
                </a:solidFill>
                <a:latin typeface="Calibri" pitchFamily="34" charset="0"/>
                <a:ea typeface="Calibri" pitchFamily="34" charset="-122"/>
                <a:cs typeface="Calibri" pitchFamily="34" charset="-120"/>
              </a:rPr>
              <a:t>Escalations (464, 13.3% of all tickets) broadly track with SLA breach rate by agent, and both response speed and resolution speed vary meaningfully across the team.</a:t>
            </a:r>
            <a:endParaRPr lang="en-US" sz="1350" dirty="0"/>
          </a:p>
        </p:txBody>
      </p:sp>
      <p:sp>
        <p:nvSpPr>
          <p:cNvPr id="19" name="Text 17"/>
          <p:cNvSpPr txBox="1"/>
          <p:nvPr/>
        </p:nvSpPr>
        <p:spPr>
          <a:xfrm>
            <a:off x="502920" y="6528816"/>
            <a:ext cx="7315200" cy="274320"/>
          </a:xfrm>
          <a:prstGeom prst="rect">
            <a:avLst/>
          </a:prstGeom>
          <a:noFill/>
          <a:ln/>
        </p:spPr>
        <p:txBody>
          <a:bodyPr wrap="square" lIns="0" tIns="0" rIns="0" bIns="0" rtlCol="0" anchor="ctr"/>
          <a:lstStyle/>
          <a:p>
            <a:pPr indent="0" marL="0">
              <a:buNone/>
            </a:pPr>
            <a:r>
              <a:rPr lang="en-US" sz="900" dirty="0">
                <a:solidFill>
                  <a:srgbClr val="6B7A83"/>
                </a:solidFill>
                <a:latin typeface="Calibri" pitchFamily="34" charset="0"/>
                <a:ea typeface="Calibri" pitchFamily="34" charset="-122"/>
                <a:cs typeface="Calibri" pitchFamily="34" charset="-120"/>
              </a:rPr>
              <a:t>NorthBridge Health Services Ltd  |  Executive Overview</a:t>
            </a:r>
            <a:endParaRPr lang="en-US" sz="900" dirty="0"/>
          </a:p>
        </p:txBody>
      </p:sp>
      <p:sp>
        <p:nvSpPr>
          <p:cNvPr id="20" name="Text 18"/>
          <p:cNvSpPr txBox="1"/>
          <p:nvPr/>
        </p:nvSpPr>
        <p:spPr>
          <a:xfrm>
            <a:off x="11228832" y="6528816"/>
            <a:ext cx="457200" cy="274320"/>
          </a:xfrm>
          <a:prstGeom prst="rect">
            <a:avLst/>
          </a:prstGeom>
          <a:noFill/>
          <a:ln/>
        </p:spPr>
        <p:txBody>
          <a:bodyPr wrap="square" lIns="0" tIns="0" rIns="0" bIns="0" rtlCol="0" anchor="ctr"/>
          <a:lstStyle/>
          <a:p>
            <a:pPr algn="r" indent="0" marL="0">
              <a:buNone/>
            </a:pPr>
            <a:r>
              <a:rPr lang="en-US" sz="900" dirty="0">
                <a:solidFill>
                  <a:srgbClr val="6B7A8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DEMAND PROFILE</a:t>
            </a:r>
            <a:endParaRPr lang="en-US" sz="1200" dirty="0"/>
          </a:p>
        </p:txBody>
      </p:sp>
      <p:sp>
        <p:nvSpPr>
          <p:cNvPr id="3" name="Text 1"/>
          <p:cNvSpPr txBox="1"/>
          <p:nvPr/>
        </p:nvSpPr>
        <p:spPr>
          <a:xfrm>
            <a:off x="502920" y="603504"/>
            <a:ext cx="10607040" cy="640080"/>
          </a:xfrm>
          <a:prstGeom prst="rect">
            <a:avLst/>
          </a:prstGeom>
          <a:noFill/>
          <a:ln/>
        </p:spPr>
        <p:txBody>
          <a:bodyPr wrap="square" lIns="0" tIns="0" rIns="0" bIns="0" rtlCol="0" anchor="ctr"/>
          <a:lstStyle/>
          <a:p>
            <a:pPr indent="0" marL="0">
              <a:buNone/>
            </a:pPr>
            <a:r>
              <a:rPr lang="en-US" sz="2800" b="1" dirty="0">
                <a:solidFill>
                  <a:srgbClr val="0B2E4F"/>
                </a:solidFill>
                <a:latin typeface="Cambria" pitchFamily="34" charset="0"/>
                <a:ea typeface="Cambria" pitchFamily="34" charset="-122"/>
                <a:cs typeface="Cambria" pitchFamily="34" charset="-120"/>
              </a:rPr>
              <a:t>What's driving the ticket volume</a:t>
            </a:r>
            <a:endParaRPr lang="en-US" sz="2800" dirty="0"/>
          </a:p>
        </p:txBody>
      </p:sp>
      <p:sp>
        <p:nvSpPr>
          <p:cNvPr id="4" name="Text 2"/>
          <p:cNvSpPr txBox="1"/>
          <p:nvPr/>
        </p:nvSpPr>
        <p:spPr>
          <a:xfrm>
            <a:off x="502920" y="1417320"/>
            <a:ext cx="5120640" cy="320040"/>
          </a:xfrm>
          <a:prstGeom prst="rect">
            <a:avLst/>
          </a:prstGeom>
          <a:noFill/>
          <a:ln/>
        </p:spPr>
        <p:txBody>
          <a:bodyPr wrap="square" lIns="0" tIns="0" rIns="0" bIns="0" rtlCol="0" anchor="ctr"/>
          <a:lstStyle/>
          <a:p>
            <a:pPr indent="0" marL="0">
              <a:buNone/>
            </a:pPr>
            <a:r>
              <a:rPr lang="en-US" sz="1500" b="1" dirty="0">
                <a:solidFill>
                  <a:srgbClr val="0B2E4F"/>
                </a:solidFill>
                <a:latin typeface="Cambria" pitchFamily="34" charset="0"/>
                <a:ea typeface="Cambria" pitchFamily="34" charset="-122"/>
                <a:cs typeface="Cambria" pitchFamily="34" charset="-120"/>
              </a:rPr>
              <a:t>Tickets by category</a:t>
            </a:r>
            <a:endParaRPr lang="en-US" sz="1500" dirty="0"/>
          </a:p>
        </p:txBody>
      </p:sp>
      <p:graphicFrame>
        <p:nvGraphicFramePr>
          <p:cNvPr id="5" name="Chart 0" descr=""/>
          <p:cNvGraphicFramePr/>
          <p:nvPr/>
        </p:nvGraphicFramePr>
        <p:xfrm>
          <a:off x="502920" y="1783080"/>
          <a:ext cx="539496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172200" y="1417320"/>
            <a:ext cx="5120640" cy="320040"/>
          </a:xfrm>
          <a:prstGeom prst="rect">
            <a:avLst/>
          </a:prstGeom>
          <a:noFill/>
          <a:ln/>
        </p:spPr>
        <p:txBody>
          <a:bodyPr wrap="square" lIns="0" tIns="0" rIns="0" bIns="0" rtlCol="0" anchor="ctr"/>
          <a:lstStyle/>
          <a:p>
            <a:pPr indent="0" marL="0">
              <a:buNone/>
            </a:pPr>
            <a:r>
              <a:rPr lang="en-US" sz="1500" b="1" dirty="0">
                <a:solidFill>
                  <a:srgbClr val="0B2E4F"/>
                </a:solidFill>
                <a:latin typeface="Cambria" pitchFamily="34" charset="0"/>
                <a:ea typeface="Cambria" pitchFamily="34" charset="-122"/>
                <a:cs typeface="Cambria" pitchFamily="34" charset="-120"/>
              </a:rPr>
              <a:t>Tickets by channel</a:t>
            </a:r>
            <a:endParaRPr lang="en-US" sz="1500" dirty="0"/>
          </a:p>
        </p:txBody>
      </p:sp>
      <p:graphicFrame>
        <p:nvGraphicFramePr>
          <p:cNvPr id="7" name="Chart 1" descr=""/>
          <p:cNvGraphicFramePr/>
          <p:nvPr/>
        </p:nvGraphicFramePr>
        <p:xfrm>
          <a:off x="6172200" y="1783080"/>
          <a:ext cx="5394960" cy="214884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6172200" y="4114800"/>
            <a:ext cx="5394960" cy="2148840"/>
          </a:xfrm>
          <a:prstGeom prst="roundRect">
            <a:avLst>
              <a:gd name="adj" fmla="val 2553"/>
            </a:avLst>
          </a:prstGeom>
          <a:solidFill>
            <a:srgbClr val="EAF3F6"/>
          </a:solidFill>
          <a:ln w="12700">
            <a:solidFill>
              <a:srgbClr val="DDE7EA"/>
            </a:solidFill>
            <a:prstDash val="solid"/>
          </a:ln>
        </p:spPr>
      </p:sp>
      <p:sp>
        <p:nvSpPr>
          <p:cNvPr id="9" name="Text 5"/>
          <p:cNvSpPr txBox="1"/>
          <p:nvPr/>
        </p:nvSpPr>
        <p:spPr>
          <a:xfrm>
            <a:off x="6446520" y="4315968"/>
            <a:ext cx="4846320" cy="868680"/>
          </a:xfrm>
          <a:prstGeom prst="rect">
            <a:avLst/>
          </a:prstGeom>
          <a:noFill/>
          <a:ln/>
        </p:spPr>
        <p:txBody>
          <a:bodyPr wrap="square" lIns="0" tIns="0" rIns="0" bIns="0" rtlCol="0" anchor="ctr"/>
          <a:lstStyle/>
          <a:p>
            <a:pPr indent="0" marL="0">
              <a:buNone/>
            </a:pPr>
            <a:r>
              <a:rPr lang="en-US" sz="1250" b="1" dirty="0">
                <a:solidFill>
                  <a:srgbClr val="26313A"/>
                </a:solidFill>
                <a:latin typeface="Calibri" pitchFamily="34" charset="0"/>
                <a:ea typeface="Calibri" pitchFamily="34" charset="-122"/>
                <a:cs typeface="Calibri" pitchFamily="34" charset="-120"/>
              </a:rPr>
              <a:t>Appointment changes and billing issues alone make up 59% of all volume </a:t>
            </a:r>
            <a:endParaRPr lang="en-US" sz="1250" dirty="0"/>
          </a:p>
          <a:p>
            <a:pPr indent="0" marL="0">
              <a:buNone/>
            </a:pPr>
            <a:r>
              <a:rPr lang="en-US" sz="1250" dirty="0">
                <a:solidFill>
                  <a:srgbClr val="26313A"/>
                </a:solidFill>
                <a:latin typeface="Calibri" pitchFamily="34" charset="0"/>
                <a:ea typeface="Calibri" pitchFamily="34" charset="-122"/>
                <a:cs typeface="Calibri" pitchFamily="34" charset="-120"/>
              </a:rPr>
              <a:t>— the two categories to target first for self-service or automation.</a:t>
            </a:r>
            <a:endParaRPr lang="en-US" sz="1250" dirty="0"/>
          </a:p>
        </p:txBody>
      </p:sp>
      <p:sp>
        <p:nvSpPr>
          <p:cNvPr id="10" name="Text 6"/>
          <p:cNvSpPr txBox="1"/>
          <p:nvPr/>
        </p:nvSpPr>
        <p:spPr>
          <a:xfrm>
            <a:off x="6446520" y="5166360"/>
            <a:ext cx="4846320" cy="960120"/>
          </a:xfrm>
          <a:prstGeom prst="rect">
            <a:avLst/>
          </a:prstGeom>
          <a:noFill/>
          <a:ln/>
        </p:spPr>
        <p:txBody>
          <a:bodyPr wrap="square" lIns="0" tIns="0" rIns="0" bIns="0" rtlCol="0" anchor="ctr"/>
          <a:lstStyle/>
          <a:p>
            <a:pPr indent="0" marL="0">
              <a:buNone/>
            </a:pPr>
            <a:r>
              <a:rPr lang="en-US" sz="1250" b="1" dirty="0">
                <a:solidFill>
                  <a:srgbClr val="26313A"/>
                </a:solidFill>
                <a:latin typeface="Calibri" pitchFamily="34" charset="0"/>
                <a:ea typeface="Calibri" pitchFamily="34" charset="-122"/>
                <a:cs typeface="Calibri" pitchFamily="34" charset="-120"/>
              </a:rPr>
              <a:t>Email carries 35% of all contact volume</a:t>
            </a:r>
            <a:endParaRPr lang="en-US" sz="1250" dirty="0"/>
          </a:p>
          <a:p>
            <a:pPr indent="0" marL="0">
              <a:buNone/>
            </a:pPr>
            <a:r>
              <a:rPr lang="en-US" sz="1250" dirty="0">
                <a:solidFill>
                  <a:srgbClr val="26313A"/>
                </a:solidFill>
                <a:latin typeface="Calibri" pitchFamily="34" charset="0"/>
                <a:ea typeface="Calibri" pitchFamily="34" charset="-122"/>
                <a:cs typeface="Calibri" pitchFamily="34" charset="-120"/>
              </a:rPr>
              <a:t>— nearly as much as Phone and Portal combined — making it the highest-leverage channel for triage improvements.</a:t>
            </a:r>
            <a:endParaRPr lang="en-US" sz="1250" dirty="0"/>
          </a:p>
        </p:txBody>
      </p:sp>
      <p:sp>
        <p:nvSpPr>
          <p:cNvPr id="11" name="Text 7"/>
          <p:cNvSpPr txBox="1"/>
          <p:nvPr/>
        </p:nvSpPr>
        <p:spPr>
          <a:xfrm>
            <a:off x="502920" y="6528816"/>
            <a:ext cx="7315200" cy="274320"/>
          </a:xfrm>
          <a:prstGeom prst="rect">
            <a:avLst/>
          </a:prstGeom>
          <a:noFill/>
          <a:ln/>
        </p:spPr>
        <p:txBody>
          <a:bodyPr wrap="square" lIns="0" tIns="0" rIns="0" bIns="0" rtlCol="0" anchor="ctr"/>
          <a:lstStyle/>
          <a:p>
            <a:pPr indent="0" marL="0">
              <a:buNone/>
            </a:pPr>
            <a:r>
              <a:rPr lang="en-US" sz="900" dirty="0">
                <a:solidFill>
                  <a:srgbClr val="6B7A83"/>
                </a:solidFill>
                <a:latin typeface="Calibri" pitchFamily="34" charset="0"/>
                <a:ea typeface="Calibri" pitchFamily="34" charset="-122"/>
                <a:cs typeface="Calibri" pitchFamily="34" charset="-120"/>
              </a:rPr>
              <a:t>NorthBridge Health Services Ltd  |  Demand Profile</a:t>
            </a:r>
            <a:endParaRPr lang="en-US" sz="900" dirty="0"/>
          </a:p>
        </p:txBody>
      </p:sp>
      <p:sp>
        <p:nvSpPr>
          <p:cNvPr id="12" name="Text 8"/>
          <p:cNvSpPr txBox="1"/>
          <p:nvPr/>
        </p:nvSpPr>
        <p:spPr>
          <a:xfrm>
            <a:off x="11228832" y="6528816"/>
            <a:ext cx="457200" cy="274320"/>
          </a:xfrm>
          <a:prstGeom prst="rect">
            <a:avLst/>
          </a:prstGeom>
          <a:noFill/>
          <a:ln/>
        </p:spPr>
        <p:txBody>
          <a:bodyPr wrap="square" lIns="0" tIns="0" rIns="0" bIns="0" rtlCol="0" anchor="ctr"/>
          <a:lstStyle/>
          <a:p>
            <a:pPr algn="r" indent="0" marL="0">
              <a:buNone/>
            </a:pPr>
            <a:r>
              <a:rPr lang="en-US" sz="900" dirty="0">
                <a:solidFill>
                  <a:srgbClr val="6B7A8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TICKET PERFORMANCE</a:t>
            </a:r>
            <a:endParaRPr lang="en-US" sz="1200" dirty="0"/>
          </a:p>
        </p:txBody>
      </p:sp>
      <p:sp>
        <p:nvSpPr>
          <p:cNvPr id="3" name="Text 1"/>
          <p:cNvSpPr txBox="1"/>
          <p:nvPr/>
        </p:nvSpPr>
        <p:spPr>
          <a:xfrm>
            <a:off x="502920" y="603504"/>
            <a:ext cx="10607040" cy="640080"/>
          </a:xfrm>
          <a:prstGeom prst="rect">
            <a:avLst/>
          </a:prstGeom>
          <a:noFill/>
          <a:ln/>
        </p:spPr>
        <p:txBody>
          <a:bodyPr wrap="square" lIns="0" tIns="0" rIns="0" bIns="0" rtlCol="0" anchor="ctr"/>
          <a:lstStyle/>
          <a:p>
            <a:pPr indent="0" marL="0">
              <a:buNone/>
            </a:pPr>
            <a:r>
              <a:rPr lang="en-US" sz="2800" b="1" dirty="0">
                <a:solidFill>
                  <a:srgbClr val="0B2E4F"/>
                </a:solidFill>
                <a:latin typeface="Cambria" pitchFamily="34" charset="0"/>
                <a:ea typeface="Cambria" pitchFamily="34" charset="-122"/>
                <a:cs typeface="Cambria" pitchFamily="34" charset="-120"/>
              </a:rPr>
              <a:t>Priority triage is working — mostly</a:t>
            </a:r>
            <a:endParaRPr lang="en-US" sz="2800" dirty="0"/>
          </a:p>
        </p:txBody>
      </p:sp>
      <p:sp>
        <p:nvSpPr>
          <p:cNvPr id="4" name="Text 2"/>
          <p:cNvSpPr txBox="1"/>
          <p:nvPr/>
        </p:nvSpPr>
        <p:spPr>
          <a:xfrm>
            <a:off x="502920" y="1417320"/>
            <a:ext cx="5120640" cy="320040"/>
          </a:xfrm>
          <a:prstGeom prst="rect">
            <a:avLst/>
          </a:prstGeom>
          <a:noFill/>
          <a:ln/>
        </p:spPr>
        <p:txBody>
          <a:bodyPr wrap="square" lIns="0" tIns="0" rIns="0" bIns="0" rtlCol="0" anchor="ctr"/>
          <a:lstStyle/>
          <a:p>
            <a:pPr indent="0" marL="0">
              <a:buNone/>
            </a:pPr>
            <a:r>
              <a:rPr lang="en-US" sz="1500" b="1" dirty="0">
                <a:solidFill>
                  <a:srgbClr val="0B2E4F"/>
                </a:solidFill>
                <a:latin typeface="Cambria" pitchFamily="34" charset="0"/>
                <a:ea typeface="Cambria" pitchFamily="34" charset="-122"/>
                <a:cs typeface="Cambria" pitchFamily="34" charset="-120"/>
              </a:rPr>
              <a:t>Avg. first response (hours)</a:t>
            </a:r>
            <a:endParaRPr lang="en-US" sz="1500" dirty="0"/>
          </a:p>
        </p:txBody>
      </p:sp>
      <p:graphicFrame>
        <p:nvGraphicFramePr>
          <p:cNvPr id="5" name="Chart 0" descr=""/>
          <p:cNvGraphicFramePr/>
          <p:nvPr/>
        </p:nvGraphicFramePr>
        <p:xfrm>
          <a:off x="502920" y="1783080"/>
          <a:ext cx="5394960" cy="2148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172200" y="1417320"/>
            <a:ext cx="5120640" cy="320040"/>
          </a:xfrm>
          <a:prstGeom prst="rect">
            <a:avLst/>
          </a:prstGeom>
          <a:noFill/>
          <a:ln/>
        </p:spPr>
        <p:txBody>
          <a:bodyPr wrap="square" lIns="0" tIns="0" rIns="0" bIns="0" rtlCol="0" anchor="ctr"/>
          <a:lstStyle/>
          <a:p>
            <a:pPr indent="0" marL="0">
              <a:buNone/>
            </a:pPr>
            <a:r>
              <a:rPr lang="en-US" sz="1500" b="1" dirty="0">
                <a:solidFill>
                  <a:srgbClr val="0B2E4F"/>
                </a:solidFill>
                <a:latin typeface="Cambria" pitchFamily="34" charset="0"/>
                <a:ea typeface="Cambria" pitchFamily="34" charset="-122"/>
                <a:cs typeface="Cambria" pitchFamily="34" charset="-120"/>
              </a:rPr>
              <a:t>Avg. resolution time (hours)</a:t>
            </a:r>
            <a:endParaRPr lang="en-US" sz="1500" dirty="0"/>
          </a:p>
        </p:txBody>
      </p:sp>
      <p:graphicFrame>
        <p:nvGraphicFramePr>
          <p:cNvPr id="7" name="Chart 1" descr=""/>
          <p:cNvGraphicFramePr/>
          <p:nvPr/>
        </p:nvGraphicFramePr>
        <p:xfrm>
          <a:off x="6172200" y="1783080"/>
          <a:ext cx="5394960" cy="214884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02920" y="4160520"/>
            <a:ext cx="11183112" cy="1783080"/>
          </a:xfrm>
          <a:prstGeom prst="roundRect">
            <a:avLst>
              <a:gd name="adj" fmla="val 3077"/>
            </a:avLst>
          </a:prstGeom>
          <a:solidFill>
            <a:srgbClr val="EAF3F6"/>
          </a:solidFill>
          <a:ln w="12700">
            <a:solidFill>
              <a:srgbClr val="DDE7EA"/>
            </a:solidFill>
            <a:prstDash val="solid"/>
          </a:ln>
        </p:spPr>
      </p:sp>
      <p:sp>
        <p:nvSpPr>
          <p:cNvPr id="9" name="Text 5"/>
          <p:cNvSpPr txBox="1"/>
          <p:nvPr/>
        </p:nvSpPr>
        <p:spPr>
          <a:xfrm>
            <a:off x="822960" y="4370832"/>
            <a:ext cx="10515600" cy="320040"/>
          </a:xfrm>
          <a:prstGeom prst="rect">
            <a:avLst/>
          </a:prstGeom>
          <a:noFill/>
          <a:ln/>
        </p:spPr>
        <p:txBody>
          <a:bodyPr wrap="square" lIns="0" tIns="0" rIns="0" bIns="0" rtlCol="0" anchor="ctr"/>
          <a:lstStyle/>
          <a:p>
            <a:pPr indent="0" marL="0">
              <a:buNone/>
            </a:pPr>
            <a:r>
              <a:rPr lang="en-US" sz="1450" b="1" dirty="0">
                <a:solidFill>
                  <a:srgbClr val="0B2E4F"/>
                </a:solidFill>
                <a:latin typeface="Cambria" pitchFamily="34" charset="0"/>
                <a:ea typeface="Cambria" pitchFamily="34" charset="-122"/>
                <a:cs typeface="Cambria" pitchFamily="34" charset="-120"/>
              </a:rPr>
              <a:t>Once resolved, tickets behave exactly as a priority system should</a:t>
            </a:r>
            <a:endParaRPr lang="en-US" sz="1450" dirty="0"/>
          </a:p>
        </p:txBody>
      </p:sp>
      <p:sp>
        <p:nvSpPr>
          <p:cNvPr id="10" name="Text 6"/>
          <p:cNvSpPr txBox="1"/>
          <p:nvPr/>
        </p:nvSpPr>
        <p:spPr>
          <a:xfrm>
            <a:off x="822960" y="4736592"/>
            <a:ext cx="10607040" cy="1097280"/>
          </a:xfrm>
          <a:prstGeom prst="rect">
            <a:avLst/>
          </a:prstGeom>
          <a:noFill/>
          <a:ln/>
        </p:spPr>
        <p:txBody>
          <a:bodyPr wrap="square" lIns="0" tIns="0" rIns="0" bIns="0" rtlCol="0" anchor="ctr"/>
          <a:lstStyle/>
          <a:p>
            <a:pPr indent="0" marL="0">
              <a:buNone/>
            </a:pPr>
            <a:r>
              <a:rPr lang="en-US" sz="1300" dirty="0">
                <a:solidFill>
                  <a:srgbClr val="26313A"/>
                </a:solidFill>
                <a:latin typeface="Calibri" pitchFamily="34" charset="0"/>
                <a:ea typeface="Calibri" pitchFamily="34" charset="-122"/>
                <a:cs typeface="Calibri" pitchFamily="34" charset="-120"/>
              </a:rPr>
              <a:t>P1 Critical tickets get the fastest first response (1.2h) and the fastest resolution (5.3h); P4 Low is slowest on both. </a:t>
            </a:r>
            <a:endParaRPr lang="en-US" sz="1300" dirty="0"/>
          </a:p>
          <a:p>
            <a:pPr indent="0" marL="0">
              <a:buNone/>
            </a:pPr>
            <a:r>
              <a:rPr lang="en-US" sz="1300" dirty="0">
                <a:solidFill>
                  <a:srgbClr val="26313A"/>
                </a:solidFill>
                <a:latin typeface="Calibri" pitchFamily="34" charset="0"/>
                <a:ea typeface="Calibri" pitchFamily="34" charset="-122"/>
                <a:cs typeface="Calibri" pitchFamily="34" charset="-120"/>
              </a:rPr>
              <a:t>That's the good news — triage logic is doing its job for tickets that get resolved. The problem, as the next section shows, is the much larger set of tickets that never reach resolution at all.</a:t>
            </a:r>
            <a:endParaRPr lang="en-US" sz="1300" dirty="0"/>
          </a:p>
        </p:txBody>
      </p:sp>
      <p:sp>
        <p:nvSpPr>
          <p:cNvPr id="11" name="Text 7"/>
          <p:cNvSpPr txBox="1"/>
          <p:nvPr/>
        </p:nvSpPr>
        <p:spPr>
          <a:xfrm>
            <a:off x="502920" y="6528816"/>
            <a:ext cx="7315200" cy="274320"/>
          </a:xfrm>
          <a:prstGeom prst="rect">
            <a:avLst/>
          </a:prstGeom>
          <a:noFill/>
          <a:ln/>
        </p:spPr>
        <p:txBody>
          <a:bodyPr wrap="square" lIns="0" tIns="0" rIns="0" bIns="0" rtlCol="0" anchor="ctr"/>
          <a:lstStyle/>
          <a:p>
            <a:pPr indent="0" marL="0">
              <a:buNone/>
            </a:pPr>
            <a:r>
              <a:rPr lang="en-US" sz="900" dirty="0">
                <a:solidFill>
                  <a:srgbClr val="6B7A83"/>
                </a:solidFill>
                <a:latin typeface="Calibri" pitchFamily="34" charset="0"/>
                <a:ea typeface="Calibri" pitchFamily="34" charset="-122"/>
                <a:cs typeface="Calibri" pitchFamily="34" charset="-120"/>
              </a:rPr>
              <a:t>NorthBridge Health Services Ltd  |  Ticket Performance</a:t>
            </a:r>
            <a:endParaRPr lang="en-US" sz="900" dirty="0"/>
          </a:p>
        </p:txBody>
      </p:sp>
      <p:sp>
        <p:nvSpPr>
          <p:cNvPr id="12" name="Text 8"/>
          <p:cNvSpPr txBox="1"/>
          <p:nvPr/>
        </p:nvSpPr>
        <p:spPr>
          <a:xfrm>
            <a:off x="11228832" y="6528816"/>
            <a:ext cx="457200" cy="274320"/>
          </a:xfrm>
          <a:prstGeom prst="rect">
            <a:avLst/>
          </a:prstGeom>
          <a:noFill/>
          <a:ln/>
        </p:spPr>
        <p:txBody>
          <a:bodyPr wrap="square" lIns="0" tIns="0" rIns="0" bIns="0" rtlCol="0" anchor="ctr"/>
          <a:lstStyle/>
          <a:p>
            <a:pPr algn="r" indent="0" marL="0">
              <a:buNone/>
            </a:pPr>
            <a:r>
              <a:rPr lang="en-US" sz="900" dirty="0">
                <a:solidFill>
                  <a:srgbClr val="6B7A8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SLA PERFORMANCE</a:t>
            </a:r>
            <a:endParaRPr lang="en-US" sz="1200" dirty="0"/>
          </a:p>
        </p:txBody>
      </p:sp>
      <p:sp>
        <p:nvSpPr>
          <p:cNvPr id="3" name="Text 1"/>
          <p:cNvSpPr txBox="1"/>
          <p:nvPr/>
        </p:nvSpPr>
        <p:spPr>
          <a:xfrm>
            <a:off x="502920" y="603504"/>
            <a:ext cx="10607040" cy="640080"/>
          </a:xfrm>
          <a:prstGeom prst="rect">
            <a:avLst/>
          </a:prstGeom>
          <a:noFill/>
          <a:ln/>
        </p:spPr>
        <p:txBody>
          <a:bodyPr wrap="square" lIns="0" tIns="0" rIns="0" bIns="0" rtlCol="0" anchor="ctr"/>
          <a:lstStyle/>
          <a:p>
            <a:pPr indent="0" marL="0">
              <a:buNone/>
            </a:pPr>
            <a:r>
              <a:rPr lang="en-US" sz="2800" b="1" dirty="0">
                <a:solidFill>
                  <a:srgbClr val="0B2E4F"/>
                </a:solidFill>
                <a:latin typeface="Cambria" pitchFamily="34" charset="0"/>
                <a:ea typeface="Cambria" pitchFamily="34" charset="-122"/>
                <a:cs typeface="Cambria" pitchFamily="34" charset="-120"/>
              </a:rPr>
              <a:t>A 78.5% compliance rate hides a concentrated failure</a:t>
            </a:r>
            <a:endParaRPr lang="en-US" sz="2800" dirty="0"/>
          </a:p>
        </p:txBody>
      </p:sp>
      <p:sp>
        <p:nvSpPr>
          <p:cNvPr id="4" name="Shape 2"/>
          <p:cNvSpPr/>
          <p:nvPr/>
        </p:nvSpPr>
        <p:spPr>
          <a:xfrm>
            <a:off x="502920" y="1417320"/>
            <a:ext cx="3566160" cy="1188720"/>
          </a:xfrm>
          <a:prstGeom prst="roundRect">
            <a:avLst>
              <a:gd name="adj" fmla="val 6154"/>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5" name="Text 3"/>
          <p:cNvSpPr txBox="1"/>
          <p:nvPr/>
        </p:nvSpPr>
        <p:spPr>
          <a:xfrm>
            <a:off x="502920" y="1527048"/>
            <a:ext cx="3566160" cy="621792"/>
          </a:xfrm>
          <a:prstGeom prst="rect">
            <a:avLst/>
          </a:prstGeom>
          <a:noFill/>
          <a:ln/>
        </p:spPr>
        <p:txBody>
          <a:bodyPr wrap="square" lIns="0" tIns="0" rIns="0" bIns="0" rtlCol="0" anchor="ctr"/>
          <a:lstStyle/>
          <a:p>
            <a:pPr algn="ctr" indent="0" marL="0">
              <a:buNone/>
            </a:pPr>
            <a:r>
              <a:rPr lang="en-US" sz="3000" b="1" dirty="0">
                <a:solidFill>
                  <a:srgbClr val="E4572E"/>
                </a:solidFill>
                <a:latin typeface="Cambria" pitchFamily="34" charset="0"/>
                <a:ea typeface="Cambria" pitchFamily="34" charset="-122"/>
                <a:cs typeface="Cambria" pitchFamily="34" charset="-120"/>
              </a:rPr>
              <a:t>754</a:t>
            </a:r>
            <a:endParaRPr lang="en-US" sz="3000" dirty="0"/>
          </a:p>
        </p:txBody>
      </p:sp>
      <p:sp>
        <p:nvSpPr>
          <p:cNvPr id="6" name="Text 4"/>
          <p:cNvSpPr txBox="1"/>
          <p:nvPr/>
        </p:nvSpPr>
        <p:spPr>
          <a:xfrm>
            <a:off x="576072" y="2185416"/>
            <a:ext cx="3419856"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SLA-breached tickets</a:t>
            </a:r>
            <a:endParaRPr lang="en-US" sz="1150" dirty="0"/>
          </a:p>
        </p:txBody>
      </p:sp>
      <p:sp>
        <p:nvSpPr>
          <p:cNvPr id="7" name="Shape 5"/>
          <p:cNvSpPr/>
          <p:nvPr/>
        </p:nvSpPr>
        <p:spPr>
          <a:xfrm>
            <a:off x="4297680" y="1417320"/>
            <a:ext cx="3566160" cy="1188720"/>
          </a:xfrm>
          <a:prstGeom prst="roundRect">
            <a:avLst>
              <a:gd name="adj" fmla="val 6154"/>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8" name="Text 6"/>
          <p:cNvSpPr txBox="1"/>
          <p:nvPr/>
        </p:nvSpPr>
        <p:spPr>
          <a:xfrm>
            <a:off x="4297680" y="1527048"/>
            <a:ext cx="3566160" cy="621792"/>
          </a:xfrm>
          <a:prstGeom prst="rect">
            <a:avLst/>
          </a:prstGeom>
          <a:noFill/>
          <a:ln/>
        </p:spPr>
        <p:txBody>
          <a:bodyPr wrap="square" lIns="0" tIns="0" rIns="0" bIns="0" rtlCol="0" anchor="ctr"/>
          <a:lstStyle/>
          <a:p>
            <a:pPr algn="ctr" indent="0" marL="0">
              <a:buNone/>
            </a:pPr>
            <a:r>
              <a:rPr lang="en-US" sz="3000" b="1" dirty="0">
                <a:solidFill>
                  <a:srgbClr val="E4572E"/>
                </a:solidFill>
                <a:latin typeface="Cambria" pitchFamily="34" charset="0"/>
                <a:ea typeface="Cambria" pitchFamily="34" charset="-122"/>
                <a:cs typeface="Cambria" pitchFamily="34" charset="-120"/>
              </a:rPr>
              <a:t>21.5%</a:t>
            </a:r>
            <a:endParaRPr lang="en-US" sz="3000" dirty="0"/>
          </a:p>
        </p:txBody>
      </p:sp>
      <p:sp>
        <p:nvSpPr>
          <p:cNvPr id="9" name="Text 7"/>
          <p:cNvSpPr txBox="1"/>
          <p:nvPr/>
        </p:nvSpPr>
        <p:spPr>
          <a:xfrm>
            <a:off x="4370832" y="2185416"/>
            <a:ext cx="3419856"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Overall breach rate</a:t>
            </a:r>
            <a:endParaRPr lang="en-US" sz="1150" dirty="0"/>
          </a:p>
        </p:txBody>
      </p:sp>
      <p:sp>
        <p:nvSpPr>
          <p:cNvPr id="10" name="Shape 8"/>
          <p:cNvSpPr/>
          <p:nvPr/>
        </p:nvSpPr>
        <p:spPr>
          <a:xfrm>
            <a:off x="8092440" y="1417320"/>
            <a:ext cx="3566160" cy="1188720"/>
          </a:xfrm>
          <a:prstGeom prst="roundRect">
            <a:avLst>
              <a:gd name="adj" fmla="val 6154"/>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11" name="Text 9"/>
          <p:cNvSpPr txBox="1"/>
          <p:nvPr/>
        </p:nvSpPr>
        <p:spPr>
          <a:xfrm>
            <a:off x="8092440" y="1527048"/>
            <a:ext cx="3566160" cy="621792"/>
          </a:xfrm>
          <a:prstGeom prst="rect">
            <a:avLst/>
          </a:prstGeom>
          <a:noFill/>
          <a:ln/>
        </p:spPr>
        <p:txBody>
          <a:bodyPr wrap="square" lIns="0" tIns="0" rIns="0" bIns="0" rtlCol="0" anchor="ctr"/>
          <a:lstStyle/>
          <a:p>
            <a:pPr algn="ctr" indent="0" marL="0">
              <a:buNone/>
            </a:pPr>
            <a:r>
              <a:rPr lang="en-US" sz="3000" b="1" dirty="0">
                <a:solidFill>
                  <a:srgbClr val="E4572E"/>
                </a:solidFill>
                <a:latin typeface="Cambria" pitchFamily="34" charset="0"/>
                <a:ea typeface="Cambria" pitchFamily="34" charset="-122"/>
                <a:cs typeface="Cambria" pitchFamily="34" charset="-120"/>
              </a:rPr>
              <a:t>2,158</a:t>
            </a:r>
            <a:endParaRPr lang="en-US" sz="3000" dirty="0"/>
          </a:p>
        </p:txBody>
      </p:sp>
      <p:sp>
        <p:nvSpPr>
          <p:cNvPr id="12" name="Text 10"/>
          <p:cNvSpPr txBox="1"/>
          <p:nvPr/>
        </p:nvSpPr>
        <p:spPr>
          <a:xfrm>
            <a:off x="8165592" y="2185416"/>
            <a:ext cx="3419856"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Tickets in critical backlog</a:t>
            </a:r>
            <a:endParaRPr lang="en-US" sz="1150" dirty="0"/>
          </a:p>
        </p:txBody>
      </p:sp>
      <p:sp>
        <p:nvSpPr>
          <p:cNvPr id="13" name="Text 11"/>
          <p:cNvSpPr txBox="1"/>
          <p:nvPr/>
        </p:nvSpPr>
        <p:spPr>
          <a:xfrm>
            <a:off x="502920" y="2880360"/>
            <a:ext cx="5486400" cy="320040"/>
          </a:xfrm>
          <a:prstGeom prst="rect">
            <a:avLst/>
          </a:prstGeom>
          <a:noFill/>
          <a:ln/>
        </p:spPr>
        <p:txBody>
          <a:bodyPr wrap="square" lIns="0" tIns="0" rIns="0" bIns="0" rtlCol="0" anchor="ctr"/>
          <a:lstStyle/>
          <a:p>
            <a:pPr indent="0" marL="0">
              <a:buNone/>
            </a:pPr>
            <a:r>
              <a:rPr lang="en-US" sz="1500" b="1" dirty="0">
                <a:solidFill>
                  <a:srgbClr val="0B2E4F"/>
                </a:solidFill>
                <a:latin typeface="Cambria" pitchFamily="34" charset="0"/>
                <a:ea typeface="Cambria" pitchFamily="34" charset="-122"/>
                <a:cs typeface="Cambria" pitchFamily="34" charset="-120"/>
              </a:rPr>
              <a:t>SLA breaches by priority</a:t>
            </a:r>
            <a:endParaRPr lang="en-US" sz="1500" dirty="0"/>
          </a:p>
        </p:txBody>
      </p:sp>
      <p:graphicFrame>
        <p:nvGraphicFramePr>
          <p:cNvPr id="14" name="Chart 0" descr=""/>
          <p:cNvGraphicFramePr/>
          <p:nvPr/>
        </p:nvGraphicFramePr>
        <p:xfrm>
          <a:off x="502920" y="3246120"/>
          <a:ext cx="5486400" cy="306324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6172200" y="2880360"/>
            <a:ext cx="5394960" cy="3429000"/>
          </a:xfrm>
          <a:prstGeom prst="roundRect">
            <a:avLst>
              <a:gd name="adj" fmla="val 1600"/>
            </a:avLst>
          </a:prstGeom>
          <a:solidFill>
            <a:srgbClr val="EAF3F6"/>
          </a:solidFill>
          <a:ln w="12700">
            <a:solidFill>
              <a:srgbClr val="DDE7EA"/>
            </a:solidFill>
            <a:prstDash val="solid"/>
          </a:ln>
        </p:spPr>
      </p:sp>
      <p:sp>
        <p:nvSpPr>
          <p:cNvPr id="16" name="Text 13"/>
          <p:cNvSpPr txBox="1"/>
          <p:nvPr/>
        </p:nvSpPr>
        <p:spPr>
          <a:xfrm>
            <a:off x="6446520" y="3108960"/>
            <a:ext cx="4846320" cy="320040"/>
          </a:xfrm>
          <a:prstGeom prst="rect">
            <a:avLst/>
          </a:prstGeom>
          <a:noFill/>
          <a:ln/>
        </p:spPr>
        <p:txBody>
          <a:bodyPr wrap="square" lIns="0" tIns="0" rIns="0" bIns="0" rtlCol="0" anchor="ctr"/>
          <a:lstStyle/>
          <a:p>
            <a:pPr indent="0" marL="0">
              <a:buNone/>
            </a:pPr>
            <a:r>
              <a:rPr lang="en-US" sz="1450" b="1" dirty="0">
                <a:solidFill>
                  <a:srgbClr val="0B2E4F"/>
                </a:solidFill>
                <a:latin typeface="Cambria" pitchFamily="34" charset="0"/>
                <a:ea typeface="Cambria" pitchFamily="34" charset="-122"/>
                <a:cs typeface="Cambria" pitchFamily="34" charset="-120"/>
              </a:rPr>
              <a:t>P3 Standard drives most of the breach volume</a:t>
            </a:r>
            <a:endParaRPr lang="en-US" sz="1450" dirty="0"/>
          </a:p>
        </p:txBody>
      </p:sp>
      <p:sp>
        <p:nvSpPr>
          <p:cNvPr id="17" name="Text 14"/>
          <p:cNvSpPr txBox="1"/>
          <p:nvPr/>
        </p:nvSpPr>
        <p:spPr>
          <a:xfrm>
            <a:off x="6446520" y="3520440"/>
            <a:ext cx="4846320" cy="2651760"/>
          </a:xfrm>
          <a:prstGeom prst="rect">
            <a:avLst/>
          </a:prstGeom>
          <a:noFill/>
          <a:ln/>
        </p:spPr>
        <p:txBody>
          <a:bodyPr wrap="square" lIns="0" tIns="0" rIns="0" bIns="0" rtlCol="0" anchor="ctr"/>
          <a:lstStyle/>
          <a:p>
            <a:pPr indent="0" marL="0">
              <a:spcAft>
                <a:spcPts val="1000"/>
              </a:spcAft>
              <a:buNone/>
            </a:pPr>
            <a:r>
              <a:rPr lang="en-US" sz="1250" dirty="0">
                <a:solidFill>
                  <a:srgbClr val="26313A"/>
                </a:solidFill>
                <a:latin typeface="Calibri" pitchFamily="34" charset="0"/>
                <a:ea typeface="Calibri" pitchFamily="34" charset="-122"/>
                <a:cs typeface="Calibri" pitchFamily="34" charset="-120"/>
              </a:rPr>
              <a:t>426 of the 754 breaches (57%) sit in P3 Standard — simply because it carries the most volume, not because it's poorly handled relative to its size.</a:t>
            </a:r>
            <a:endParaRPr lang="en-US" sz="1250" dirty="0"/>
          </a:p>
          <a:p>
            <a:pPr indent="0" marL="0">
              <a:spcAft>
                <a:spcPts val="1000"/>
              </a:spcAft>
              <a:buNone/>
            </a:pPr>
            <a:r>
              <a:rPr lang="en-US" sz="1250" dirty="0">
                <a:solidFill>
                  <a:srgbClr val="26313A"/>
                </a:solidFill>
                <a:latin typeface="Calibri" pitchFamily="34" charset="0"/>
                <a:ea typeface="Calibri" pitchFamily="34" charset="-122"/>
                <a:cs typeface="Calibri" pitchFamily="34" charset="-120"/>
              </a:rPr>
              <a:t>P1 Critical still accounts for 74 breaches. On a priority meant to guarantee the fastest handling, that's the number worth zero-tolerance attention.</a:t>
            </a:r>
            <a:endParaRPr lang="en-US" sz="1250" dirty="0"/>
          </a:p>
          <a:p>
            <a:pPr indent="0" marL="0">
              <a:buNone/>
            </a:pPr>
            <a:r>
              <a:rPr lang="en-US" sz="1250" dirty="0">
                <a:solidFill>
                  <a:srgbClr val="26313A"/>
                </a:solidFill>
                <a:latin typeface="Calibri" pitchFamily="34" charset="0"/>
                <a:ea typeface="Calibri" pitchFamily="34" charset="-122"/>
                <a:cs typeface="Calibri" pitchFamily="34" charset="-120"/>
              </a:rPr>
              <a:t>"Critical Backlog Tickets" (2,158) is nearly the entire open pipeline (2,183) — almost no open ticket today sits outside the risk zone.</a:t>
            </a:r>
            <a:endParaRPr lang="en-US" sz="1250" dirty="0"/>
          </a:p>
        </p:txBody>
      </p:sp>
      <p:sp>
        <p:nvSpPr>
          <p:cNvPr id="18" name="Text 15"/>
          <p:cNvSpPr txBox="1"/>
          <p:nvPr/>
        </p:nvSpPr>
        <p:spPr>
          <a:xfrm>
            <a:off x="502920" y="6528816"/>
            <a:ext cx="7315200" cy="274320"/>
          </a:xfrm>
          <a:prstGeom prst="rect">
            <a:avLst/>
          </a:prstGeom>
          <a:noFill/>
          <a:ln/>
        </p:spPr>
        <p:txBody>
          <a:bodyPr wrap="square" lIns="0" tIns="0" rIns="0" bIns="0" rtlCol="0" anchor="ctr"/>
          <a:lstStyle/>
          <a:p>
            <a:pPr indent="0" marL="0">
              <a:buNone/>
            </a:pPr>
            <a:r>
              <a:rPr lang="en-US" sz="900" dirty="0">
                <a:solidFill>
                  <a:srgbClr val="6B7A83"/>
                </a:solidFill>
                <a:latin typeface="Calibri" pitchFamily="34" charset="0"/>
                <a:ea typeface="Calibri" pitchFamily="34" charset="-122"/>
                <a:cs typeface="Calibri" pitchFamily="34" charset="-120"/>
              </a:rPr>
              <a:t>NorthBridge Health Services Ltd  |  SLA Performance</a:t>
            </a:r>
            <a:endParaRPr lang="en-US" sz="900" dirty="0"/>
          </a:p>
        </p:txBody>
      </p:sp>
      <p:sp>
        <p:nvSpPr>
          <p:cNvPr id="19" name="Text 16"/>
          <p:cNvSpPr txBox="1"/>
          <p:nvPr/>
        </p:nvSpPr>
        <p:spPr>
          <a:xfrm>
            <a:off x="11228832" y="6528816"/>
            <a:ext cx="457200" cy="274320"/>
          </a:xfrm>
          <a:prstGeom prst="rect">
            <a:avLst/>
          </a:prstGeom>
          <a:noFill/>
          <a:ln/>
        </p:spPr>
        <p:txBody>
          <a:bodyPr wrap="square" lIns="0" tIns="0" rIns="0" bIns="0" rtlCol="0" anchor="ctr"/>
          <a:lstStyle/>
          <a:p>
            <a:pPr algn="r" indent="0" marL="0">
              <a:buNone/>
            </a:pPr>
            <a:r>
              <a:rPr lang="en-US" sz="900" dirty="0">
                <a:solidFill>
                  <a:srgbClr val="6B7A8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E4F"/>
        </a:solidFill>
      </p:bgPr>
    </p:bg>
    <p:spTree>
      <p:nvGrpSpPr>
        <p:cNvPr id="1" name=""/>
        <p:cNvGrpSpPr/>
        <p:nvPr/>
      </p:nvGrpSpPr>
      <p:grpSpPr>
        <a:xfrm>
          <a:off x="0" y="0"/>
          <a:ext cx="0" cy="0"/>
          <a:chOff x="0" y="0"/>
          <a:chExt cx="0" cy="0"/>
        </a:xfrm>
      </p:grpSpPr>
      <p:sp>
        <p:nvSpPr>
          <p:cNvPr id="2" name="Text 0"/>
          <p:cNvSpPr txBox="1"/>
          <p:nvPr/>
        </p:nvSpPr>
        <p:spPr>
          <a:xfrm>
            <a:off x="502920" y="457200"/>
            <a:ext cx="7315200" cy="320040"/>
          </a:xfrm>
          <a:prstGeom prst="rect">
            <a:avLst/>
          </a:prstGeom>
          <a:noFill/>
          <a:ln/>
        </p:spPr>
        <p:txBody>
          <a:bodyPr wrap="square" lIns="0" tIns="0" rIns="0" bIns="0" rtlCol="0" anchor="ctr"/>
          <a:lstStyle/>
          <a:p>
            <a:pPr indent="0" marL="0">
              <a:buNone/>
            </a:pPr>
            <a:r>
              <a:rPr lang="en-US" sz="1300" b="1" spc="200" kern="0" dirty="0">
                <a:solidFill>
                  <a:srgbClr val="9FD8DE"/>
                </a:solidFill>
                <a:latin typeface="Calibri" pitchFamily="34" charset="0"/>
                <a:ea typeface="Calibri" pitchFamily="34" charset="-122"/>
                <a:cs typeface="Calibri" pitchFamily="34" charset="-120"/>
              </a:rPr>
              <a:t>THE HEADLINE FINDING</a:t>
            </a:r>
            <a:endParaRPr lang="en-US" sz="1300" dirty="0"/>
          </a:p>
        </p:txBody>
      </p:sp>
      <p:sp>
        <p:nvSpPr>
          <p:cNvPr id="3" name="Text 1"/>
          <p:cNvSpPr txBox="1"/>
          <p:nvPr/>
        </p:nvSpPr>
        <p:spPr>
          <a:xfrm>
            <a:off x="502920" y="749808"/>
            <a:ext cx="10789920" cy="8229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backlog isn't just breached — it's over a year old</a:t>
            </a:r>
            <a:endParaRPr lang="en-US" sz="2700" dirty="0"/>
          </a:p>
        </p:txBody>
      </p:sp>
      <p:sp>
        <p:nvSpPr>
          <p:cNvPr id="4" name="Shape 2"/>
          <p:cNvSpPr/>
          <p:nvPr/>
        </p:nvSpPr>
        <p:spPr>
          <a:xfrm>
            <a:off x="502920" y="1691640"/>
            <a:ext cx="3383280" cy="1554480"/>
          </a:xfrm>
          <a:prstGeom prst="roundRect">
            <a:avLst>
              <a:gd name="adj" fmla="val 4706"/>
            </a:avLst>
          </a:prstGeom>
          <a:solidFill>
            <a:srgbClr val="FFFFFF"/>
          </a:solidFill>
          <a:ln/>
        </p:spPr>
      </p:sp>
      <p:sp>
        <p:nvSpPr>
          <p:cNvPr id="5" name="Text 3"/>
          <p:cNvSpPr txBox="1"/>
          <p:nvPr/>
        </p:nvSpPr>
        <p:spPr>
          <a:xfrm>
            <a:off x="502920" y="1810512"/>
            <a:ext cx="3383280" cy="777240"/>
          </a:xfrm>
          <a:prstGeom prst="rect">
            <a:avLst/>
          </a:prstGeom>
          <a:noFill/>
          <a:ln/>
        </p:spPr>
        <p:txBody>
          <a:bodyPr wrap="square" lIns="0" tIns="0" rIns="0" bIns="0" rtlCol="0" anchor="ctr"/>
          <a:lstStyle/>
          <a:p>
            <a:pPr algn="ctr" indent="0" marL="0">
              <a:buNone/>
            </a:pPr>
            <a:r>
              <a:rPr lang="en-US" sz="4200" b="1" dirty="0">
                <a:solidFill>
                  <a:srgbClr val="E4572E"/>
                </a:solidFill>
                <a:latin typeface="Cambria" pitchFamily="34" charset="0"/>
                <a:ea typeface="Cambria" pitchFamily="34" charset="-122"/>
                <a:cs typeface="Cambria" pitchFamily="34" charset="-120"/>
              </a:rPr>
              <a:t>400+</a:t>
            </a:r>
            <a:endParaRPr lang="en-US" sz="4200" dirty="0"/>
          </a:p>
        </p:txBody>
      </p:sp>
      <p:sp>
        <p:nvSpPr>
          <p:cNvPr id="6" name="Text 4"/>
          <p:cNvSpPr txBox="1"/>
          <p:nvPr/>
        </p:nvSpPr>
        <p:spPr>
          <a:xfrm>
            <a:off x="685800" y="2606040"/>
            <a:ext cx="3017520" cy="54864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days average backlog age, every priority level</a:t>
            </a:r>
            <a:endParaRPr lang="en-US" sz="1150" dirty="0"/>
          </a:p>
        </p:txBody>
      </p:sp>
      <p:sp>
        <p:nvSpPr>
          <p:cNvPr id="7" name="Text 5"/>
          <p:cNvSpPr txBox="1"/>
          <p:nvPr/>
        </p:nvSpPr>
        <p:spPr>
          <a:xfrm>
            <a:off x="3977640" y="1737360"/>
            <a:ext cx="3657600" cy="320040"/>
          </a:xfrm>
          <a:prstGeom prst="rect">
            <a:avLst/>
          </a:prstGeom>
          <a:noFill/>
          <a:ln/>
        </p:spPr>
        <p:txBody>
          <a:bodyPr wrap="square" lIns="0" tIns="0" rIns="0" bIns="0" rtlCol="0" anchor="ctr"/>
          <a:lstStyle/>
          <a:p>
            <a:pPr indent="0" marL="0">
              <a:buNone/>
            </a:pPr>
            <a:r>
              <a:rPr lang="en-US" sz="1250" b="1" dirty="0">
                <a:solidFill>
                  <a:srgbClr val="9FD8DE"/>
                </a:solidFill>
                <a:latin typeface="Calibri" pitchFamily="34" charset="0"/>
                <a:ea typeface="Calibri" pitchFamily="34" charset="-122"/>
                <a:cs typeface="Calibri" pitchFamily="34" charset="-120"/>
              </a:rPr>
              <a:t>Average backlog age by priority (days)</a:t>
            </a:r>
            <a:endParaRPr lang="en-US" sz="1250" dirty="0"/>
          </a:p>
        </p:txBody>
      </p:sp>
      <p:graphicFrame>
        <p:nvGraphicFramePr>
          <p:cNvPr id="8" name="Chart 0" descr=""/>
          <p:cNvGraphicFramePr/>
          <p:nvPr/>
        </p:nvGraphicFramePr>
        <p:xfrm>
          <a:off x="3977640" y="2103120"/>
          <a:ext cx="3657600" cy="12344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8001000" y="1737360"/>
            <a:ext cx="3566160" cy="320040"/>
          </a:xfrm>
          <a:prstGeom prst="rect">
            <a:avLst/>
          </a:prstGeom>
          <a:noFill/>
          <a:ln/>
        </p:spPr>
        <p:txBody>
          <a:bodyPr wrap="square" lIns="0" tIns="0" rIns="0" bIns="0" rtlCol="0" anchor="ctr"/>
          <a:lstStyle/>
          <a:p>
            <a:pPr indent="0" marL="0">
              <a:buNone/>
            </a:pPr>
            <a:r>
              <a:rPr lang="en-US" sz="1250" b="1" dirty="0">
                <a:solidFill>
                  <a:srgbClr val="9FD8DE"/>
                </a:solidFill>
                <a:latin typeface="Calibri" pitchFamily="34" charset="0"/>
                <a:ea typeface="Calibri" pitchFamily="34" charset="-122"/>
                <a:cs typeface="Calibri" pitchFamily="34" charset="-120"/>
              </a:rPr>
              <a:t>Open tickets already past their SLA due date</a:t>
            </a:r>
            <a:endParaRPr lang="en-US" sz="1250" dirty="0"/>
          </a:p>
        </p:txBody>
      </p:sp>
      <p:graphicFrame>
        <p:nvGraphicFramePr>
          <p:cNvPr id="10" name="Chart 1" descr=""/>
          <p:cNvGraphicFramePr/>
          <p:nvPr/>
        </p:nvGraphicFramePr>
        <p:xfrm>
          <a:off x="8001000" y="2103120"/>
          <a:ext cx="3566160" cy="123444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02920" y="3520440"/>
            <a:ext cx="11183112" cy="2697480"/>
          </a:xfrm>
          <a:prstGeom prst="roundRect">
            <a:avLst>
              <a:gd name="adj" fmla="val 2034"/>
            </a:avLst>
          </a:prstGeom>
          <a:solidFill>
            <a:srgbClr val="FFFFFF"/>
          </a:solidFill>
          <a:ln/>
        </p:spPr>
      </p:sp>
      <p:sp>
        <p:nvSpPr>
          <p:cNvPr id="12" name="Text 8"/>
          <p:cNvSpPr txBox="1"/>
          <p:nvPr/>
        </p:nvSpPr>
        <p:spPr>
          <a:xfrm>
            <a:off x="822960" y="3730752"/>
            <a:ext cx="10515600" cy="320040"/>
          </a:xfrm>
          <a:prstGeom prst="rect">
            <a:avLst/>
          </a:prstGeom>
          <a:noFill/>
          <a:ln/>
        </p:spPr>
        <p:txBody>
          <a:bodyPr wrap="square" lIns="0" tIns="0" rIns="0" bIns="0" rtlCol="0" anchor="ctr"/>
          <a:lstStyle/>
          <a:p>
            <a:pPr indent="0" marL="0">
              <a:buNone/>
            </a:pPr>
            <a:r>
              <a:rPr lang="en-US" sz="1500" b="1" dirty="0">
                <a:solidFill>
                  <a:srgbClr val="0B2E4F"/>
                </a:solidFill>
                <a:latin typeface="Cambria" pitchFamily="34" charset="0"/>
                <a:ea typeface="Cambria" pitchFamily="34" charset="-122"/>
                <a:cs typeface="Cambria" pitchFamily="34" charset="-120"/>
              </a:rPr>
              <a:t>Read together, three charts tell one story</a:t>
            </a:r>
            <a:endParaRPr lang="en-US" sz="1500" dirty="0"/>
          </a:p>
        </p:txBody>
      </p:sp>
      <p:sp>
        <p:nvSpPr>
          <p:cNvPr id="13" name="Text 9"/>
          <p:cNvSpPr txBox="1"/>
          <p:nvPr/>
        </p:nvSpPr>
        <p:spPr>
          <a:xfrm>
            <a:off x="822960" y="4114800"/>
            <a:ext cx="10515600" cy="2011680"/>
          </a:xfrm>
          <a:prstGeom prst="rect">
            <a:avLst/>
          </a:prstGeom>
          <a:noFill/>
          <a:ln/>
        </p:spPr>
        <p:txBody>
          <a:bodyPr wrap="square" lIns="0" tIns="0" rIns="0" bIns="0" rtlCol="0" anchor="ctr"/>
          <a:lstStyle/>
          <a:p>
            <a:pPr marL="228600" indent="-228600">
              <a:spcAft>
                <a:spcPts val="800"/>
              </a:spcAft>
              <a:buSzPct val="100000"/>
              <a:buChar char="•"/>
            </a:pPr>
            <a:r>
              <a:rPr lang="en-US" sz="1280" dirty="0">
                <a:solidFill>
                  <a:srgbClr val="26313A"/>
                </a:solidFill>
                <a:latin typeface="Calibri" pitchFamily="34" charset="0"/>
                <a:ea typeface="Calibri" pitchFamily="34" charset="-122"/>
                <a:cs typeface="Calibri" pitchFamily="34" charset="-120"/>
              </a:rPr>
              <a:t>Virtually every open ticket — across all four priority levels, P1 Critical included — is already past its SLA due date. Within-SLA counts are in the single digits per priority.</a:t>
            </a:r>
            <a:endParaRPr lang="en-US" sz="1280" dirty="0"/>
          </a:p>
          <a:p>
            <a:pPr marL="228600" indent="-228600">
              <a:spcAft>
                <a:spcPts val="800"/>
              </a:spcAft>
              <a:buSzPct val="100000"/>
              <a:buChar char="•"/>
            </a:pPr>
            <a:r>
              <a:rPr lang="en-US" sz="1280" dirty="0">
                <a:solidFill>
                  <a:srgbClr val="26313A"/>
                </a:solidFill>
                <a:latin typeface="Calibri" pitchFamily="34" charset="0"/>
                <a:ea typeface="Calibri" pitchFamily="34" charset="-122"/>
                <a:cs typeface="Calibri" pitchFamily="34" charset="-120"/>
              </a:rPr>
              <a:t>Average days-past-SLA and average backlog age land in the same 400–433 day range. These aren't tickets slipping through the cracks recently; this looks like a backlog that stopped moving over a year ago.</a:t>
            </a:r>
            <a:endParaRPr lang="en-US" sz="1280" dirty="0"/>
          </a:p>
          <a:p>
            <a:pPr marL="228600" indent="-228600">
              <a:spcAft>
                <a:spcPts val="800"/>
              </a:spcAft>
              <a:buSzPct val="100000"/>
              <a:buChar char="•"/>
            </a:pPr>
            <a:r>
              <a:rPr lang="en-US" sz="1280" dirty="0">
                <a:solidFill>
                  <a:srgbClr val="26313A"/>
                </a:solidFill>
                <a:latin typeface="Calibri" pitchFamily="34" charset="0"/>
                <a:ea typeface="Calibri" pitchFamily="34" charset="-122"/>
                <a:cs typeface="Calibri" pitchFamily="34" charset="-120"/>
              </a:rPr>
              <a:t>Data caveat worth checking before escalating this internally: the “open” base here (2,183 / 2,158) is defined as “not marked Resolved,” and the status mix shows 56.7% of all tickets are “Closed.” If Closed tickets are being counted inside this backlog, the true unresolved queue — and its urgency — is smaller than these figures suggest. Recommend confirming the status/backlog definition with the report owner first.</a:t>
            </a:r>
            <a:endParaRPr lang="en-US" sz="1280" dirty="0"/>
          </a:p>
        </p:txBody>
      </p:sp>
      <p:sp>
        <p:nvSpPr>
          <p:cNvPr id="14" name="Text 10"/>
          <p:cNvSpPr txBox="1"/>
          <p:nvPr/>
        </p:nvSpPr>
        <p:spPr>
          <a:xfrm>
            <a:off x="502920" y="6528816"/>
            <a:ext cx="7315200" cy="274320"/>
          </a:xfrm>
          <a:prstGeom prst="rect">
            <a:avLst/>
          </a:prstGeom>
          <a:noFill/>
          <a:ln/>
        </p:spPr>
        <p:txBody>
          <a:bodyPr wrap="square" lIns="0" tIns="0" rIns="0" bIns="0" rtlCol="0" anchor="ctr"/>
          <a:lstStyle/>
          <a:p>
            <a:pPr indent="0" marL="0">
              <a:buNone/>
            </a:pPr>
            <a:r>
              <a:rPr lang="en-US" sz="900" dirty="0">
                <a:solidFill>
                  <a:srgbClr val="6B7A83"/>
                </a:solidFill>
                <a:latin typeface="Calibri" pitchFamily="34" charset="0"/>
                <a:ea typeface="Calibri" pitchFamily="34" charset="-122"/>
                <a:cs typeface="Calibri" pitchFamily="34" charset="-120"/>
              </a:rPr>
              <a:t>NorthBridge Health Services Ltd  |  SLA Performance</a:t>
            </a:r>
            <a:endParaRPr lang="en-US" sz="900" dirty="0"/>
          </a:p>
        </p:txBody>
      </p:sp>
      <p:sp>
        <p:nvSpPr>
          <p:cNvPr id="15" name="Text 11"/>
          <p:cNvSpPr txBox="1"/>
          <p:nvPr/>
        </p:nvSpPr>
        <p:spPr>
          <a:xfrm>
            <a:off x="11228832" y="6528816"/>
            <a:ext cx="457200" cy="274320"/>
          </a:xfrm>
          <a:prstGeom prst="rect">
            <a:avLst/>
          </a:prstGeom>
          <a:noFill/>
          <a:ln/>
        </p:spPr>
        <p:txBody>
          <a:bodyPr wrap="square" lIns="0" tIns="0" rIns="0" bIns="0" rtlCol="0" anchor="ctr"/>
          <a:lstStyle/>
          <a:p>
            <a:pPr algn="r" indent="0" marL="0">
              <a:buNone/>
            </a:pPr>
            <a:r>
              <a:rPr lang="en-US" sz="900" dirty="0">
                <a:solidFill>
                  <a:srgbClr val="6B7A8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AGENT PERFORMANCE</a:t>
            </a:r>
            <a:endParaRPr lang="en-US" sz="1200" dirty="0"/>
          </a:p>
        </p:txBody>
      </p:sp>
      <p:sp>
        <p:nvSpPr>
          <p:cNvPr id="3" name="Text 1"/>
          <p:cNvSpPr txBox="1"/>
          <p:nvPr/>
        </p:nvSpPr>
        <p:spPr>
          <a:xfrm>
            <a:off x="502920" y="603504"/>
            <a:ext cx="10607040" cy="640080"/>
          </a:xfrm>
          <a:prstGeom prst="rect">
            <a:avLst/>
          </a:prstGeom>
          <a:noFill/>
          <a:ln/>
        </p:spPr>
        <p:txBody>
          <a:bodyPr wrap="square" lIns="0" tIns="0" rIns="0" bIns="0" rtlCol="0" anchor="ctr"/>
          <a:lstStyle/>
          <a:p>
            <a:pPr indent="0" marL="0">
              <a:buNone/>
            </a:pPr>
            <a:r>
              <a:rPr lang="en-US" sz="2800" b="1" dirty="0">
                <a:solidFill>
                  <a:srgbClr val="0B2E4F"/>
                </a:solidFill>
                <a:latin typeface="Cambria" pitchFamily="34" charset="0"/>
                <a:ea typeface="Cambria" pitchFamily="34" charset="-122"/>
                <a:cs typeface="Cambria" pitchFamily="34" charset="-120"/>
              </a:rPr>
              <a:t>Similar workloads, different outcomes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2468880"/>
        </p:xfrm>
        <a:graphic>
          <a:graphicData uri="http://schemas.openxmlformats.org/drawingml/2006/table">
            <a:tbl>
              <a:tblPr/>
              <a:tblGrid>
                <a:gridCol w="2377440"/>
                <a:gridCol w="1371600"/>
                <a:gridCol w="1371600"/>
                <a:gridCol w="1645920"/>
                <a:gridCol w="1645920"/>
                <a:gridCol w="1463040"/>
                <a:gridCol w="1673352"/>
              </a:tblGrid>
              <a:tr h="352697">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Agent</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0B2E4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Assigned</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0B2E4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Resolved</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0B2E4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SLA Breach %</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0B2E4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Escalation %</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0B2E4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Avg 1st Resp (h)</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0B2E4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Avg Resolution (h)</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0B2E4F"/>
                    </a:solidFill>
                  </a:tcPr>
                </a:tc>
              </a:tr>
              <a:tr h="352697">
                <a:tc>
                  <a:txBody>
                    <a:bodyPr/>
                    <a:lstStyle/>
                    <a:p>
                      <a:pPr algn="l" indent="0" marL="0">
                        <a:buNone/>
                      </a:pPr>
                      <a:r>
                        <a:rPr lang="en-US" sz="1150" dirty="0">
                          <a:solidFill>
                            <a:srgbClr val="26313A"/>
                          </a:solidFill>
                          <a:latin typeface="Calibri" pitchFamily="34" charset="0"/>
                          <a:ea typeface="Calibri" pitchFamily="34" charset="-122"/>
                          <a:cs typeface="Calibri" pitchFamily="34" charset="-120"/>
                        </a:rPr>
                        <a:t>Parveen Campbell</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34</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23.8%</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4.4</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37.1</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r>
              <a:tr h="352697">
                <a:tc>
                  <a:txBody>
                    <a:bodyPr/>
                    <a:lstStyle/>
                    <a:p>
                      <a:pPr algn="l" indent="0" marL="0">
                        <a:buNone/>
                      </a:pPr>
                      <a:r>
                        <a:rPr lang="en-US" sz="1150" dirty="0">
                          <a:solidFill>
                            <a:srgbClr val="26313A"/>
                          </a:solidFill>
                          <a:latin typeface="Calibri" pitchFamily="34" charset="0"/>
                          <a:ea typeface="Calibri" pitchFamily="34" charset="-122"/>
                          <a:cs typeface="Calibri" pitchFamily="34" charset="-120"/>
                        </a:rPr>
                        <a:t>Ananya Byrne</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71</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19.7%</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12.7%</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4.9</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45.6</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r>
              <a:tr h="352697">
                <a:tc>
                  <a:txBody>
                    <a:bodyPr/>
                    <a:lstStyle/>
                    <a:p>
                      <a:pPr algn="l" indent="0" marL="0">
                        <a:buNone/>
                      </a:pPr>
                      <a:r>
                        <a:rPr lang="en-US" sz="1150" dirty="0">
                          <a:solidFill>
                            <a:srgbClr val="26313A"/>
                          </a:solidFill>
                          <a:latin typeface="Calibri" pitchFamily="34" charset="0"/>
                          <a:ea typeface="Calibri" pitchFamily="34" charset="-122"/>
                          <a:cs typeface="Calibri" pitchFamily="34" charset="-120"/>
                        </a:rPr>
                        <a:t>Isla Clarke</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21.5%</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4.3</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36.1</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r>
              <a:tr h="352697">
                <a:tc>
                  <a:txBody>
                    <a:bodyPr/>
                    <a:lstStyle/>
                    <a:p>
                      <a:pPr algn="l" indent="0" marL="0">
                        <a:buNone/>
                      </a:pPr>
                      <a:r>
                        <a:rPr lang="en-US" sz="1150" dirty="0">
                          <a:solidFill>
                            <a:srgbClr val="26313A"/>
                          </a:solidFill>
                          <a:latin typeface="Calibri" pitchFamily="34" charset="0"/>
                          <a:ea typeface="Calibri" pitchFamily="34" charset="-122"/>
                          <a:cs typeface="Calibri" pitchFamily="34" charset="-120"/>
                        </a:rPr>
                        <a:t>Charlie Nowak</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63</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20.6%</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15.9%</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4.8</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dirty="0">
                          <a:solidFill>
                            <a:srgbClr val="26313A"/>
                          </a:solidFill>
                          <a:latin typeface="Calibri" pitchFamily="34" charset="0"/>
                          <a:ea typeface="Calibri" pitchFamily="34" charset="-122"/>
                          <a:cs typeface="Calibri" pitchFamily="34" charset="-120"/>
                        </a:rPr>
                        <a:t>36.9</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r>
              <a:tr h="352697">
                <a:tc>
                  <a:txBody>
                    <a:bodyPr/>
                    <a:lstStyle/>
                    <a:p>
                      <a:pPr algn="l" indent="0" marL="0">
                        <a:buNone/>
                      </a:pPr>
                      <a:r>
                        <a:rPr lang="en-US" sz="1150" dirty="0">
                          <a:solidFill>
                            <a:srgbClr val="26313A"/>
                          </a:solidFill>
                          <a:latin typeface="Calibri" pitchFamily="34" charset="0"/>
                          <a:ea typeface="Calibri" pitchFamily="34" charset="-122"/>
                          <a:cs typeface="Calibri" pitchFamily="34" charset="-120"/>
                        </a:rPr>
                        <a:t>Ava Kowalczyk</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9E6B"/>
                          </a:solidFill>
                          <a:latin typeface="Calibri" pitchFamily="34" charset="0"/>
                          <a:ea typeface="Calibri" pitchFamily="34" charset="-122"/>
                          <a:cs typeface="Calibri" pitchFamily="34" charset="-120"/>
                        </a:rPr>
                        <a:t>62</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9E6B"/>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9E6B"/>
                          </a:solidFill>
                          <a:latin typeface="Calibri" pitchFamily="34" charset="0"/>
                          <a:ea typeface="Calibri" pitchFamily="34" charset="-122"/>
                          <a:cs typeface="Calibri" pitchFamily="34" charset="-120"/>
                        </a:rPr>
                        <a:t>11.3%</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9E6B"/>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9E6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9E6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FFFFFF"/>
                    </a:solidFill>
                  </a:tcPr>
                </a:tc>
              </a:tr>
              <a:tr h="352697">
                <a:tc>
                  <a:txBody>
                    <a:bodyPr/>
                    <a:lstStyle/>
                    <a:p>
                      <a:pPr algn="l" indent="0" marL="0">
                        <a:buNone/>
                      </a:pPr>
                      <a:r>
                        <a:rPr lang="en-US" sz="1150" dirty="0">
                          <a:solidFill>
                            <a:srgbClr val="26313A"/>
                          </a:solidFill>
                          <a:latin typeface="Calibri" pitchFamily="34" charset="0"/>
                          <a:ea typeface="Calibri" pitchFamily="34" charset="-122"/>
                          <a:cs typeface="Calibri" pitchFamily="34" charset="-120"/>
                        </a:rPr>
                        <a:t>Declan Osei</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b="1" dirty="0">
                          <a:solidFill>
                            <a:srgbClr val="E4572E"/>
                          </a:solidFill>
                          <a:latin typeface="Calibri" pitchFamily="34" charset="0"/>
                          <a:ea typeface="Calibri" pitchFamily="34" charset="-122"/>
                          <a:cs typeface="Calibri" pitchFamily="34" charset="-120"/>
                        </a:rPr>
                        <a:t>62</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b="1" dirty="0">
                          <a:solidFill>
                            <a:srgbClr val="E4572E"/>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b="1" dirty="0">
                          <a:solidFill>
                            <a:srgbClr val="E4572E"/>
                          </a:solidFill>
                          <a:latin typeface="Calibri" pitchFamily="34" charset="0"/>
                          <a:ea typeface="Calibri" pitchFamily="34" charset="-122"/>
                          <a:cs typeface="Calibri" pitchFamily="34" charset="-120"/>
                        </a:rPr>
                        <a:t>24.2%</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b="1" dirty="0">
                          <a:solidFill>
                            <a:srgbClr val="E4572E"/>
                          </a:solidFill>
                          <a:latin typeface="Calibri" pitchFamily="34" charset="0"/>
                          <a:ea typeface="Calibri" pitchFamily="34" charset="-122"/>
                          <a:cs typeface="Calibri" pitchFamily="34" charset="-120"/>
                        </a:rPr>
                        <a:t>12.9%</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b="1" dirty="0">
                          <a:solidFill>
                            <a:srgbClr val="E457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c>
                  <a:txBody>
                    <a:bodyPr/>
                    <a:lstStyle/>
                    <a:p>
                      <a:pPr algn="ctr" indent="0" marL="0">
                        <a:buNone/>
                      </a:pPr>
                      <a:r>
                        <a:rPr lang="en-US" sz="1150" b="1" dirty="0">
                          <a:solidFill>
                            <a:srgbClr val="E457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9525" cap="flat" cmpd="sng" algn="ctr">
                      <a:solidFill>
                        <a:srgbClr val="DDE7EA"/>
                      </a:solidFill>
                      <a:prstDash val="solid"/>
                      <a:round/>
                      <a:headEnd type="none" w="med" len="med"/>
                      <a:tailEnd type="none" w="med" len="med"/>
                    </a:lnL>
                    <a:lnR w="9525" cap="flat" cmpd="sng" algn="ctr">
                      <a:solidFill>
                        <a:srgbClr val="DDE7EA"/>
                      </a:solidFill>
                      <a:prstDash val="solid"/>
                      <a:round/>
                      <a:headEnd type="none" w="med" len="med"/>
                      <a:tailEnd type="none" w="med" len="med"/>
                    </a:lnR>
                    <a:lnT w="9525" cap="flat" cmpd="sng" algn="ctr">
                      <a:solidFill>
                        <a:srgbClr val="DDE7EA"/>
                      </a:solidFill>
                      <a:prstDash val="solid"/>
                      <a:round/>
                      <a:headEnd type="none" w="med" len="med"/>
                      <a:tailEnd type="none" w="med" len="med"/>
                    </a:lnT>
                    <a:lnB w="9525" cap="flat" cmpd="sng" algn="ctr">
                      <a:solidFill>
                        <a:srgbClr val="DDE7EA"/>
                      </a:solidFill>
                      <a:prstDash val="solid"/>
                      <a:round/>
                      <a:headEnd type="none" w="med" len="med"/>
                      <a:tailEnd type="none" w="med" len="med"/>
                    </a:lnB>
                    <a:solidFill>
                      <a:srgbClr val="EAF3F6"/>
                    </a:solidFill>
                  </a:tcPr>
                </a:tc>
              </a:tr>
            </a:tbl>
          </a:graphicData>
        </a:graphic>
      </p:graphicFrame>
      <p:sp>
        <p:nvSpPr>
          <p:cNvPr id="5" name="Shape 2"/>
          <p:cNvSpPr/>
          <p:nvPr/>
        </p:nvSpPr>
        <p:spPr>
          <a:xfrm>
            <a:off x="502920" y="4114800"/>
            <a:ext cx="11183112" cy="2148840"/>
          </a:xfrm>
          <a:prstGeom prst="roundRect">
            <a:avLst>
              <a:gd name="adj" fmla="val 2553"/>
            </a:avLst>
          </a:prstGeom>
          <a:solidFill>
            <a:srgbClr val="EAF3F6"/>
          </a:solidFill>
          <a:ln w="12700">
            <a:solidFill>
              <a:srgbClr val="DDE7EA"/>
            </a:solidFill>
            <a:prstDash val="solid"/>
          </a:ln>
        </p:spPr>
      </p:sp>
      <p:sp>
        <p:nvSpPr>
          <p:cNvPr id="6" name="Text 3"/>
          <p:cNvSpPr txBox="1"/>
          <p:nvPr/>
        </p:nvSpPr>
        <p:spPr>
          <a:xfrm>
            <a:off x="822960" y="4325112"/>
            <a:ext cx="10515600" cy="320040"/>
          </a:xfrm>
          <a:prstGeom prst="rect">
            <a:avLst/>
          </a:prstGeom>
          <a:noFill/>
          <a:ln/>
        </p:spPr>
        <p:txBody>
          <a:bodyPr wrap="square" lIns="0" tIns="0" rIns="0" bIns="0" rtlCol="0" anchor="ctr"/>
          <a:lstStyle/>
          <a:p>
            <a:pPr indent="0" marL="0">
              <a:buNone/>
            </a:pPr>
            <a:r>
              <a:rPr lang="en-US" sz="1500" b="1" dirty="0">
                <a:solidFill>
                  <a:srgbClr val="0B2E4F"/>
                </a:solidFill>
                <a:latin typeface="Cambria" pitchFamily="34" charset="0"/>
                <a:ea typeface="Cambria" pitchFamily="34" charset="-122"/>
                <a:cs typeface="Cambria" pitchFamily="34" charset="-120"/>
              </a:rPr>
              <a:t>Workload isn't the differentiator — approach is</a:t>
            </a:r>
            <a:endParaRPr lang="en-US" sz="1500" dirty="0"/>
          </a:p>
        </p:txBody>
      </p:sp>
      <p:sp>
        <p:nvSpPr>
          <p:cNvPr id="7" name="Text 4"/>
          <p:cNvSpPr txBox="1"/>
          <p:nvPr/>
        </p:nvSpPr>
        <p:spPr>
          <a:xfrm>
            <a:off x="822960" y="4663440"/>
            <a:ext cx="10515600" cy="685800"/>
          </a:xfrm>
          <a:prstGeom prst="rect">
            <a:avLst/>
          </a:prstGeom>
          <a:noFill/>
          <a:ln/>
        </p:spPr>
        <p:txBody>
          <a:bodyPr wrap="square" lIns="0" tIns="0" rIns="0" bIns="0" rtlCol="0" anchor="ctr"/>
          <a:lstStyle/>
          <a:p>
            <a:pPr indent="0" marL="0">
              <a:spcAft>
                <a:spcPts val="800"/>
              </a:spcAft>
              <a:buNone/>
            </a:pPr>
            <a:r>
              <a:rPr lang="en-US" sz="1280" b="1" dirty="0">
                <a:solidFill>
                  <a:srgbClr val="2E9E6B"/>
                </a:solidFill>
                <a:latin typeface="Calibri" pitchFamily="34" charset="0"/>
                <a:ea typeface="Calibri" pitchFamily="34" charset="-122"/>
                <a:cs typeface="Calibri" pitchFamily="34" charset="-120"/>
              </a:rPr>
              <a:t>Ava Kowalczyk </a:t>
            </a:r>
            <a:pPr indent="0" marL="0">
              <a:spcAft>
                <a:spcPts val="800"/>
              </a:spcAft>
              <a:buNone/>
            </a:pPr>
            <a:r>
              <a:rPr lang="en-US" sz="1280" dirty="0">
                <a:solidFill>
                  <a:srgbClr val="26313A"/>
                </a:solidFill>
                <a:latin typeface="Calibri" pitchFamily="34" charset="0"/>
                <a:ea typeface="Calibri" pitchFamily="34" charset="-122"/>
                <a:cs typeface="Calibri" pitchFamily="34" charset="-120"/>
              </a:rPr>
              <a:t>carries a near-identical caseload to Charlie Nowak and Declan Osei (62 tickets) but posts the lowest SLA breach rate (11.3%) and lowest escalation rate (6.5%) on the team — roughly half everyone else's. That gap is worth understanding, not just noting.</a:t>
            </a:r>
            <a:endParaRPr lang="en-US" sz="1280" dirty="0"/>
          </a:p>
        </p:txBody>
      </p:sp>
      <p:sp>
        <p:nvSpPr>
          <p:cNvPr id="8" name="Text 5"/>
          <p:cNvSpPr txBox="1"/>
          <p:nvPr/>
        </p:nvSpPr>
        <p:spPr>
          <a:xfrm>
            <a:off x="822960" y="5349240"/>
            <a:ext cx="10515600" cy="640080"/>
          </a:xfrm>
          <a:prstGeom prst="rect">
            <a:avLst/>
          </a:prstGeom>
          <a:noFill/>
          <a:ln/>
        </p:spPr>
        <p:txBody>
          <a:bodyPr wrap="square" lIns="0" tIns="0" rIns="0" bIns="0" rtlCol="0" anchor="ctr"/>
          <a:lstStyle/>
          <a:p>
            <a:pPr indent="0" marL="0">
              <a:buNone/>
            </a:pPr>
            <a:r>
              <a:rPr lang="en-US" sz="1280" b="1" dirty="0">
                <a:solidFill>
                  <a:srgbClr val="E4572E"/>
                </a:solidFill>
                <a:latin typeface="Calibri" pitchFamily="34" charset="0"/>
                <a:ea typeface="Calibri" pitchFamily="34" charset="-122"/>
                <a:cs typeface="Calibri" pitchFamily="34" charset="-120"/>
              </a:rPr>
              <a:t>Declan Osei </a:t>
            </a:r>
            <a:pPr indent="0" marL="0">
              <a:buNone/>
            </a:pPr>
            <a:r>
              <a:rPr lang="en-US" sz="1280" dirty="0">
                <a:solidFill>
                  <a:srgbClr val="26313A"/>
                </a:solidFill>
                <a:latin typeface="Calibri" pitchFamily="34" charset="0"/>
                <a:ea typeface="Calibri" pitchFamily="34" charset="-122"/>
                <a:cs typeface="Calibri" pitchFamily="34" charset="-120"/>
              </a:rPr>
              <a:t>has the highest SLA breach rate (24.2%) despite one of the lowest escalation rates (12.9%) — a sign that struggling tickets may not be getting escalated for help before they breach.</a:t>
            </a:r>
            <a:endParaRPr lang="en-US" sz="1280" dirty="0"/>
          </a:p>
        </p:txBody>
      </p:sp>
      <p:sp>
        <p:nvSpPr>
          <p:cNvPr id="9" name="Text 6"/>
          <p:cNvSpPr txBox="1"/>
          <p:nvPr/>
        </p:nvSpPr>
        <p:spPr>
          <a:xfrm>
            <a:off x="502920" y="6528816"/>
            <a:ext cx="7315200" cy="274320"/>
          </a:xfrm>
          <a:prstGeom prst="rect">
            <a:avLst/>
          </a:prstGeom>
          <a:noFill/>
          <a:ln/>
        </p:spPr>
        <p:txBody>
          <a:bodyPr wrap="square" lIns="0" tIns="0" rIns="0" bIns="0" rtlCol="0" anchor="ctr"/>
          <a:lstStyle/>
          <a:p>
            <a:pPr indent="0" marL="0">
              <a:buNone/>
            </a:pPr>
            <a:r>
              <a:rPr lang="en-US" sz="900" dirty="0">
                <a:solidFill>
                  <a:srgbClr val="6B7A83"/>
                </a:solidFill>
                <a:latin typeface="Calibri" pitchFamily="34" charset="0"/>
                <a:ea typeface="Calibri" pitchFamily="34" charset="-122"/>
                <a:cs typeface="Calibri" pitchFamily="34" charset="-120"/>
              </a:rPr>
              <a:t>NorthBridge Health Services Ltd  |  Agent Performance</a:t>
            </a:r>
            <a:endParaRPr lang="en-US" sz="900" dirty="0"/>
          </a:p>
        </p:txBody>
      </p:sp>
      <p:sp>
        <p:nvSpPr>
          <p:cNvPr id="10" name="Text 7"/>
          <p:cNvSpPr txBox="1"/>
          <p:nvPr/>
        </p:nvSpPr>
        <p:spPr>
          <a:xfrm>
            <a:off x="11228832" y="6528816"/>
            <a:ext cx="457200" cy="274320"/>
          </a:xfrm>
          <a:prstGeom prst="rect">
            <a:avLst/>
          </a:prstGeom>
          <a:noFill/>
          <a:ln/>
        </p:spPr>
        <p:txBody>
          <a:bodyPr wrap="square" lIns="0" tIns="0" rIns="0" bIns="0" rtlCol="0" anchor="ctr"/>
          <a:lstStyle/>
          <a:p>
            <a:pPr algn="r" indent="0" marL="0">
              <a:buNone/>
            </a:pPr>
            <a:r>
              <a:rPr lang="en-US" sz="900" dirty="0">
                <a:solidFill>
                  <a:srgbClr val="6B7A8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ESCALATION PATTERNS</a:t>
            </a:r>
            <a:endParaRPr lang="en-US" sz="1200" dirty="0"/>
          </a:p>
        </p:txBody>
      </p:sp>
      <p:sp>
        <p:nvSpPr>
          <p:cNvPr id="3" name="Text 1"/>
          <p:cNvSpPr txBox="1"/>
          <p:nvPr/>
        </p:nvSpPr>
        <p:spPr>
          <a:xfrm>
            <a:off x="502920" y="603504"/>
            <a:ext cx="10607040" cy="640080"/>
          </a:xfrm>
          <a:prstGeom prst="rect">
            <a:avLst/>
          </a:prstGeom>
          <a:noFill/>
          <a:ln/>
        </p:spPr>
        <p:txBody>
          <a:bodyPr wrap="square" lIns="0" tIns="0" rIns="0" bIns="0" rtlCol="0" anchor="ctr"/>
          <a:lstStyle/>
          <a:p>
            <a:pPr indent="0" marL="0">
              <a:buNone/>
            </a:pPr>
            <a:r>
              <a:rPr lang="en-US" sz="2800" b="1" dirty="0">
                <a:solidFill>
                  <a:srgbClr val="0B2E4F"/>
                </a:solidFill>
                <a:latin typeface="Cambria" pitchFamily="34" charset="0"/>
                <a:ea typeface="Cambria" pitchFamily="34" charset="-122"/>
                <a:cs typeface="Cambria" pitchFamily="34" charset="-120"/>
              </a:rPr>
              <a:t>Escalation mostly tracks breach risk — with one exception</a:t>
            </a:r>
            <a:endParaRPr lang="en-US" sz="2800" dirty="0"/>
          </a:p>
        </p:txBody>
      </p:sp>
      <p:sp>
        <p:nvSpPr>
          <p:cNvPr id="4" name="Shape 2"/>
          <p:cNvSpPr/>
          <p:nvPr/>
        </p:nvSpPr>
        <p:spPr>
          <a:xfrm>
            <a:off x="502920" y="1417320"/>
            <a:ext cx="3566160" cy="1097280"/>
          </a:xfrm>
          <a:prstGeom prst="roundRect">
            <a:avLst>
              <a:gd name="adj" fmla="val 6667"/>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5" name="Text 3"/>
          <p:cNvSpPr txBox="1"/>
          <p:nvPr/>
        </p:nvSpPr>
        <p:spPr>
          <a:xfrm>
            <a:off x="502920" y="1527048"/>
            <a:ext cx="3566160" cy="530352"/>
          </a:xfrm>
          <a:prstGeom prst="rect">
            <a:avLst/>
          </a:prstGeom>
          <a:noFill/>
          <a:ln/>
        </p:spPr>
        <p:txBody>
          <a:bodyPr wrap="square" lIns="0" tIns="0" rIns="0" bIns="0" rtlCol="0" anchor="ctr"/>
          <a:lstStyle/>
          <a:p>
            <a:pPr algn="ctr" indent="0" marL="0">
              <a:buNone/>
            </a:pPr>
            <a:r>
              <a:rPr lang="en-US" sz="3000" b="1" dirty="0">
                <a:solidFill>
                  <a:srgbClr val="0B2E4F"/>
                </a:solidFill>
                <a:latin typeface="Cambria" pitchFamily="34" charset="0"/>
                <a:ea typeface="Cambria" pitchFamily="34" charset="-122"/>
                <a:cs typeface="Cambria" pitchFamily="34" charset="-120"/>
              </a:rPr>
              <a:t>464</a:t>
            </a:r>
            <a:endParaRPr lang="en-US" sz="3000" dirty="0"/>
          </a:p>
        </p:txBody>
      </p:sp>
      <p:sp>
        <p:nvSpPr>
          <p:cNvPr id="6" name="Text 4"/>
          <p:cNvSpPr txBox="1"/>
          <p:nvPr/>
        </p:nvSpPr>
        <p:spPr>
          <a:xfrm>
            <a:off x="576072" y="2093976"/>
            <a:ext cx="3419856"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Escalated tickets (13.3% of all)</a:t>
            </a:r>
            <a:endParaRPr lang="en-US" sz="1150" dirty="0"/>
          </a:p>
        </p:txBody>
      </p:sp>
      <p:sp>
        <p:nvSpPr>
          <p:cNvPr id="7" name="Shape 5"/>
          <p:cNvSpPr/>
          <p:nvPr/>
        </p:nvSpPr>
        <p:spPr>
          <a:xfrm>
            <a:off x="4297680" y="1417320"/>
            <a:ext cx="3566160" cy="1097280"/>
          </a:xfrm>
          <a:prstGeom prst="roundRect">
            <a:avLst>
              <a:gd name="adj" fmla="val 6667"/>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8" name="Text 6"/>
          <p:cNvSpPr txBox="1"/>
          <p:nvPr/>
        </p:nvSpPr>
        <p:spPr>
          <a:xfrm>
            <a:off x="4297680" y="1527048"/>
            <a:ext cx="3566160" cy="530352"/>
          </a:xfrm>
          <a:prstGeom prst="rect">
            <a:avLst/>
          </a:prstGeom>
          <a:noFill/>
          <a:ln/>
        </p:spPr>
        <p:txBody>
          <a:bodyPr wrap="square" lIns="0" tIns="0" rIns="0" bIns="0"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20.0%</a:t>
            </a:r>
            <a:endParaRPr lang="en-US" sz="3000" dirty="0"/>
          </a:p>
        </p:txBody>
      </p:sp>
      <p:sp>
        <p:nvSpPr>
          <p:cNvPr id="9" name="Text 7"/>
          <p:cNvSpPr txBox="1"/>
          <p:nvPr/>
        </p:nvSpPr>
        <p:spPr>
          <a:xfrm>
            <a:off x="4370832" y="2093976"/>
            <a:ext cx="3419856"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Highest agent escalation rate (Isla Clarke)</a:t>
            </a:r>
            <a:endParaRPr lang="en-US" sz="1150" dirty="0"/>
          </a:p>
        </p:txBody>
      </p:sp>
      <p:sp>
        <p:nvSpPr>
          <p:cNvPr id="10" name="Shape 8"/>
          <p:cNvSpPr/>
          <p:nvPr/>
        </p:nvSpPr>
        <p:spPr>
          <a:xfrm>
            <a:off x="8092440" y="1417320"/>
            <a:ext cx="3593592" cy="1097280"/>
          </a:xfrm>
          <a:prstGeom prst="roundRect">
            <a:avLst>
              <a:gd name="adj" fmla="val 6667"/>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11" name="Text 9"/>
          <p:cNvSpPr txBox="1"/>
          <p:nvPr/>
        </p:nvSpPr>
        <p:spPr>
          <a:xfrm>
            <a:off x="8092440" y="1527048"/>
            <a:ext cx="3593592" cy="530352"/>
          </a:xfrm>
          <a:prstGeom prst="rect">
            <a:avLst/>
          </a:prstGeom>
          <a:noFill/>
          <a:ln/>
        </p:spPr>
        <p:txBody>
          <a:bodyPr wrap="square" lIns="0" tIns="0" rIns="0" bIns="0" rtlCol="0" anchor="ctr"/>
          <a:lstStyle/>
          <a:p>
            <a:pPr algn="ctr" indent="0" marL="0">
              <a:buNone/>
            </a:pPr>
            <a:r>
              <a:rPr lang="en-US" sz="3000" b="1" dirty="0">
                <a:solidFill>
                  <a:srgbClr val="2E9E6B"/>
                </a:solidFill>
                <a:latin typeface="Cambria" pitchFamily="34" charset="0"/>
                <a:ea typeface="Cambria" pitchFamily="34" charset="-122"/>
                <a:cs typeface="Cambria" pitchFamily="34" charset="-120"/>
              </a:rPr>
              <a:t>6.5%</a:t>
            </a:r>
            <a:endParaRPr lang="en-US" sz="3000" dirty="0"/>
          </a:p>
        </p:txBody>
      </p:sp>
      <p:sp>
        <p:nvSpPr>
          <p:cNvPr id="12" name="Text 10"/>
          <p:cNvSpPr txBox="1"/>
          <p:nvPr/>
        </p:nvSpPr>
        <p:spPr>
          <a:xfrm>
            <a:off x="8165592" y="2093976"/>
            <a:ext cx="3447288"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Lowest agent escalation rate (Ava Kowalczyk)</a:t>
            </a:r>
            <a:endParaRPr lang="en-US" sz="1150" dirty="0"/>
          </a:p>
        </p:txBody>
      </p:sp>
      <p:sp>
        <p:nvSpPr>
          <p:cNvPr id="13" name="Text 11"/>
          <p:cNvSpPr txBox="1"/>
          <p:nvPr/>
        </p:nvSpPr>
        <p:spPr>
          <a:xfrm>
            <a:off x="502920" y="2743200"/>
            <a:ext cx="5486400" cy="320040"/>
          </a:xfrm>
          <a:prstGeom prst="rect">
            <a:avLst/>
          </a:prstGeom>
          <a:noFill/>
          <a:ln/>
        </p:spPr>
        <p:txBody>
          <a:bodyPr wrap="square" lIns="0" tIns="0" rIns="0" bIns="0" rtlCol="0" anchor="ctr"/>
          <a:lstStyle/>
          <a:p>
            <a:pPr indent="0" marL="0">
              <a:buNone/>
            </a:pPr>
            <a:r>
              <a:rPr lang="en-US" sz="1500" b="1" dirty="0">
                <a:solidFill>
                  <a:srgbClr val="0B2E4F"/>
                </a:solidFill>
                <a:latin typeface="Cambria" pitchFamily="34" charset="0"/>
                <a:ea typeface="Cambria" pitchFamily="34" charset="-122"/>
                <a:cs typeface="Cambria" pitchFamily="34" charset="-120"/>
              </a:rPr>
              <a:t>Escalation rate by agent</a:t>
            </a:r>
            <a:endParaRPr lang="en-US" sz="1500" dirty="0"/>
          </a:p>
        </p:txBody>
      </p:sp>
      <p:graphicFrame>
        <p:nvGraphicFramePr>
          <p:cNvPr id="14" name="Chart 0" descr=""/>
          <p:cNvGraphicFramePr/>
          <p:nvPr/>
        </p:nvGraphicFramePr>
        <p:xfrm>
          <a:off x="502920" y="310896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6172200" y="2743200"/>
            <a:ext cx="5394960" cy="3566160"/>
          </a:xfrm>
          <a:prstGeom prst="roundRect">
            <a:avLst>
              <a:gd name="adj" fmla="val 1538"/>
            </a:avLst>
          </a:prstGeom>
          <a:solidFill>
            <a:srgbClr val="EAF3F6"/>
          </a:solidFill>
          <a:ln w="12700">
            <a:solidFill>
              <a:srgbClr val="DDE7EA"/>
            </a:solidFill>
            <a:prstDash val="solid"/>
          </a:ln>
        </p:spPr>
      </p:sp>
      <p:sp>
        <p:nvSpPr>
          <p:cNvPr id="16" name="Text 13"/>
          <p:cNvSpPr txBox="1"/>
          <p:nvPr/>
        </p:nvSpPr>
        <p:spPr>
          <a:xfrm>
            <a:off x="6446520" y="2971800"/>
            <a:ext cx="4846320" cy="548640"/>
          </a:xfrm>
          <a:prstGeom prst="rect">
            <a:avLst/>
          </a:prstGeom>
          <a:noFill/>
          <a:ln/>
        </p:spPr>
        <p:txBody>
          <a:bodyPr wrap="square" lIns="0" tIns="0" rIns="0" bIns="0" rtlCol="0" anchor="ctr"/>
          <a:lstStyle/>
          <a:p>
            <a:pPr indent="0" marL="0">
              <a:buNone/>
            </a:pPr>
            <a:r>
              <a:rPr lang="en-US" sz="1400" b="1" dirty="0">
                <a:solidFill>
                  <a:srgbClr val="0B2E4F"/>
                </a:solidFill>
                <a:latin typeface="Cambria" pitchFamily="34" charset="0"/>
                <a:ea typeface="Cambria" pitchFamily="34" charset="-122"/>
                <a:cs typeface="Cambria" pitchFamily="34" charset="-120"/>
              </a:rPr>
              <a:t>Reading escalation against SLA breach, agent by agent</a:t>
            </a:r>
            <a:endParaRPr lang="en-US" sz="1400" dirty="0"/>
          </a:p>
        </p:txBody>
      </p:sp>
      <p:sp>
        <p:nvSpPr>
          <p:cNvPr id="17" name="Text 14"/>
          <p:cNvSpPr txBox="1"/>
          <p:nvPr/>
        </p:nvSpPr>
        <p:spPr>
          <a:xfrm>
            <a:off x="6446520" y="3566160"/>
            <a:ext cx="4846320" cy="2651760"/>
          </a:xfrm>
          <a:prstGeom prst="rect">
            <a:avLst/>
          </a:prstGeom>
          <a:noFill/>
          <a:ln/>
        </p:spPr>
        <p:txBody>
          <a:bodyPr wrap="square" lIns="0" tIns="0" rIns="0" bIns="0" rtlCol="0" anchor="ctr"/>
          <a:lstStyle/>
          <a:p>
            <a:pPr marL="203200" indent="-203200">
              <a:spcAft>
                <a:spcPts val="900"/>
              </a:spcAft>
              <a:buSzPct val="100000"/>
              <a:buChar char="•"/>
            </a:pPr>
            <a:r>
              <a:rPr lang="en-US" sz="1200" dirty="0">
                <a:solidFill>
                  <a:srgbClr val="26313A"/>
                </a:solidFill>
                <a:latin typeface="Calibri" pitchFamily="34" charset="0"/>
                <a:ea typeface="Calibri" pitchFamily="34" charset="-122"/>
                <a:cs typeface="Calibri" pitchFamily="34" charset="-120"/>
              </a:rPr>
              <a:t>Isla Clarke, Charlie Nowak and Parveen Campbell escalate most and also breach SLA more often — a consistent, expected pattern.</a:t>
            </a:r>
            <a:endParaRPr lang="en-US" sz="1200" dirty="0"/>
          </a:p>
          <a:p>
            <a:pPr marL="203200" indent="-203200">
              <a:spcAft>
                <a:spcPts val="900"/>
              </a:spcAft>
              <a:buSzPct val="100000"/>
              <a:buChar char="•"/>
            </a:pPr>
            <a:r>
              <a:rPr lang="en-US" sz="1200" dirty="0">
                <a:solidFill>
                  <a:srgbClr val="26313A"/>
                </a:solidFill>
                <a:latin typeface="Calibri" pitchFamily="34" charset="0"/>
                <a:ea typeface="Calibri" pitchFamily="34" charset="-122"/>
                <a:cs typeface="Calibri" pitchFamily="34" charset="-120"/>
              </a:rPr>
              <a:t>Ava Kowalczyk sits at the bottom on both measures — fewer escalations, fewer breaches — reinforcing that her approach is genuinely more effective, not just under-escalating.</a:t>
            </a:r>
            <a:endParaRPr lang="en-US" sz="1200" dirty="0"/>
          </a:p>
          <a:p>
            <a:pPr marL="203200" indent="-203200">
              <a:spcAft>
                <a:spcPts val="900"/>
              </a:spcAft>
              <a:buSzPct val="100000"/>
              <a:buChar char="•"/>
            </a:pPr>
            <a:r>
              <a:rPr lang="en-US" sz="1200" dirty="0">
                <a:solidFill>
                  <a:srgbClr val="26313A"/>
                </a:solidFill>
                <a:latin typeface="Calibri" pitchFamily="34" charset="0"/>
                <a:ea typeface="Calibri" pitchFamily="34" charset="-122"/>
                <a:cs typeface="Calibri" pitchFamily="34" charset="-120"/>
              </a:rPr>
              <a:t>Declan Osei is the outlier: a below-average escalation rate (12.9%) paired with the team's highest breach rate (24.2%). That combination suggests tickets are running into trouble without being flagged for help — a coaching opportunity, not just a workload issue.</a:t>
            </a:r>
            <a:endParaRPr lang="en-US" sz="1200" dirty="0"/>
          </a:p>
        </p:txBody>
      </p:sp>
      <p:sp>
        <p:nvSpPr>
          <p:cNvPr id="18" name="Text 15"/>
          <p:cNvSpPr txBox="1"/>
          <p:nvPr/>
        </p:nvSpPr>
        <p:spPr>
          <a:xfrm>
            <a:off x="502920" y="6528816"/>
            <a:ext cx="7315200" cy="274320"/>
          </a:xfrm>
          <a:prstGeom prst="rect">
            <a:avLst/>
          </a:prstGeom>
          <a:noFill/>
          <a:ln/>
        </p:spPr>
        <p:txBody>
          <a:bodyPr wrap="square" lIns="0" tIns="0" rIns="0" bIns="0" rtlCol="0" anchor="ctr"/>
          <a:lstStyle/>
          <a:p>
            <a:pPr indent="0" marL="0">
              <a:buNone/>
            </a:pPr>
            <a:r>
              <a:rPr lang="en-US" sz="900" dirty="0">
                <a:solidFill>
                  <a:srgbClr val="6B7A83"/>
                </a:solidFill>
                <a:latin typeface="Calibri" pitchFamily="34" charset="0"/>
                <a:ea typeface="Calibri" pitchFamily="34" charset="-122"/>
                <a:cs typeface="Calibri" pitchFamily="34" charset="-120"/>
              </a:rPr>
              <a:t>NorthBridge Health Services Ltd  |  Escalation Patterns</a:t>
            </a:r>
            <a:endParaRPr lang="en-US" sz="900" dirty="0"/>
          </a:p>
        </p:txBody>
      </p:sp>
      <p:sp>
        <p:nvSpPr>
          <p:cNvPr id="19" name="Text 16"/>
          <p:cNvSpPr txBox="1"/>
          <p:nvPr/>
        </p:nvSpPr>
        <p:spPr>
          <a:xfrm>
            <a:off x="11228832" y="6528816"/>
            <a:ext cx="457200" cy="274320"/>
          </a:xfrm>
          <a:prstGeom prst="rect">
            <a:avLst/>
          </a:prstGeom>
          <a:noFill/>
          <a:ln/>
        </p:spPr>
        <p:txBody>
          <a:bodyPr wrap="square" lIns="0" tIns="0" rIns="0" bIns="0" rtlCol="0" anchor="ctr"/>
          <a:lstStyle/>
          <a:p>
            <a:pPr algn="r" indent="0" marL="0">
              <a:buNone/>
            </a:pPr>
            <a:r>
              <a:rPr lang="en-US" sz="900" dirty="0">
                <a:solidFill>
                  <a:srgbClr val="6B7A8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CLIENT &amp; BUSINESS IMPACT</a:t>
            </a:r>
            <a:endParaRPr lang="en-US" sz="1200" dirty="0"/>
          </a:p>
        </p:txBody>
      </p:sp>
      <p:sp>
        <p:nvSpPr>
          <p:cNvPr id="3" name="Text 1"/>
          <p:cNvSpPr txBox="1"/>
          <p:nvPr/>
        </p:nvSpPr>
        <p:spPr>
          <a:xfrm>
            <a:off x="502920" y="603504"/>
            <a:ext cx="10607040" cy="640080"/>
          </a:xfrm>
          <a:prstGeom prst="rect">
            <a:avLst/>
          </a:prstGeom>
          <a:noFill/>
          <a:ln/>
        </p:spPr>
        <p:txBody>
          <a:bodyPr wrap="square" lIns="0" tIns="0" rIns="0" bIns="0" rtlCol="0" anchor="ctr"/>
          <a:lstStyle/>
          <a:p>
            <a:pPr indent="0" marL="0">
              <a:buNone/>
            </a:pPr>
            <a:r>
              <a:rPr lang="en-US" sz="2800" b="1" dirty="0">
                <a:solidFill>
                  <a:srgbClr val="0B2E4F"/>
                </a:solidFill>
                <a:latin typeface="Cambria" pitchFamily="34" charset="0"/>
                <a:ea typeface="Cambria" pitchFamily="34" charset="-122"/>
                <a:cs typeface="Cambria" pitchFamily="34" charset="-120"/>
              </a:rPr>
              <a:t>Flagship accounts are stable — smaller ones are not</a:t>
            </a:r>
            <a:endParaRPr lang="en-US" sz="2800" dirty="0"/>
          </a:p>
        </p:txBody>
      </p:sp>
      <p:sp>
        <p:nvSpPr>
          <p:cNvPr id="4" name="Shape 2"/>
          <p:cNvSpPr/>
          <p:nvPr/>
        </p:nvSpPr>
        <p:spPr>
          <a:xfrm>
            <a:off x="502920" y="1417320"/>
            <a:ext cx="3566160" cy="1051560"/>
          </a:xfrm>
          <a:prstGeom prst="roundRect">
            <a:avLst>
              <a:gd name="adj" fmla="val 6957"/>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5" name="Text 3"/>
          <p:cNvSpPr txBox="1"/>
          <p:nvPr/>
        </p:nvSpPr>
        <p:spPr>
          <a:xfrm>
            <a:off x="502920" y="1527048"/>
            <a:ext cx="3566160" cy="484632"/>
          </a:xfrm>
          <a:prstGeom prst="rect">
            <a:avLst/>
          </a:prstGeom>
          <a:noFill/>
          <a:ln/>
        </p:spPr>
        <p:txBody>
          <a:bodyPr wrap="square" lIns="0" tIns="0" rIns="0" bIns="0" rtlCol="0" anchor="ctr"/>
          <a:lstStyle/>
          <a:p>
            <a:pPr algn="ctr" indent="0" marL="0">
              <a:buNone/>
            </a:pPr>
            <a:r>
              <a:rPr lang="en-US" sz="3000" b="1" dirty="0">
                <a:solidFill>
                  <a:srgbClr val="0B2E4F"/>
                </a:solidFill>
                <a:latin typeface="Cambria" pitchFamily="34" charset="0"/>
                <a:ea typeface="Cambria" pitchFamily="34" charset="-122"/>
                <a:cs typeface="Cambria" pitchFamily="34" charset="-120"/>
              </a:rPr>
              <a:t>80</a:t>
            </a:r>
            <a:endParaRPr lang="en-US" sz="3000" dirty="0"/>
          </a:p>
        </p:txBody>
      </p:sp>
      <p:sp>
        <p:nvSpPr>
          <p:cNvPr id="6" name="Text 4"/>
          <p:cNvSpPr txBox="1"/>
          <p:nvPr/>
        </p:nvSpPr>
        <p:spPr>
          <a:xfrm>
            <a:off x="576072" y="2048256"/>
            <a:ext cx="3419856"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Total clients</a:t>
            </a:r>
            <a:endParaRPr lang="en-US" sz="1150" dirty="0"/>
          </a:p>
        </p:txBody>
      </p:sp>
      <p:sp>
        <p:nvSpPr>
          <p:cNvPr id="7" name="Shape 5"/>
          <p:cNvSpPr/>
          <p:nvPr/>
        </p:nvSpPr>
        <p:spPr>
          <a:xfrm>
            <a:off x="4297680" y="1417320"/>
            <a:ext cx="3566160" cy="1051560"/>
          </a:xfrm>
          <a:prstGeom prst="roundRect">
            <a:avLst>
              <a:gd name="adj" fmla="val 6957"/>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8" name="Text 6"/>
          <p:cNvSpPr txBox="1"/>
          <p:nvPr/>
        </p:nvSpPr>
        <p:spPr>
          <a:xfrm>
            <a:off x="4297680" y="1527048"/>
            <a:ext cx="3566160" cy="484632"/>
          </a:xfrm>
          <a:prstGeom prst="rect">
            <a:avLst/>
          </a:prstGeom>
          <a:noFill/>
          <a:ln/>
        </p:spPr>
        <p:txBody>
          <a:bodyPr wrap="square" lIns="0" tIns="0" rIns="0" bIns="0" rtlCol="0" anchor="ctr"/>
          <a:lstStyle/>
          <a:p>
            <a:pPr algn="ctr" indent="0" marL="0">
              <a:buNone/>
            </a:pPr>
            <a:r>
              <a:rPr lang="en-US" sz="3000" b="1" dirty="0">
                <a:solidFill>
                  <a:srgbClr val="0B2E4F"/>
                </a:solidFill>
                <a:latin typeface="Cambria" pitchFamily="34" charset="0"/>
                <a:ea typeface="Cambria" pitchFamily="34" charset="-122"/>
                <a:cs typeface="Cambria" pitchFamily="34" charset="-120"/>
              </a:rPr>
              <a:t>72</a:t>
            </a:r>
            <a:endParaRPr lang="en-US" sz="3000" dirty="0"/>
          </a:p>
        </p:txBody>
      </p:sp>
      <p:sp>
        <p:nvSpPr>
          <p:cNvPr id="9" name="Text 7"/>
          <p:cNvSpPr txBox="1"/>
          <p:nvPr/>
        </p:nvSpPr>
        <p:spPr>
          <a:xfrm>
            <a:off x="4370832" y="2048256"/>
            <a:ext cx="3419856"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Clients with tickets</a:t>
            </a:r>
            <a:endParaRPr lang="en-US" sz="1150" dirty="0"/>
          </a:p>
        </p:txBody>
      </p:sp>
      <p:sp>
        <p:nvSpPr>
          <p:cNvPr id="10" name="Shape 8"/>
          <p:cNvSpPr/>
          <p:nvPr/>
        </p:nvSpPr>
        <p:spPr>
          <a:xfrm>
            <a:off x="8092440" y="1417320"/>
            <a:ext cx="3566160" cy="1051560"/>
          </a:xfrm>
          <a:prstGeom prst="roundRect">
            <a:avLst>
              <a:gd name="adj" fmla="val 6957"/>
            </a:avLst>
          </a:prstGeom>
          <a:solidFill>
            <a:srgbClr val="FFFFFF"/>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11" name="Text 9"/>
          <p:cNvSpPr txBox="1"/>
          <p:nvPr/>
        </p:nvSpPr>
        <p:spPr>
          <a:xfrm>
            <a:off x="8092440" y="1527048"/>
            <a:ext cx="3566160" cy="484632"/>
          </a:xfrm>
          <a:prstGeom prst="rect">
            <a:avLst/>
          </a:prstGeom>
          <a:noFill/>
          <a:ln/>
        </p:spPr>
        <p:txBody>
          <a:bodyPr wrap="square" lIns="0" tIns="0" rIns="0" bIns="0" rtlCol="0" anchor="ctr"/>
          <a:lstStyle/>
          <a:p>
            <a:pPr algn="ctr" indent="0" marL="0">
              <a:buNone/>
            </a:pPr>
            <a:r>
              <a:rPr lang="en-US" sz="3000" b="1" dirty="0">
                <a:solidFill>
                  <a:srgbClr val="0B2E4F"/>
                </a:solidFill>
                <a:latin typeface="Cambria" pitchFamily="34" charset="0"/>
                <a:ea typeface="Cambria" pitchFamily="34" charset="-122"/>
                <a:cs typeface="Cambria" pitchFamily="34" charset="-120"/>
              </a:rPr>
              <a:t>48.6</a:t>
            </a:r>
            <a:endParaRPr lang="en-US" sz="3000" dirty="0"/>
          </a:p>
        </p:txBody>
      </p:sp>
      <p:sp>
        <p:nvSpPr>
          <p:cNvPr id="12" name="Text 10"/>
          <p:cNvSpPr txBox="1"/>
          <p:nvPr/>
        </p:nvSpPr>
        <p:spPr>
          <a:xfrm>
            <a:off x="8165592" y="2048256"/>
            <a:ext cx="3419856" cy="365760"/>
          </a:xfrm>
          <a:prstGeom prst="rect">
            <a:avLst/>
          </a:prstGeom>
          <a:noFill/>
          <a:ln/>
        </p:spPr>
        <p:txBody>
          <a:bodyPr wrap="square" lIns="0" tIns="0" rIns="0" bIns="0" rtlCol="0" anchor="ctr"/>
          <a:lstStyle/>
          <a:p>
            <a:pPr algn="ctr" indent="0" marL="0">
              <a:buNone/>
            </a:pPr>
            <a:r>
              <a:rPr lang="en-US" sz="1150" dirty="0">
                <a:solidFill>
                  <a:srgbClr val="26313A"/>
                </a:solidFill>
                <a:latin typeface="Calibri" pitchFamily="34" charset="0"/>
                <a:ea typeface="Calibri" pitchFamily="34" charset="-122"/>
                <a:cs typeface="Calibri" pitchFamily="34" charset="-120"/>
              </a:rPr>
              <a:t>Avg tickets per client</a:t>
            </a:r>
            <a:endParaRPr lang="en-US" sz="1150" dirty="0"/>
          </a:p>
        </p:txBody>
      </p:sp>
      <p:sp>
        <p:nvSpPr>
          <p:cNvPr id="13" name="Text 11"/>
          <p:cNvSpPr txBox="1"/>
          <p:nvPr/>
        </p:nvSpPr>
        <p:spPr>
          <a:xfrm>
            <a:off x="502920" y="2697480"/>
            <a:ext cx="5486400" cy="320040"/>
          </a:xfrm>
          <a:prstGeom prst="rect">
            <a:avLst/>
          </a:prstGeom>
          <a:noFill/>
          <a:ln/>
        </p:spPr>
        <p:txBody>
          <a:bodyPr wrap="square" lIns="0" tIns="0" rIns="0" bIns="0" rtlCol="0" anchor="ctr"/>
          <a:lstStyle/>
          <a:p>
            <a:pPr indent="0" marL="0">
              <a:buNone/>
            </a:pPr>
            <a:r>
              <a:rPr lang="en-US" sz="1350" b="1" dirty="0">
                <a:solidFill>
                  <a:srgbClr val="0B2E4F"/>
                </a:solidFill>
                <a:latin typeface="Cambria" pitchFamily="34" charset="0"/>
                <a:ea typeface="Cambria" pitchFamily="34" charset="-122"/>
                <a:cs typeface="Cambria" pitchFamily="34" charset="-120"/>
              </a:rPr>
              <a:t>Resolution rate — top 5 clients by volume</a:t>
            </a:r>
            <a:endParaRPr lang="en-US" sz="1350" dirty="0"/>
          </a:p>
        </p:txBody>
      </p:sp>
      <p:graphicFrame>
        <p:nvGraphicFramePr>
          <p:cNvPr id="14" name="Chart 0" descr=""/>
          <p:cNvGraphicFramePr/>
          <p:nvPr/>
        </p:nvGraphicFramePr>
        <p:xfrm>
          <a:off x="502920" y="3063240"/>
          <a:ext cx="5486400" cy="324612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6172200" y="2697480"/>
            <a:ext cx="5486400" cy="320040"/>
          </a:xfrm>
          <a:prstGeom prst="rect">
            <a:avLst/>
          </a:prstGeom>
          <a:noFill/>
          <a:ln/>
        </p:spPr>
        <p:txBody>
          <a:bodyPr wrap="square" lIns="0" tIns="0" rIns="0" bIns="0" rtlCol="0" anchor="ctr"/>
          <a:lstStyle/>
          <a:p>
            <a:pPr indent="0" marL="0">
              <a:buNone/>
            </a:pPr>
            <a:r>
              <a:rPr lang="en-US" sz="1350" b="1" dirty="0">
                <a:solidFill>
                  <a:srgbClr val="0B2E4F"/>
                </a:solidFill>
                <a:latin typeface="Cambria" pitchFamily="34" charset="0"/>
                <a:ea typeface="Cambria" pitchFamily="34" charset="-122"/>
                <a:cs typeface="Cambria" pitchFamily="34" charset="-120"/>
              </a:rPr>
              <a:t>SLA breach rate — 5 worst-affected clients</a:t>
            </a:r>
            <a:endParaRPr lang="en-US" sz="1350" dirty="0"/>
          </a:p>
        </p:txBody>
      </p:sp>
      <p:graphicFrame>
        <p:nvGraphicFramePr>
          <p:cNvPr id="16" name="Chart 1" descr=""/>
          <p:cNvGraphicFramePr/>
          <p:nvPr/>
        </p:nvGraphicFramePr>
        <p:xfrm>
          <a:off x="6172200" y="3063240"/>
          <a:ext cx="5486400" cy="3246120"/>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txBox="1"/>
          <p:nvPr/>
        </p:nvSpPr>
        <p:spPr>
          <a:xfrm>
            <a:off x="502920" y="6528816"/>
            <a:ext cx="7315200" cy="274320"/>
          </a:xfrm>
          <a:prstGeom prst="rect">
            <a:avLst/>
          </a:prstGeom>
          <a:noFill/>
          <a:ln/>
        </p:spPr>
        <p:txBody>
          <a:bodyPr wrap="square" lIns="0" tIns="0" rIns="0" bIns="0" rtlCol="0" anchor="ctr"/>
          <a:lstStyle/>
          <a:p>
            <a:pPr indent="0" marL="0">
              <a:buNone/>
            </a:pPr>
            <a:r>
              <a:rPr lang="en-US" sz="900" dirty="0">
                <a:solidFill>
                  <a:srgbClr val="6B7A83"/>
                </a:solidFill>
                <a:latin typeface="Calibri" pitchFamily="34" charset="0"/>
                <a:ea typeface="Calibri" pitchFamily="34" charset="-122"/>
                <a:cs typeface="Calibri" pitchFamily="34" charset="-120"/>
              </a:rPr>
              <a:t>NorthBridge Health Services Ltd  |  Client &amp; Business Analysis</a:t>
            </a:r>
            <a:endParaRPr lang="en-US" sz="900" dirty="0"/>
          </a:p>
        </p:txBody>
      </p:sp>
      <p:sp>
        <p:nvSpPr>
          <p:cNvPr id="18" name="Text 14"/>
          <p:cNvSpPr txBox="1"/>
          <p:nvPr/>
        </p:nvSpPr>
        <p:spPr>
          <a:xfrm>
            <a:off x="11228832" y="6528816"/>
            <a:ext cx="457200" cy="274320"/>
          </a:xfrm>
          <a:prstGeom prst="rect">
            <a:avLst/>
          </a:prstGeom>
          <a:noFill/>
          <a:ln/>
        </p:spPr>
        <p:txBody>
          <a:bodyPr wrap="square" lIns="0" tIns="0" rIns="0" bIns="0" rtlCol="0" anchor="ctr"/>
          <a:lstStyle/>
          <a:p>
            <a:pPr algn="r" indent="0" marL="0">
              <a:buNone/>
            </a:pPr>
            <a:r>
              <a:rPr lang="en-US" sz="900" dirty="0">
                <a:solidFill>
                  <a:srgbClr val="6B7A8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SYNTHESIS</a:t>
            </a:r>
            <a:endParaRPr lang="en-US" sz="1200" dirty="0"/>
          </a:p>
        </p:txBody>
      </p:sp>
      <p:sp>
        <p:nvSpPr>
          <p:cNvPr id="3" name="Text 1"/>
          <p:cNvSpPr txBox="1"/>
          <p:nvPr/>
        </p:nvSpPr>
        <p:spPr>
          <a:xfrm>
            <a:off x="502920" y="603504"/>
            <a:ext cx="10607040" cy="640080"/>
          </a:xfrm>
          <a:prstGeom prst="rect">
            <a:avLst/>
          </a:prstGeom>
          <a:noFill/>
          <a:ln/>
        </p:spPr>
        <p:txBody>
          <a:bodyPr wrap="square" lIns="0" tIns="0" rIns="0" bIns="0" rtlCol="0" anchor="ctr"/>
          <a:lstStyle/>
          <a:p>
            <a:pPr indent="0" marL="0">
              <a:buNone/>
            </a:pPr>
            <a:r>
              <a:rPr lang="en-US" sz="2800" b="1" dirty="0">
                <a:solidFill>
                  <a:srgbClr val="0B2E4F"/>
                </a:solidFill>
                <a:latin typeface="Cambria" pitchFamily="34" charset="0"/>
                <a:ea typeface="Cambria" pitchFamily="34" charset="-122"/>
                <a:cs typeface="Cambria" pitchFamily="34" charset="-120"/>
              </a:rPr>
              <a:t>Five things this dashboard is really telling us</a:t>
            </a:r>
            <a:endParaRPr lang="en-US" sz="2800" dirty="0"/>
          </a:p>
        </p:txBody>
      </p:sp>
      <p:sp>
        <p:nvSpPr>
          <p:cNvPr id="4" name="Shape 2"/>
          <p:cNvSpPr/>
          <p:nvPr/>
        </p:nvSpPr>
        <p:spPr>
          <a:xfrm>
            <a:off x="502920" y="1463040"/>
            <a:ext cx="502920" cy="502920"/>
          </a:xfrm>
          <a:prstGeom prst="ellipse">
            <a:avLst/>
          </a:prstGeom>
          <a:solidFill>
            <a:srgbClr val="E4572E"/>
          </a:solidFill>
          <a:ln/>
        </p:spPr>
      </p:sp>
      <p:sp>
        <p:nvSpPr>
          <p:cNvPr id="5" name="Text 3"/>
          <p:cNvSpPr txBox="1"/>
          <p:nvPr/>
        </p:nvSpPr>
        <p:spPr>
          <a:xfrm>
            <a:off x="502920" y="14630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234440" y="1417320"/>
            <a:ext cx="10058400" cy="320040"/>
          </a:xfrm>
          <a:prstGeom prst="rect">
            <a:avLst/>
          </a:prstGeom>
          <a:noFill/>
          <a:ln/>
        </p:spPr>
        <p:txBody>
          <a:bodyPr wrap="square" lIns="0" tIns="0" rIns="0" bIns="0" rtlCol="0" anchor="ctr"/>
          <a:lstStyle/>
          <a:p>
            <a:pPr indent="0" marL="0">
              <a:buNone/>
            </a:pPr>
            <a:r>
              <a:rPr lang="en-US" sz="1450" b="1" dirty="0">
                <a:solidFill>
                  <a:srgbClr val="0B2E4F"/>
                </a:solidFill>
                <a:latin typeface="Cambria" pitchFamily="34" charset="0"/>
                <a:ea typeface="Cambria" pitchFamily="34" charset="-122"/>
                <a:cs typeface="Cambria" pitchFamily="34" charset="-120"/>
              </a:rPr>
              <a:t>The backlog problem is age, not volume.</a:t>
            </a:r>
            <a:endParaRPr lang="en-US" sz="1450" dirty="0"/>
          </a:p>
        </p:txBody>
      </p:sp>
      <p:sp>
        <p:nvSpPr>
          <p:cNvPr id="7" name="Text 5"/>
          <p:cNvSpPr txBox="1"/>
          <p:nvPr/>
        </p:nvSpPr>
        <p:spPr>
          <a:xfrm>
            <a:off x="1234440" y="1737360"/>
            <a:ext cx="10058400" cy="502920"/>
          </a:xfrm>
          <a:prstGeom prst="rect">
            <a:avLst/>
          </a:prstGeom>
          <a:noFill/>
          <a:ln/>
        </p:spPr>
        <p:txBody>
          <a:bodyPr wrap="square" lIns="0" tIns="0" rIns="0" bIns="0" rtlCol="0" anchor="ctr"/>
          <a:lstStyle/>
          <a:p>
            <a:pPr indent="0" marL="0">
              <a:buNone/>
            </a:pPr>
            <a:r>
              <a:rPr lang="en-US" sz="1200" dirty="0">
                <a:solidFill>
                  <a:srgbClr val="26313A"/>
                </a:solidFill>
                <a:latin typeface="Calibri" pitchFamily="34" charset="0"/>
                <a:ea typeface="Calibri" pitchFamily="34" charset="-122"/>
                <a:cs typeface="Calibri" pitchFamily="34" charset="-120"/>
              </a:rPr>
              <a:t>Open tickets aren't just numerous — they average 400+ days past SLA. This looks like a stalled queue, not a busy one.</a:t>
            </a:r>
            <a:endParaRPr lang="en-US" sz="1200" dirty="0"/>
          </a:p>
        </p:txBody>
      </p:sp>
      <p:sp>
        <p:nvSpPr>
          <p:cNvPr id="8" name="Shape 6"/>
          <p:cNvSpPr/>
          <p:nvPr/>
        </p:nvSpPr>
        <p:spPr>
          <a:xfrm>
            <a:off x="502920" y="2404872"/>
            <a:ext cx="502920" cy="502920"/>
          </a:xfrm>
          <a:prstGeom prst="ellipse">
            <a:avLst/>
          </a:prstGeom>
          <a:solidFill>
            <a:srgbClr val="1C7293"/>
          </a:solidFill>
          <a:ln/>
        </p:spPr>
      </p:sp>
      <p:sp>
        <p:nvSpPr>
          <p:cNvPr id="9" name="Text 7"/>
          <p:cNvSpPr txBox="1"/>
          <p:nvPr/>
        </p:nvSpPr>
        <p:spPr>
          <a:xfrm>
            <a:off x="502920" y="24048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234440" y="2359152"/>
            <a:ext cx="10058400" cy="320040"/>
          </a:xfrm>
          <a:prstGeom prst="rect">
            <a:avLst/>
          </a:prstGeom>
          <a:noFill/>
          <a:ln/>
        </p:spPr>
        <p:txBody>
          <a:bodyPr wrap="square" lIns="0" tIns="0" rIns="0" bIns="0" rtlCol="0" anchor="ctr"/>
          <a:lstStyle/>
          <a:p>
            <a:pPr indent="0" marL="0">
              <a:buNone/>
            </a:pPr>
            <a:r>
              <a:rPr lang="en-US" sz="1450" b="1" dirty="0">
                <a:solidFill>
                  <a:srgbClr val="0B2E4F"/>
                </a:solidFill>
                <a:latin typeface="Cambria" pitchFamily="34" charset="0"/>
                <a:ea typeface="Cambria" pitchFamily="34" charset="-122"/>
                <a:cs typeface="Cambria" pitchFamily="34" charset="-120"/>
              </a:rPr>
              <a:t>Priority triage works for tickets that get resolved.</a:t>
            </a:r>
            <a:endParaRPr lang="en-US" sz="1450" dirty="0"/>
          </a:p>
        </p:txBody>
      </p:sp>
      <p:sp>
        <p:nvSpPr>
          <p:cNvPr id="11" name="Text 9"/>
          <p:cNvSpPr txBox="1"/>
          <p:nvPr/>
        </p:nvSpPr>
        <p:spPr>
          <a:xfrm>
            <a:off x="1234440" y="2679192"/>
            <a:ext cx="10058400" cy="502920"/>
          </a:xfrm>
          <a:prstGeom prst="rect">
            <a:avLst/>
          </a:prstGeom>
          <a:noFill/>
          <a:ln/>
        </p:spPr>
        <p:txBody>
          <a:bodyPr wrap="square" lIns="0" tIns="0" rIns="0" bIns="0" rtlCol="0" anchor="ctr"/>
          <a:lstStyle/>
          <a:p>
            <a:pPr indent="0" marL="0">
              <a:buNone/>
            </a:pPr>
            <a:r>
              <a:rPr lang="en-US" sz="1200" dirty="0">
                <a:solidFill>
                  <a:srgbClr val="26313A"/>
                </a:solidFill>
                <a:latin typeface="Calibri" pitchFamily="34" charset="0"/>
                <a:ea typeface="Calibri" pitchFamily="34" charset="-122"/>
                <a:cs typeface="Calibri" pitchFamily="34" charset="-120"/>
              </a:rPr>
              <a:t>P1 Critical resolves in 5.3h vs. P4 Low's 83.4h — the system responds correctly to urgency once a ticket is actively worked.</a:t>
            </a:r>
            <a:endParaRPr lang="en-US" sz="1200" dirty="0"/>
          </a:p>
        </p:txBody>
      </p:sp>
      <p:sp>
        <p:nvSpPr>
          <p:cNvPr id="12" name="Shape 10"/>
          <p:cNvSpPr/>
          <p:nvPr/>
        </p:nvSpPr>
        <p:spPr>
          <a:xfrm>
            <a:off x="502920" y="3346704"/>
            <a:ext cx="502920" cy="502920"/>
          </a:xfrm>
          <a:prstGeom prst="ellipse">
            <a:avLst/>
          </a:prstGeom>
          <a:solidFill>
            <a:srgbClr val="0B2E4F"/>
          </a:solidFill>
          <a:ln/>
        </p:spPr>
      </p:sp>
      <p:sp>
        <p:nvSpPr>
          <p:cNvPr id="13" name="Text 11"/>
          <p:cNvSpPr txBox="1"/>
          <p:nvPr/>
        </p:nvSpPr>
        <p:spPr>
          <a:xfrm>
            <a:off x="502920" y="334670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234440" y="3300984"/>
            <a:ext cx="10058400" cy="320040"/>
          </a:xfrm>
          <a:prstGeom prst="rect">
            <a:avLst/>
          </a:prstGeom>
          <a:noFill/>
          <a:ln/>
        </p:spPr>
        <p:txBody>
          <a:bodyPr wrap="square" lIns="0" tIns="0" rIns="0" bIns="0" rtlCol="0" anchor="ctr"/>
          <a:lstStyle/>
          <a:p>
            <a:pPr indent="0" marL="0">
              <a:buNone/>
            </a:pPr>
            <a:r>
              <a:rPr lang="en-US" sz="1450" b="1" dirty="0">
                <a:solidFill>
                  <a:srgbClr val="0B2E4F"/>
                </a:solidFill>
                <a:latin typeface="Cambria" pitchFamily="34" charset="0"/>
                <a:ea typeface="Cambria" pitchFamily="34" charset="-122"/>
                <a:cs typeface="Cambria" pitchFamily="34" charset="-120"/>
              </a:rPr>
              <a:t>Two categories drive 59% of demand.</a:t>
            </a:r>
            <a:endParaRPr lang="en-US" sz="1450" dirty="0"/>
          </a:p>
        </p:txBody>
      </p:sp>
      <p:sp>
        <p:nvSpPr>
          <p:cNvPr id="15" name="Text 13"/>
          <p:cNvSpPr txBox="1"/>
          <p:nvPr/>
        </p:nvSpPr>
        <p:spPr>
          <a:xfrm>
            <a:off x="1234440" y="3621024"/>
            <a:ext cx="10058400" cy="502920"/>
          </a:xfrm>
          <a:prstGeom prst="rect">
            <a:avLst/>
          </a:prstGeom>
          <a:noFill/>
          <a:ln/>
        </p:spPr>
        <p:txBody>
          <a:bodyPr wrap="square" lIns="0" tIns="0" rIns="0" bIns="0" rtlCol="0" anchor="ctr"/>
          <a:lstStyle/>
          <a:p>
            <a:pPr indent="0" marL="0">
              <a:buNone/>
            </a:pPr>
            <a:r>
              <a:rPr lang="en-US" sz="1200" dirty="0">
                <a:solidFill>
                  <a:srgbClr val="26313A"/>
                </a:solidFill>
                <a:latin typeface="Calibri" pitchFamily="34" charset="0"/>
                <a:ea typeface="Calibri" pitchFamily="34" charset="-122"/>
                <a:cs typeface="Calibri" pitchFamily="34" charset="-120"/>
              </a:rPr>
              <a:t>Appointment Change (1,200) and Billing Issue (873) together dwarf every other category — the clearest automation target.</a:t>
            </a:r>
            <a:endParaRPr lang="en-US" sz="1200" dirty="0"/>
          </a:p>
        </p:txBody>
      </p:sp>
      <p:sp>
        <p:nvSpPr>
          <p:cNvPr id="16" name="Shape 14"/>
          <p:cNvSpPr/>
          <p:nvPr/>
        </p:nvSpPr>
        <p:spPr>
          <a:xfrm>
            <a:off x="502920" y="4288536"/>
            <a:ext cx="502920" cy="502920"/>
          </a:xfrm>
          <a:prstGeom prst="ellipse">
            <a:avLst/>
          </a:prstGeom>
          <a:solidFill>
            <a:srgbClr val="2E9E6B"/>
          </a:solidFill>
          <a:ln/>
        </p:spPr>
      </p:sp>
      <p:sp>
        <p:nvSpPr>
          <p:cNvPr id="17" name="Text 15"/>
          <p:cNvSpPr txBox="1"/>
          <p:nvPr/>
        </p:nvSpPr>
        <p:spPr>
          <a:xfrm>
            <a:off x="502920" y="428853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1234440" y="4242816"/>
            <a:ext cx="10058400" cy="320040"/>
          </a:xfrm>
          <a:prstGeom prst="rect">
            <a:avLst/>
          </a:prstGeom>
          <a:noFill/>
          <a:ln/>
        </p:spPr>
        <p:txBody>
          <a:bodyPr wrap="square" lIns="0" tIns="0" rIns="0" bIns="0" rtlCol="0" anchor="ctr"/>
          <a:lstStyle/>
          <a:p>
            <a:pPr indent="0" marL="0">
              <a:buNone/>
            </a:pPr>
            <a:r>
              <a:rPr lang="en-US" sz="1450" b="1" dirty="0">
                <a:solidFill>
                  <a:srgbClr val="0B2E4F"/>
                </a:solidFill>
                <a:latin typeface="Cambria" pitchFamily="34" charset="0"/>
                <a:ea typeface="Cambria" pitchFamily="34" charset="-122"/>
                <a:cs typeface="Cambria" pitchFamily="34" charset="-120"/>
              </a:rPr>
              <a:t>Agent outcomes vary more than workload does.</a:t>
            </a:r>
            <a:endParaRPr lang="en-US" sz="1450" dirty="0"/>
          </a:p>
        </p:txBody>
      </p:sp>
      <p:sp>
        <p:nvSpPr>
          <p:cNvPr id="19" name="Text 17"/>
          <p:cNvSpPr txBox="1"/>
          <p:nvPr/>
        </p:nvSpPr>
        <p:spPr>
          <a:xfrm>
            <a:off x="1234440" y="4562856"/>
            <a:ext cx="10058400" cy="502920"/>
          </a:xfrm>
          <a:prstGeom prst="rect">
            <a:avLst/>
          </a:prstGeom>
          <a:noFill/>
          <a:ln/>
        </p:spPr>
        <p:txBody>
          <a:bodyPr wrap="square" lIns="0" tIns="0" rIns="0" bIns="0" rtlCol="0" anchor="ctr"/>
          <a:lstStyle/>
          <a:p>
            <a:pPr indent="0" marL="0">
              <a:buNone/>
            </a:pPr>
            <a:r>
              <a:rPr lang="en-US" sz="1200" dirty="0">
                <a:solidFill>
                  <a:srgbClr val="26313A"/>
                </a:solidFill>
                <a:latin typeface="Calibri" pitchFamily="34" charset="0"/>
                <a:ea typeface="Calibri" pitchFamily="34" charset="-122"/>
                <a:cs typeface="Calibri" pitchFamily="34" charset="-120"/>
              </a:rPr>
              <a:t>Ava Kowalczyk halves the team's average breach and escalation rates on a comparable caseload — a replicable practice, not luck.</a:t>
            </a:r>
            <a:endParaRPr lang="en-US" sz="1200" dirty="0"/>
          </a:p>
        </p:txBody>
      </p:sp>
      <p:sp>
        <p:nvSpPr>
          <p:cNvPr id="20" name="Shape 18"/>
          <p:cNvSpPr/>
          <p:nvPr/>
        </p:nvSpPr>
        <p:spPr>
          <a:xfrm>
            <a:off x="502920" y="5230368"/>
            <a:ext cx="502920" cy="502920"/>
          </a:xfrm>
          <a:prstGeom prst="ellipse">
            <a:avLst/>
          </a:prstGeom>
          <a:solidFill>
            <a:srgbClr val="E4572E"/>
          </a:solidFill>
          <a:ln/>
        </p:spPr>
      </p:sp>
      <p:sp>
        <p:nvSpPr>
          <p:cNvPr id="21" name="Text 19"/>
          <p:cNvSpPr txBox="1"/>
          <p:nvPr/>
        </p:nvSpPr>
        <p:spPr>
          <a:xfrm>
            <a:off x="502920" y="52303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2" name="Text 20"/>
          <p:cNvSpPr txBox="1"/>
          <p:nvPr/>
        </p:nvSpPr>
        <p:spPr>
          <a:xfrm>
            <a:off x="1234440" y="5184648"/>
            <a:ext cx="10058400" cy="320040"/>
          </a:xfrm>
          <a:prstGeom prst="rect">
            <a:avLst/>
          </a:prstGeom>
          <a:noFill/>
          <a:ln/>
        </p:spPr>
        <p:txBody>
          <a:bodyPr wrap="square" lIns="0" tIns="0" rIns="0" bIns="0" rtlCol="0" anchor="ctr"/>
          <a:lstStyle/>
          <a:p>
            <a:pPr indent="0" marL="0">
              <a:buNone/>
            </a:pPr>
            <a:r>
              <a:rPr lang="en-US" sz="1450" b="1" dirty="0">
                <a:solidFill>
                  <a:srgbClr val="0B2E4F"/>
                </a:solidFill>
                <a:latin typeface="Cambria" pitchFamily="34" charset="0"/>
                <a:ea typeface="Cambria" pitchFamily="34" charset="-122"/>
                <a:cs typeface="Cambria" pitchFamily="34" charset="-120"/>
              </a:rPr>
              <a:t>SLA risk is concentrated in smaller accounts.</a:t>
            </a:r>
            <a:endParaRPr lang="en-US" sz="1450" dirty="0"/>
          </a:p>
        </p:txBody>
      </p:sp>
      <p:sp>
        <p:nvSpPr>
          <p:cNvPr id="23" name="Text 21"/>
          <p:cNvSpPr txBox="1"/>
          <p:nvPr/>
        </p:nvSpPr>
        <p:spPr>
          <a:xfrm>
            <a:off x="1234440" y="5504688"/>
            <a:ext cx="10058400" cy="502920"/>
          </a:xfrm>
          <a:prstGeom prst="rect">
            <a:avLst/>
          </a:prstGeom>
          <a:noFill/>
          <a:ln/>
        </p:spPr>
        <p:txBody>
          <a:bodyPr wrap="square" lIns="0" tIns="0" rIns="0" bIns="0" rtlCol="0" anchor="ctr"/>
          <a:lstStyle/>
          <a:p>
            <a:pPr indent="0" marL="0">
              <a:buNone/>
            </a:pPr>
            <a:r>
              <a:rPr lang="en-US" sz="1200" dirty="0">
                <a:solidFill>
                  <a:srgbClr val="26313A"/>
                </a:solidFill>
                <a:latin typeface="Calibri" pitchFamily="34" charset="0"/>
                <a:ea typeface="Calibri" pitchFamily="34" charset="-122"/>
                <a:cs typeface="Calibri" pitchFamily="34" charset="-120"/>
              </a:rPr>
              <a:t>Clients outside the top volume tier show breach rates of 30–33%, well above the 21.5% average — flagship clients aren't the exposure.</a:t>
            </a:r>
            <a:endParaRPr lang="en-US" sz="1200" dirty="0"/>
          </a:p>
        </p:txBody>
      </p:sp>
      <p:sp>
        <p:nvSpPr>
          <p:cNvPr id="24" name="Text 22"/>
          <p:cNvSpPr txBox="1"/>
          <p:nvPr/>
        </p:nvSpPr>
        <p:spPr>
          <a:xfrm>
            <a:off x="502920" y="6528816"/>
            <a:ext cx="7315200" cy="274320"/>
          </a:xfrm>
          <a:prstGeom prst="rect">
            <a:avLst/>
          </a:prstGeom>
          <a:noFill/>
          <a:ln/>
        </p:spPr>
        <p:txBody>
          <a:bodyPr wrap="square" lIns="0" tIns="0" rIns="0" bIns="0" rtlCol="0" anchor="ctr"/>
          <a:lstStyle/>
          <a:p>
            <a:pPr indent="0" marL="0">
              <a:buNone/>
            </a:pPr>
            <a:r>
              <a:rPr lang="en-US" sz="900" dirty="0">
                <a:solidFill>
                  <a:srgbClr val="6B7A83"/>
                </a:solidFill>
                <a:latin typeface="Calibri" pitchFamily="34" charset="0"/>
                <a:ea typeface="Calibri" pitchFamily="34" charset="-122"/>
                <a:cs typeface="Calibri" pitchFamily="34" charset="-120"/>
              </a:rPr>
              <a:t>NorthBridge Health Services Ltd  |  Synthesis</a:t>
            </a:r>
            <a:endParaRPr lang="en-US" sz="900" dirty="0"/>
          </a:p>
        </p:txBody>
      </p:sp>
      <p:sp>
        <p:nvSpPr>
          <p:cNvPr id="25" name="Text 23"/>
          <p:cNvSpPr txBox="1"/>
          <p:nvPr/>
        </p:nvSpPr>
        <p:spPr>
          <a:xfrm>
            <a:off x="11228832" y="6528816"/>
            <a:ext cx="457200" cy="274320"/>
          </a:xfrm>
          <a:prstGeom prst="rect">
            <a:avLst/>
          </a:prstGeom>
          <a:noFill/>
          <a:ln/>
        </p:spPr>
        <p:txBody>
          <a:bodyPr wrap="square" lIns="0" tIns="0" rIns="0" bIns="0" rtlCol="0" anchor="ctr"/>
          <a:lstStyle/>
          <a:p>
            <a:pPr algn="r" indent="0" marL="0">
              <a:buNone/>
            </a:pPr>
            <a:r>
              <a:rPr lang="en-US" sz="900" dirty="0">
                <a:solidFill>
                  <a:srgbClr val="6B7A8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47472"/>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RECOMMENDATIONS</a:t>
            </a:r>
            <a:endParaRPr lang="en-US" sz="1200" dirty="0"/>
          </a:p>
        </p:txBody>
      </p:sp>
      <p:sp>
        <p:nvSpPr>
          <p:cNvPr id="3" name="Text 1"/>
          <p:cNvSpPr txBox="1"/>
          <p:nvPr/>
        </p:nvSpPr>
        <p:spPr>
          <a:xfrm>
            <a:off x="502920" y="603504"/>
            <a:ext cx="10607040" cy="640080"/>
          </a:xfrm>
          <a:prstGeom prst="rect">
            <a:avLst/>
          </a:prstGeom>
          <a:noFill/>
          <a:ln/>
        </p:spPr>
        <p:txBody>
          <a:bodyPr wrap="square" lIns="0" tIns="0" rIns="0" bIns="0" rtlCol="0" anchor="ctr"/>
          <a:lstStyle/>
          <a:p>
            <a:pPr indent="0" marL="0">
              <a:buNone/>
            </a:pPr>
            <a:r>
              <a:rPr lang="en-US" sz="2800" b="1" dirty="0">
                <a:solidFill>
                  <a:srgbClr val="0B2E4F"/>
                </a:solidFill>
                <a:latin typeface="Cambria" pitchFamily="34" charset="0"/>
                <a:ea typeface="Cambria" pitchFamily="34" charset="-122"/>
                <a:cs typeface="Cambria" pitchFamily="34" charset="-120"/>
              </a:rPr>
              <a:t>Where to act first</a:t>
            </a:r>
            <a:endParaRPr lang="en-US" sz="2800" dirty="0"/>
          </a:p>
        </p:txBody>
      </p:sp>
      <p:sp>
        <p:nvSpPr>
          <p:cNvPr id="4" name="Shape 2"/>
          <p:cNvSpPr/>
          <p:nvPr/>
        </p:nvSpPr>
        <p:spPr>
          <a:xfrm>
            <a:off x="502920" y="1417320"/>
            <a:ext cx="3611880" cy="1600200"/>
          </a:xfrm>
          <a:prstGeom prst="roundRect">
            <a:avLst>
              <a:gd name="adj" fmla="val 4000"/>
            </a:avLst>
          </a:prstGeom>
          <a:solidFill>
            <a:srgbClr val="EAF3F6"/>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5" name="Shape 3"/>
          <p:cNvSpPr/>
          <p:nvPr/>
        </p:nvSpPr>
        <p:spPr>
          <a:xfrm>
            <a:off x="704088" y="1600200"/>
            <a:ext cx="384048" cy="384048"/>
          </a:xfrm>
          <a:prstGeom prst="roundRect">
            <a:avLst>
              <a:gd name="adj" fmla="val 14286"/>
            </a:avLst>
          </a:prstGeom>
          <a:solidFill>
            <a:srgbClr val="0B2E4F"/>
          </a:solidFill>
          <a:ln/>
        </p:spPr>
      </p:sp>
      <p:sp>
        <p:nvSpPr>
          <p:cNvPr id="6" name="Text 4"/>
          <p:cNvSpPr txBox="1"/>
          <p:nvPr/>
        </p:nvSpPr>
        <p:spPr>
          <a:xfrm>
            <a:off x="704088" y="1600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704088" y="2075688"/>
            <a:ext cx="3209544" cy="457200"/>
          </a:xfrm>
          <a:prstGeom prst="rect">
            <a:avLst/>
          </a:prstGeom>
          <a:noFill/>
          <a:ln/>
        </p:spPr>
        <p:txBody>
          <a:bodyPr wrap="square" lIns="0" tIns="0" rIns="0" bIns="0" rtlCol="0" anchor="ctr"/>
          <a:lstStyle/>
          <a:p>
            <a:pPr indent="0" marL="0">
              <a:buNone/>
            </a:pPr>
            <a:r>
              <a:rPr lang="en-US" sz="1250" b="1" dirty="0">
                <a:solidFill>
                  <a:srgbClr val="0B2E4F"/>
                </a:solidFill>
                <a:latin typeface="Cambria" pitchFamily="34" charset="0"/>
                <a:ea typeface="Cambria" pitchFamily="34" charset="-122"/>
                <a:cs typeface="Cambria" pitchFamily="34" charset="-120"/>
              </a:rPr>
              <a:t>Confirm the backlog definition</a:t>
            </a:r>
            <a:endParaRPr lang="en-US" sz="1250" dirty="0"/>
          </a:p>
        </p:txBody>
      </p:sp>
      <p:sp>
        <p:nvSpPr>
          <p:cNvPr id="8" name="Text 6"/>
          <p:cNvSpPr txBox="1"/>
          <p:nvPr/>
        </p:nvSpPr>
        <p:spPr>
          <a:xfrm>
            <a:off x="704088" y="2496312"/>
            <a:ext cx="3209544" cy="457200"/>
          </a:xfrm>
          <a:prstGeom prst="rect">
            <a:avLst/>
          </a:prstGeom>
          <a:noFill/>
          <a:ln/>
        </p:spPr>
        <p:txBody>
          <a:bodyPr wrap="square" lIns="0" tIns="0" rIns="0" bIns="0" rtlCol="0" anchor="ctr"/>
          <a:lstStyle/>
          <a:p>
            <a:pPr indent="0" marL="0">
              <a:buNone/>
            </a:pPr>
            <a:r>
              <a:rPr lang="en-US" sz="1000" dirty="0">
                <a:solidFill>
                  <a:srgbClr val="26313A"/>
                </a:solidFill>
                <a:latin typeface="Calibri" pitchFamily="34" charset="0"/>
                <a:ea typeface="Calibri" pitchFamily="34" charset="-122"/>
                <a:cs typeface="Calibri" pitchFamily="34" charset="-120"/>
              </a:rPr>
              <a:t>Before treating 2,183 as a live queue, reconcile the “Open” KPI logic against ticket Status — Closed tickets may be inflating it.</a:t>
            </a:r>
            <a:endParaRPr lang="en-US" sz="1000" dirty="0"/>
          </a:p>
        </p:txBody>
      </p:sp>
      <p:sp>
        <p:nvSpPr>
          <p:cNvPr id="9" name="Shape 7"/>
          <p:cNvSpPr/>
          <p:nvPr/>
        </p:nvSpPr>
        <p:spPr>
          <a:xfrm>
            <a:off x="4288536" y="1417320"/>
            <a:ext cx="3611880" cy="1600200"/>
          </a:xfrm>
          <a:prstGeom prst="roundRect">
            <a:avLst>
              <a:gd name="adj" fmla="val 4000"/>
            </a:avLst>
          </a:prstGeom>
          <a:solidFill>
            <a:srgbClr val="EAF3F6"/>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10" name="Shape 8"/>
          <p:cNvSpPr/>
          <p:nvPr/>
        </p:nvSpPr>
        <p:spPr>
          <a:xfrm>
            <a:off x="4489704" y="1600200"/>
            <a:ext cx="384048" cy="384048"/>
          </a:xfrm>
          <a:prstGeom prst="roundRect">
            <a:avLst>
              <a:gd name="adj" fmla="val 14286"/>
            </a:avLst>
          </a:prstGeom>
          <a:solidFill>
            <a:srgbClr val="0B2E4F"/>
          </a:solidFill>
          <a:ln/>
        </p:spPr>
      </p:sp>
      <p:sp>
        <p:nvSpPr>
          <p:cNvPr id="11" name="Text 9"/>
          <p:cNvSpPr txBox="1"/>
          <p:nvPr/>
        </p:nvSpPr>
        <p:spPr>
          <a:xfrm>
            <a:off x="4489704" y="1600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4489704" y="2075688"/>
            <a:ext cx="3209544" cy="457200"/>
          </a:xfrm>
          <a:prstGeom prst="rect">
            <a:avLst/>
          </a:prstGeom>
          <a:noFill/>
          <a:ln/>
        </p:spPr>
        <p:txBody>
          <a:bodyPr wrap="square" lIns="0" tIns="0" rIns="0" bIns="0" rtlCol="0" anchor="ctr"/>
          <a:lstStyle/>
          <a:p>
            <a:pPr indent="0" marL="0">
              <a:buNone/>
            </a:pPr>
            <a:r>
              <a:rPr lang="en-US" sz="1250" b="1" dirty="0">
                <a:solidFill>
                  <a:srgbClr val="0B2E4F"/>
                </a:solidFill>
                <a:latin typeface="Cambria" pitchFamily="34" charset="0"/>
                <a:ea typeface="Cambria" pitchFamily="34" charset="-122"/>
                <a:cs typeface="Cambria" pitchFamily="34" charset="-120"/>
              </a:rPr>
              <a:t>Triage the true aged backlog by priority</a:t>
            </a:r>
            <a:endParaRPr lang="en-US" sz="1250" dirty="0"/>
          </a:p>
        </p:txBody>
      </p:sp>
      <p:sp>
        <p:nvSpPr>
          <p:cNvPr id="13" name="Text 11"/>
          <p:cNvSpPr txBox="1"/>
          <p:nvPr/>
        </p:nvSpPr>
        <p:spPr>
          <a:xfrm>
            <a:off x="4489704" y="2496312"/>
            <a:ext cx="3209544" cy="457200"/>
          </a:xfrm>
          <a:prstGeom prst="rect">
            <a:avLst/>
          </a:prstGeom>
          <a:noFill/>
          <a:ln/>
        </p:spPr>
        <p:txBody>
          <a:bodyPr wrap="square" lIns="0" tIns="0" rIns="0" bIns="0" rtlCol="0" anchor="ctr"/>
          <a:lstStyle/>
          <a:p>
            <a:pPr indent="0" marL="0">
              <a:buNone/>
            </a:pPr>
            <a:r>
              <a:rPr lang="en-US" sz="1000" dirty="0">
                <a:solidFill>
                  <a:srgbClr val="26313A"/>
                </a:solidFill>
                <a:latin typeface="Calibri" pitchFamily="34" charset="0"/>
                <a:ea typeface="Calibri" pitchFamily="34" charset="-122"/>
                <a:cs typeface="Calibri" pitchFamily="34" charset="-120"/>
              </a:rPr>
              <a:t>Once the queue is confirmed, clear P1/P2 tickets sitting 400+ days first — these carry the highest contractual and reputational risk.</a:t>
            </a:r>
            <a:endParaRPr lang="en-US" sz="1000" dirty="0"/>
          </a:p>
        </p:txBody>
      </p:sp>
      <p:sp>
        <p:nvSpPr>
          <p:cNvPr id="14" name="Shape 12"/>
          <p:cNvSpPr/>
          <p:nvPr/>
        </p:nvSpPr>
        <p:spPr>
          <a:xfrm>
            <a:off x="8074152" y="1417320"/>
            <a:ext cx="3611880" cy="1600200"/>
          </a:xfrm>
          <a:prstGeom prst="roundRect">
            <a:avLst>
              <a:gd name="adj" fmla="val 4000"/>
            </a:avLst>
          </a:prstGeom>
          <a:solidFill>
            <a:srgbClr val="EAF3F6"/>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15" name="Shape 13"/>
          <p:cNvSpPr/>
          <p:nvPr/>
        </p:nvSpPr>
        <p:spPr>
          <a:xfrm>
            <a:off x="8275320" y="1600200"/>
            <a:ext cx="384048" cy="384048"/>
          </a:xfrm>
          <a:prstGeom prst="roundRect">
            <a:avLst>
              <a:gd name="adj" fmla="val 14286"/>
            </a:avLst>
          </a:prstGeom>
          <a:solidFill>
            <a:srgbClr val="0B2E4F"/>
          </a:solidFill>
          <a:ln/>
        </p:spPr>
      </p:sp>
      <p:sp>
        <p:nvSpPr>
          <p:cNvPr id="16" name="Text 14"/>
          <p:cNvSpPr txBox="1"/>
          <p:nvPr/>
        </p:nvSpPr>
        <p:spPr>
          <a:xfrm>
            <a:off x="8275320" y="1600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8275320" y="2075688"/>
            <a:ext cx="3209544" cy="457200"/>
          </a:xfrm>
          <a:prstGeom prst="rect">
            <a:avLst/>
          </a:prstGeom>
          <a:noFill/>
          <a:ln/>
        </p:spPr>
        <p:txBody>
          <a:bodyPr wrap="square" lIns="0" tIns="0" rIns="0" bIns="0" rtlCol="0" anchor="ctr"/>
          <a:lstStyle/>
          <a:p>
            <a:pPr indent="0" marL="0">
              <a:buNone/>
            </a:pPr>
            <a:r>
              <a:rPr lang="en-US" sz="1250" b="1" dirty="0">
                <a:solidFill>
                  <a:srgbClr val="0B2E4F"/>
                </a:solidFill>
                <a:latin typeface="Cambria" pitchFamily="34" charset="0"/>
                <a:ea typeface="Cambria" pitchFamily="34" charset="-122"/>
                <a:cs typeface="Cambria" pitchFamily="34" charset="-120"/>
              </a:rPr>
              <a:t>Study and replicate Ava Kowalczyk's approach</a:t>
            </a:r>
            <a:endParaRPr lang="en-US" sz="1250" dirty="0"/>
          </a:p>
        </p:txBody>
      </p:sp>
      <p:sp>
        <p:nvSpPr>
          <p:cNvPr id="18" name="Text 16"/>
          <p:cNvSpPr txBox="1"/>
          <p:nvPr/>
        </p:nvSpPr>
        <p:spPr>
          <a:xfrm>
            <a:off x="8275320" y="2496312"/>
            <a:ext cx="3209544" cy="457200"/>
          </a:xfrm>
          <a:prstGeom prst="rect">
            <a:avLst/>
          </a:prstGeom>
          <a:noFill/>
          <a:ln/>
        </p:spPr>
        <p:txBody>
          <a:bodyPr wrap="square" lIns="0" tIns="0" rIns="0" bIns="0" rtlCol="0" anchor="ctr"/>
          <a:lstStyle/>
          <a:p>
            <a:pPr indent="0" marL="0">
              <a:buNone/>
            </a:pPr>
            <a:r>
              <a:rPr lang="en-US" sz="1000" dirty="0">
                <a:solidFill>
                  <a:srgbClr val="26313A"/>
                </a:solidFill>
                <a:latin typeface="Calibri" pitchFamily="34" charset="0"/>
                <a:ea typeface="Calibri" pitchFamily="34" charset="-122"/>
                <a:cs typeface="Calibri" pitchFamily="34" charset="-120"/>
              </a:rPr>
              <a:t>Her breach and escalation rates are roughly half the team average on a comparable caseload — worth a shadowing session to codify what she does differently.</a:t>
            </a:r>
            <a:endParaRPr lang="en-US" sz="1000" dirty="0"/>
          </a:p>
        </p:txBody>
      </p:sp>
      <p:sp>
        <p:nvSpPr>
          <p:cNvPr id="19" name="Shape 17"/>
          <p:cNvSpPr/>
          <p:nvPr/>
        </p:nvSpPr>
        <p:spPr>
          <a:xfrm>
            <a:off x="502920" y="3218688"/>
            <a:ext cx="3611880" cy="1600200"/>
          </a:xfrm>
          <a:prstGeom prst="roundRect">
            <a:avLst>
              <a:gd name="adj" fmla="val 4000"/>
            </a:avLst>
          </a:prstGeom>
          <a:solidFill>
            <a:srgbClr val="EAF3F6"/>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20" name="Shape 18"/>
          <p:cNvSpPr/>
          <p:nvPr/>
        </p:nvSpPr>
        <p:spPr>
          <a:xfrm>
            <a:off x="704088" y="3401568"/>
            <a:ext cx="384048" cy="384048"/>
          </a:xfrm>
          <a:prstGeom prst="roundRect">
            <a:avLst>
              <a:gd name="adj" fmla="val 14286"/>
            </a:avLst>
          </a:prstGeom>
          <a:solidFill>
            <a:srgbClr val="0B2E4F"/>
          </a:solidFill>
          <a:ln/>
        </p:spPr>
      </p:sp>
      <p:sp>
        <p:nvSpPr>
          <p:cNvPr id="21" name="Text 19"/>
          <p:cNvSpPr txBox="1"/>
          <p:nvPr/>
        </p:nvSpPr>
        <p:spPr>
          <a:xfrm>
            <a:off x="704088" y="34015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04088" y="3877056"/>
            <a:ext cx="3209544" cy="457200"/>
          </a:xfrm>
          <a:prstGeom prst="rect">
            <a:avLst/>
          </a:prstGeom>
          <a:noFill/>
          <a:ln/>
        </p:spPr>
        <p:txBody>
          <a:bodyPr wrap="square" lIns="0" tIns="0" rIns="0" bIns="0" rtlCol="0" anchor="ctr"/>
          <a:lstStyle/>
          <a:p>
            <a:pPr indent="0" marL="0">
              <a:buNone/>
            </a:pPr>
            <a:r>
              <a:rPr lang="en-US" sz="1250" b="1" dirty="0">
                <a:solidFill>
                  <a:srgbClr val="0B2E4F"/>
                </a:solidFill>
                <a:latin typeface="Cambria" pitchFamily="34" charset="0"/>
                <a:ea typeface="Cambria" pitchFamily="34" charset="-122"/>
                <a:cs typeface="Cambria" pitchFamily="34" charset="-120"/>
              </a:rPr>
              <a:t>Coach escalation judgment for high-breach, low-escalation agents</a:t>
            </a:r>
            <a:endParaRPr lang="en-US" sz="1250" dirty="0"/>
          </a:p>
        </p:txBody>
      </p:sp>
      <p:sp>
        <p:nvSpPr>
          <p:cNvPr id="23" name="Text 21"/>
          <p:cNvSpPr txBox="1"/>
          <p:nvPr/>
        </p:nvSpPr>
        <p:spPr>
          <a:xfrm>
            <a:off x="704088" y="4297680"/>
            <a:ext cx="3209544" cy="457200"/>
          </a:xfrm>
          <a:prstGeom prst="rect">
            <a:avLst/>
          </a:prstGeom>
          <a:noFill/>
          <a:ln/>
        </p:spPr>
        <p:txBody>
          <a:bodyPr wrap="square" lIns="0" tIns="0" rIns="0" bIns="0" rtlCol="0" anchor="ctr"/>
          <a:lstStyle/>
          <a:p>
            <a:pPr indent="0" marL="0">
              <a:buNone/>
            </a:pPr>
            <a:r>
              <a:rPr lang="en-US" sz="1000" dirty="0">
                <a:solidFill>
                  <a:srgbClr val="26313A"/>
                </a:solidFill>
                <a:latin typeface="Calibri" pitchFamily="34" charset="0"/>
                <a:ea typeface="Calibri" pitchFamily="34" charset="-122"/>
                <a:cs typeface="Calibri" pitchFamily="34" charset="-120"/>
              </a:rPr>
              <a:t>Declan Osei's pattern (high breach, low escalation) suggests tickets are struggling silently — earlier escalation could catch them before SLA is missed.</a:t>
            </a:r>
            <a:endParaRPr lang="en-US" sz="1000" dirty="0"/>
          </a:p>
        </p:txBody>
      </p:sp>
      <p:sp>
        <p:nvSpPr>
          <p:cNvPr id="24" name="Shape 22"/>
          <p:cNvSpPr/>
          <p:nvPr/>
        </p:nvSpPr>
        <p:spPr>
          <a:xfrm>
            <a:off x="4288536" y="3218688"/>
            <a:ext cx="3611880" cy="1600200"/>
          </a:xfrm>
          <a:prstGeom prst="roundRect">
            <a:avLst>
              <a:gd name="adj" fmla="val 4000"/>
            </a:avLst>
          </a:prstGeom>
          <a:solidFill>
            <a:srgbClr val="EAF3F6"/>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25" name="Shape 23"/>
          <p:cNvSpPr/>
          <p:nvPr/>
        </p:nvSpPr>
        <p:spPr>
          <a:xfrm>
            <a:off x="4489704" y="3401568"/>
            <a:ext cx="384048" cy="384048"/>
          </a:xfrm>
          <a:prstGeom prst="roundRect">
            <a:avLst>
              <a:gd name="adj" fmla="val 14286"/>
            </a:avLst>
          </a:prstGeom>
          <a:solidFill>
            <a:srgbClr val="0B2E4F"/>
          </a:solidFill>
          <a:ln/>
        </p:spPr>
      </p:sp>
      <p:sp>
        <p:nvSpPr>
          <p:cNvPr id="26" name="Text 24"/>
          <p:cNvSpPr txBox="1"/>
          <p:nvPr/>
        </p:nvSpPr>
        <p:spPr>
          <a:xfrm>
            <a:off x="4489704" y="34015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4489704" y="3877056"/>
            <a:ext cx="3209544" cy="457200"/>
          </a:xfrm>
          <a:prstGeom prst="rect">
            <a:avLst/>
          </a:prstGeom>
          <a:noFill/>
          <a:ln/>
        </p:spPr>
        <p:txBody>
          <a:bodyPr wrap="square" lIns="0" tIns="0" rIns="0" bIns="0" rtlCol="0" anchor="ctr"/>
          <a:lstStyle/>
          <a:p>
            <a:pPr indent="0" marL="0">
              <a:buNone/>
            </a:pPr>
            <a:r>
              <a:rPr lang="en-US" sz="1250" b="1" dirty="0">
                <a:solidFill>
                  <a:srgbClr val="0B2E4F"/>
                </a:solidFill>
                <a:latin typeface="Cambria" pitchFamily="34" charset="0"/>
                <a:ea typeface="Cambria" pitchFamily="34" charset="-122"/>
                <a:cs typeface="Cambria" pitchFamily="34" charset="-120"/>
              </a:rPr>
              <a:t>Target Appointment Change and Billing Issue for self-service</a:t>
            </a:r>
            <a:endParaRPr lang="en-US" sz="1250" dirty="0"/>
          </a:p>
        </p:txBody>
      </p:sp>
      <p:sp>
        <p:nvSpPr>
          <p:cNvPr id="28" name="Text 26"/>
          <p:cNvSpPr txBox="1"/>
          <p:nvPr/>
        </p:nvSpPr>
        <p:spPr>
          <a:xfrm>
            <a:off x="4489704" y="4297680"/>
            <a:ext cx="3209544" cy="457200"/>
          </a:xfrm>
          <a:prstGeom prst="rect">
            <a:avLst/>
          </a:prstGeom>
          <a:noFill/>
          <a:ln/>
        </p:spPr>
        <p:txBody>
          <a:bodyPr wrap="square" lIns="0" tIns="0" rIns="0" bIns="0" rtlCol="0" anchor="ctr"/>
          <a:lstStyle/>
          <a:p>
            <a:pPr indent="0" marL="0">
              <a:buNone/>
            </a:pPr>
            <a:r>
              <a:rPr lang="en-US" sz="1000" dirty="0">
                <a:solidFill>
                  <a:srgbClr val="26313A"/>
                </a:solidFill>
                <a:latin typeface="Calibri" pitchFamily="34" charset="0"/>
                <a:ea typeface="Calibri" pitchFamily="34" charset="-122"/>
                <a:cs typeface="Calibri" pitchFamily="34" charset="-120"/>
              </a:rPr>
              <a:t>These two categories are 59% of volume — even a modest deflection rate would meaningfully reduce inbound load.</a:t>
            </a:r>
            <a:endParaRPr lang="en-US" sz="1000" dirty="0"/>
          </a:p>
        </p:txBody>
      </p:sp>
      <p:sp>
        <p:nvSpPr>
          <p:cNvPr id="29" name="Shape 27"/>
          <p:cNvSpPr/>
          <p:nvPr/>
        </p:nvSpPr>
        <p:spPr>
          <a:xfrm>
            <a:off x="8074152" y="3218688"/>
            <a:ext cx="3611880" cy="1600200"/>
          </a:xfrm>
          <a:prstGeom prst="roundRect">
            <a:avLst>
              <a:gd name="adj" fmla="val 4000"/>
            </a:avLst>
          </a:prstGeom>
          <a:solidFill>
            <a:srgbClr val="EAF3F6"/>
          </a:solidFill>
          <a:ln w="12700">
            <a:solidFill>
              <a:srgbClr val="DDE7EA"/>
            </a:solidFill>
            <a:prstDash val="solid"/>
          </a:ln>
          <a:effectLst>
            <a:outerShdw sx="100000" sy="100000" kx="0" ky="0" algn="bl" rotWithShape="0" blurRad="76200" dist="25400" dir="5400000">
              <a:srgbClr val="1B1B1B">
                <a:alpha val="18000"/>
              </a:srgbClr>
            </a:outerShdw>
          </a:effectLst>
        </p:spPr>
      </p:sp>
      <p:sp>
        <p:nvSpPr>
          <p:cNvPr id="30" name="Shape 28"/>
          <p:cNvSpPr/>
          <p:nvPr/>
        </p:nvSpPr>
        <p:spPr>
          <a:xfrm>
            <a:off x="8275320" y="3401568"/>
            <a:ext cx="384048" cy="384048"/>
          </a:xfrm>
          <a:prstGeom prst="roundRect">
            <a:avLst>
              <a:gd name="adj" fmla="val 14286"/>
            </a:avLst>
          </a:prstGeom>
          <a:solidFill>
            <a:srgbClr val="0B2E4F"/>
          </a:solidFill>
          <a:ln/>
        </p:spPr>
      </p:sp>
      <p:sp>
        <p:nvSpPr>
          <p:cNvPr id="31" name="Text 29"/>
          <p:cNvSpPr txBox="1"/>
          <p:nvPr/>
        </p:nvSpPr>
        <p:spPr>
          <a:xfrm>
            <a:off x="8275320" y="34015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8275320" y="3877056"/>
            <a:ext cx="3209544" cy="457200"/>
          </a:xfrm>
          <a:prstGeom prst="rect">
            <a:avLst/>
          </a:prstGeom>
          <a:noFill/>
          <a:ln/>
        </p:spPr>
        <p:txBody>
          <a:bodyPr wrap="square" lIns="0" tIns="0" rIns="0" bIns="0" rtlCol="0" anchor="ctr"/>
          <a:lstStyle/>
          <a:p>
            <a:pPr indent="0" marL="0">
              <a:buNone/>
            </a:pPr>
            <a:r>
              <a:rPr lang="en-US" sz="1250" b="1" dirty="0">
                <a:solidFill>
                  <a:srgbClr val="0B2E4F"/>
                </a:solidFill>
                <a:latin typeface="Cambria" pitchFamily="34" charset="0"/>
                <a:ea typeface="Cambria" pitchFamily="34" charset="-122"/>
                <a:cs typeface="Cambria" pitchFamily="34" charset="-120"/>
              </a:rPr>
              <a:t>Extend SLA monitoring to smaller accounts</a:t>
            </a:r>
            <a:endParaRPr lang="en-US" sz="1250" dirty="0"/>
          </a:p>
        </p:txBody>
      </p:sp>
      <p:sp>
        <p:nvSpPr>
          <p:cNvPr id="33" name="Text 31"/>
          <p:cNvSpPr txBox="1"/>
          <p:nvPr/>
        </p:nvSpPr>
        <p:spPr>
          <a:xfrm>
            <a:off x="8275320" y="4297680"/>
            <a:ext cx="3209544" cy="457200"/>
          </a:xfrm>
          <a:prstGeom prst="rect">
            <a:avLst/>
          </a:prstGeom>
          <a:noFill/>
          <a:ln/>
        </p:spPr>
        <p:txBody>
          <a:bodyPr wrap="square" lIns="0" tIns="0" rIns="0" bIns="0" rtlCol="0" anchor="ctr"/>
          <a:lstStyle/>
          <a:p>
            <a:pPr indent="0" marL="0">
              <a:buNone/>
            </a:pPr>
            <a:r>
              <a:rPr lang="en-US" sz="1000" dirty="0">
                <a:solidFill>
                  <a:srgbClr val="26313A"/>
                </a:solidFill>
                <a:latin typeface="Calibri" pitchFamily="34" charset="0"/>
                <a:ea typeface="Calibri" pitchFamily="34" charset="-122"/>
                <a:cs typeface="Calibri" pitchFamily="34" charset="-120"/>
              </a:rPr>
              <a:t>Breach rates of 30–33% among lower-volume clients are being masked by strong flagship-account performance in the overall average.</a:t>
            </a:r>
            <a:endParaRPr lang="en-US" sz="1000" dirty="0"/>
          </a:p>
        </p:txBody>
      </p:sp>
      <p:sp>
        <p:nvSpPr>
          <p:cNvPr id="34" name="Text 32"/>
          <p:cNvSpPr txBox="1"/>
          <p:nvPr/>
        </p:nvSpPr>
        <p:spPr>
          <a:xfrm>
            <a:off x="502920" y="6528816"/>
            <a:ext cx="7315200" cy="274320"/>
          </a:xfrm>
          <a:prstGeom prst="rect">
            <a:avLst/>
          </a:prstGeom>
          <a:noFill/>
          <a:ln/>
        </p:spPr>
        <p:txBody>
          <a:bodyPr wrap="square" lIns="0" tIns="0" rIns="0" bIns="0" rtlCol="0" anchor="ctr"/>
          <a:lstStyle/>
          <a:p>
            <a:pPr indent="0" marL="0">
              <a:buNone/>
            </a:pPr>
            <a:r>
              <a:rPr lang="en-US" sz="900" dirty="0">
                <a:solidFill>
                  <a:srgbClr val="6B7A83"/>
                </a:solidFill>
                <a:latin typeface="Calibri" pitchFamily="34" charset="0"/>
                <a:ea typeface="Calibri" pitchFamily="34" charset="-122"/>
                <a:cs typeface="Calibri" pitchFamily="34" charset="-120"/>
              </a:rPr>
              <a:t>NorthBridge Health Services Ltd  |  Recommendations</a:t>
            </a:r>
            <a:endParaRPr lang="en-US" sz="900" dirty="0"/>
          </a:p>
        </p:txBody>
      </p:sp>
      <p:sp>
        <p:nvSpPr>
          <p:cNvPr id="35" name="Text 33"/>
          <p:cNvSpPr txBox="1"/>
          <p:nvPr/>
        </p:nvSpPr>
        <p:spPr>
          <a:xfrm>
            <a:off x="11228832" y="6528816"/>
            <a:ext cx="457200" cy="274320"/>
          </a:xfrm>
          <a:prstGeom prst="rect">
            <a:avLst/>
          </a:prstGeom>
          <a:noFill/>
          <a:ln/>
        </p:spPr>
        <p:txBody>
          <a:bodyPr wrap="square" lIns="0" tIns="0" rIns="0" bIns="0" rtlCol="0" anchor="ctr"/>
          <a:lstStyle/>
          <a:p>
            <a:pPr algn="r" indent="0" marL="0">
              <a:buNone/>
            </a:pPr>
            <a:r>
              <a:rPr lang="en-US" sz="900" dirty="0">
                <a:solidFill>
                  <a:srgbClr val="6B7A8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E4F"/>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1C7293">
              <a:alpha val="22000"/>
            </a:srgbClr>
          </a:solidFill>
          <a:ln/>
        </p:spPr>
      </p:sp>
      <p:sp>
        <p:nvSpPr>
          <p:cNvPr id="3" name="Shape 1"/>
          <p:cNvSpPr/>
          <p:nvPr/>
        </p:nvSpPr>
        <p:spPr>
          <a:xfrm>
            <a:off x="-2194560" y="4206240"/>
            <a:ext cx="4572000" cy="4572000"/>
          </a:xfrm>
          <a:prstGeom prst="ellipse">
            <a:avLst/>
          </a:prstGeom>
          <a:solidFill>
            <a:srgbClr val="1C7293">
              <a:alpha val="15000"/>
            </a:srgbClr>
          </a:solidFill>
          <a:ln/>
        </p:spPr>
      </p:sp>
      <p:sp>
        <p:nvSpPr>
          <p:cNvPr id="4" name="Text 2"/>
          <p:cNvSpPr txBox="1"/>
          <p:nvPr/>
        </p:nvSpPr>
        <p:spPr>
          <a:xfrm>
            <a:off x="502920" y="2468880"/>
            <a:ext cx="106070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502920" y="3429000"/>
            <a:ext cx="9601200" cy="457200"/>
          </a:xfrm>
          <a:prstGeom prst="rect">
            <a:avLst/>
          </a:prstGeom>
          <a:noFill/>
          <a:ln/>
        </p:spPr>
        <p:txBody>
          <a:bodyPr wrap="square" lIns="0" tIns="0" rIns="0" bIns="0" rtlCol="0" anchor="ctr"/>
          <a:lstStyle/>
          <a:p>
            <a:pPr indent="0" marL="0">
              <a:buNone/>
            </a:pPr>
            <a:r>
              <a:rPr lang="en-US" sz="1500" dirty="0">
                <a:solidFill>
                  <a:srgbClr val="D6E9EC"/>
                </a:solidFill>
                <a:latin typeface="Calibri" pitchFamily="34" charset="0"/>
                <a:ea typeface="Calibri" pitchFamily="34" charset="-122"/>
                <a:cs typeface="Calibri" pitchFamily="34" charset="-120"/>
              </a:rPr>
              <a:t>NorthBridge Health Services Ltd — Customer Service &amp; SLA Operations Review</a:t>
            </a:r>
            <a:endParaRPr lang="en-US" sz="1500" dirty="0"/>
          </a:p>
        </p:txBody>
      </p:sp>
      <p:sp>
        <p:nvSpPr>
          <p:cNvPr id="6" name="Shape 4"/>
          <p:cNvSpPr/>
          <p:nvPr/>
        </p:nvSpPr>
        <p:spPr>
          <a:xfrm>
            <a:off x="502920" y="4069080"/>
            <a:ext cx="2194560" cy="0"/>
          </a:xfrm>
          <a:prstGeom prst="line">
            <a:avLst/>
          </a:prstGeom>
          <a:noFill/>
          <a:ln w="31750">
            <a:solidFill>
              <a:srgbClr val="1C7293"/>
            </a:solidFill>
            <a:prstDash val="solid"/>
          </a:ln>
        </p:spPr>
      </p:sp>
      <p:sp>
        <p:nvSpPr>
          <p:cNvPr id="7" name="Text 5"/>
          <p:cNvSpPr txBox="1"/>
          <p:nvPr/>
        </p:nvSpPr>
        <p:spPr>
          <a:xfrm>
            <a:off x="502920" y="4251960"/>
            <a:ext cx="8686800" cy="548640"/>
          </a:xfrm>
          <a:prstGeom prst="rect">
            <a:avLst/>
          </a:prstGeom>
          <a:noFill/>
          <a:ln/>
        </p:spPr>
        <p:txBody>
          <a:bodyPr wrap="square" lIns="0" tIns="0" rIns="0" bIns="0" rtlCol="0" anchor="ctr"/>
          <a:lstStyle/>
          <a:p>
            <a:pPr indent="0" marL="0">
              <a:buNone/>
            </a:pPr>
            <a:r>
              <a:rPr lang="en-US" sz="1250" dirty="0">
                <a:solidFill>
                  <a:srgbClr val="D6E9EC"/>
                </a:solidFill>
                <a:latin typeface="Calibri" pitchFamily="34" charset="0"/>
                <a:ea typeface="Calibri" pitchFamily="34" charset="-122"/>
                <a:cs typeface="Calibri" pitchFamily="34" charset="-120"/>
              </a:rPr>
              <a:t>Full SQL analysis, KPI datasets, and Power BI reporting views are documented in the companion analysis script.</a:t>
            </a:r>
            <a:endParaRPr lang="en-US" sz="1250" dirty="0"/>
          </a:p>
        </p:txBody>
      </p:sp>
      <p:sp>
        <p:nvSpPr>
          <p:cNvPr id="8" name="Text 6"/>
          <p:cNvSpPr txBox="1"/>
          <p:nvPr/>
        </p:nvSpPr>
        <p:spPr>
          <a:xfrm>
            <a:off x="502920" y="6172200"/>
            <a:ext cx="8229600" cy="320040"/>
          </a:xfrm>
          <a:prstGeom prst="rect">
            <a:avLst/>
          </a:prstGeom>
          <a:noFill/>
          <a:ln/>
        </p:spPr>
        <p:txBody>
          <a:bodyPr wrap="square" lIns="0" tIns="0" rIns="0" bIns="0" rtlCol="0" anchor="ctr"/>
          <a:lstStyle/>
          <a:p>
            <a:pPr indent="0" marL="0">
              <a:buNone/>
            </a:pPr>
            <a:r>
              <a:rPr lang="en-US" sz="1150" i="1" dirty="0">
                <a:solidFill>
                  <a:srgbClr val="9FD8DE"/>
                </a:solidFill>
                <a:latin typeface="Calibri" pitchFamily="34" charset="0"/>
                <a:ea typeface="Calibri" pitchFamily="34" charset="-122"/>
                <a:cs typeface="Calibri" pitchFamily="34" charset="-120"/>
              </a:rPr>
              <a:t>Prepared by Iheanyi Okwara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2026-09-10T20:09:09Z</dcterms:created>
  <dcterms:modified xsi:type="dcterms:W3CDTF">2026-09-10T20:09:09Z</dcterms:modified>
</cp:coreProperties>
</file>