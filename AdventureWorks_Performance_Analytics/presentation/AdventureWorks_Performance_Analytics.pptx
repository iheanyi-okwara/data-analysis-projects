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3b6fde8-05c9-1596-97d1-36204973dea1}">
          <p14:sldIdLst>
            <p14:sldId id="256"/>
            <p14:sldId id="257"/>
          </p14:sldIdLst>
        </p14:section>
        <p14:section name="Business problems" id="{ea32d716-5640-ff17-455c-f62ad98179df}">
          <p14:sldIdLst>
            <p14:sldId id="258"/>
          </p14:sldIdLst>
        </p14:section>
        <p14:section name="Insights" id="{a9c6db26-d3a1-24e7-0af3-d1bb72940d90}">
          <p14:sldIdLst>
            <p14:sldId id="259"/>
            <p14:sldId id="260"/>
            <p14:sldId id="261"/>
            <p14:sldId id="262"/>
            <p14:sldId id="263"/>
            <p14:sldId id="264"/>
            <p14:sldId id="265"/>
            <p14:sldId id="266"/>
            <p14:sldId id="267"/>
            <p14:sldId id="268"/>
            <p14:sldId id="269"/>
          </p14:sldIdLst>
        </p14:section>
        <p14:section name="Recommendations" id="{f4a49fad-20f5-e754-0810-def2552d54b2}">
          <p14:sldIdLst>
            <p14:sldId id="270"/>
            <p14:sldId id="271"/>
          </p14:sldIdLst>
        </p14:section>
        <p14:section name="Close" id="{6ee24b0e-1593-0e2c-ceac-d14f62295d22}">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Monthly revenue ($M)</a:t>
            </a:r>
          </a:p>
        </c:rich>
      </c:tx>
      <c:layout/>
      <c:overlay val="0"/>
    </c:title>
    <c:autoTitleDeleted val="0"/>
    <c:plotArea>
      <c:layout/>
      <c:lineChart>
        <c:varyColors val="0"/>
        <c:ser>
          <c:idx val="0"/>
          <c:order val="0"/>
          <c:tx>
            <c:strRef>
              <c:f>Sheet1!$B$1</c:f>
              <c:strCache>
                <c:ptCount val="1"/>
                <c:pt idx="0">
                  <c:v>Revenue ($M)</c:v>
                </c:pt>
              </c:strCache>
            </c:strRef>
          </c:tx>
          <c:spPr>
            <a:solidFill>
              <a:srgbClr val="0E7C7B"/>
            </a:solidFill>
            <a:ln w="3810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Sheet1!$A$2:$A$31</c:f>
              <c:multiLvlStrCache>
                <c:ptCount val="30"/>
                <c:lvl>
                  <c:pt idx="0">
                    <c:v>Jan 20</c:v>
                  </c:pt>
                  <c:pt idx="1">
                    <c:v>Feb 20</c:v>
                  </c:pt>
                  <c:pt idx="2">
                    <c:v>Mar 20</c:v>
                  </c:pt>
                  <c:pt idx="3">
                    <c:v>Apr 20</c:v>
                  </c:pt>
                  <c:pt idx="4">
                    <c:v>May 20</c:v>
                  </c:pt>
                  <c:pt idx="5">
                    <c:v>Jun 20</c:v>
                  </c:pt>
                  <c:pt idx="6">
                    <c:v>Jul 20</c:v>
                  </c:pt>
                  <c:pt idx="7">
                    <c:v>Aug 20</c:v>
                  </c:pt>
                  <c:pt idx="8">
                    <c:v>Sep 20</c:v>
                  </c:pt>
                  <c:pt idx="9">
                    <c:v>Oct 20</c:v>
                  </c:pt>
                  <c:pt idx="10">
                    <c:v>Nov 20</c:v>
                  </c:pt>
                  <c:pt idx="11">
                    <c:v>Dec 20</c:v>
                  </c:pt>
                  <c:pt idx="12">
                    <c:v>Jan 21</c:v>
                  </c:pt>
                  <c:pt idx="13">
                    <c:v>Feb 21</c:v>
                  </c:pt>
                  <c:pt idx="14">
                    <c:v>Mar 21</c:v>
                  </c:pt>
                  <c:pt idx="15">
                    <c:v>Apr 21</c:v>
                  </c:pt>
                  <c:pt idx="16">
                    <c:v>May 21</c:v>
                  </c:pt>
                  <c:pt idx="17">
                    <c:v>Jun 21</c:v>
                  </c:pt>
                  <c:pt idx="18">
                    <c:v>Jul 21</c:v>
                  </c:pt>
                  <c:pt idx="19">
                    <c:v>Aug 21</c:v>
                  </c:pt>
                  <c:pt idx="20">
                    <c:v>Sep 21</c:v>
                  </c:pt>
                  <c:pt idx="21">
                    <c:v>Oct 21</c:v>
                  </c:pt>
                  <c:pt idx="22">
                    <c:v>Nov 21</c:v>
                  </c:pt>
                  <c:pt idx="23">
                    <c:v>Dec 21</c:v>
                  </c:pt>
                  <c:pt idx="24">
                    <c:v>Jan 22</c:v>
                  </c:pt>
                  <c:pt idx="25">
                    <c:v>Feb 22</c:v>
                  </c:pt>
                  <c:pt idx="26">
                    <c:v>Mar 22</c:v>
                  </c:pt>
                  <c:pt idx="27">
                    <c:v>Apr 22</c:v>
                  </c:pt>
                  <c:pt idx="28">
                    <c:v>May 22</c:v>
                  </c:pt>
                  <c:pt idx="29">
                    <c:v>Jun 22</c:v>
                  </c:pt>
                </c:lvl>
              </c:multiLvlStrCache>
            </c:multiLvlStrRef>
          </c:cat>
          <c:val>
            <c:numRef>
              <c:f>Sheet1!$B$2:$B$31</c:f>
              <c:numCache>
                <c:formatCode>General</c:formatCode>
                <c:ptCount val="30"/>
                <c:pt idx="0">
                  <c:v>0.58</c:v>
                </c:pt>
                <c:pt idx="1">
                  <c:v>0.53</c:v>
                </c:pt>
                <c:pt idx="2">
                  <c:v>0.64</c:v>
                </c:pt>
                <c:pt idx="3">
                  <c:v>0.65</c:v>
                </c:pt>
                <c:pt idx="4">
                  <c:v>0.66</c:v>
                </c:pt>
                <c:pt idx="5">
                  <c:v>0.67</c:v>
                </c:pt>
                <c:pt idx="6">
                  <c:v>0.48</c:v>
                </c:pt>
                <c:pt idx="7">
                  <c:v>0.53</c:v>
                </c:pt>
                <c:pt idx="8">
                  <c:v>0.35</c:v>
                </c:pt>
                <c:pt idx="9">
                  <c:v>0.4</c:v>
                </c:pt>
                <c:pt idx="10">
                  <c:v>0.33</c:v>
                </c:pt>
                <c:pt idx="11">
                  <c:v>0.56</c:v>
                </c:pt>
                <c:pt idx="12">
                  <c:v>0.46</c:v>
                </c:pt>
                <c:pt idx="13">
                  <c:v>0.47</c:v>
                </c:pt>
                <c:pt idx="14">
                  <c:v>0.47</c:v>
                </c:pt>
                <c:pt idx="15">
                  <c:v>0.49</c:v>
                </c:pt>
                <c:pt idx="16">
                  <c:v>0.55</c:v>
                </c:pt>
                <c:pt idx="17">
                  <c:v>0.53</c:v>
                </c:pt>
                <c:pt idx="18">
                  <c:v>0.82</c:v>
                </c:pt>
                <c:pt idx="19">
                  <c:v>0.81</c:v>
                </c:pt>
                <c:pt idx="20">
                  <c:v>0.95</c:v>
                </c:pt>
                <c:pt idx="21">
                  <c:v>1.03</c:v>
                </c:pt>
                <c:pt idx="22">
                  <c:v>1.14</c:v>
                </c:pt>
                <c:pt idx="23">
                  <c:v>1.63</c:v>
                </c:pt>
                <c:pt idx="24">
                  <c:v>1.28</c:v>
                </c:pt>
                <c:pt idx="25">
                  <c:v>1.34</c:v>
                </c:pt>
                <c:pt idx="26">
                  <c:v>1.46</c:v>
                </c:pt>
                <c:pt idx="27">
                  <c:v>1.53</c:v>
                </c:pt>
                <c:pt idx="28">
                  <c:v>1.77</c:v>
                </c:pt>
                <c:pt idx="29">
                  <c:v>1.83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A3A"/>
                </a:solidFill>
                <a:latin typeface="+mn-lt"/>
              </a:defRPr>
            </a:pPr>
            <a:endParaRPr lang="en-US"/>
          </a:p>
        </c:txPr>
        <c:crossAx val="2094734552"/>
        <c:crosses val="autoZero"/>
        <c:auto val="1"/>
        <c:lblAlgn val="ctr"/>
        <c:noMultiLvlLbl val="1"/>
        <c:tickLblSkip val="3"/>
      </c:catAx>
      <c:valAx>
        <c:axId val="2094734552"/>
        <c:scaling>
          <c:orientation val="minMax"/>
          <c:max val="2"/>
          <c:min val="0"/>
        </c:scaling>
        <c:delete val="0"/>
        <c:axPos val="l"/>
        <c:majorGridlines>
          <c:spPr>
            <a:ln w="9525" cap="flat">
              <a:solidFill>
                <a:srgbClr val="DADADA"/>
              </a:solidFill>
              <a:prstDash val="solid"/>
              <a:round/>
            </a:ln>
          </c:spPr>
        </c:majorGridlines>
        <c:numFmt formatCode="$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3A3A"/>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Orders by category (thousands)</a:t>
            </a:r>
          </a:p>
        </c:rich>
      </c:tx>
      <c:layout/>
      <c:overlay val="0"/>
    </c:title>
    <c:autoTitleDeleted val="0"/>
    <c:plotArea>
      <c:layout/>
      <c:barChart>
        <c:barDir val="bar"/>
        <c:grouping val="clustered"/>
        <c:varyColors val="0"/>
        <c:ser>
          <c:idx val="0"/>
          <c:order val="0"/>
          <c:tx>
            <c:strRef>
              <c:f>Sheet1!$B$1</c:f>
              <c:strCache>
                <c:ptCount val="1"/>
                <c:pt idx="0">
                  <c:v>Orders (K)</c:v>
                </c:pt>
              </c:strCache>
            </c:strRef>
          </c:tx>
          <c:spPr>
            <a:solidFill>
              <a:srgbClr val="262626"/>
            </a:solidFill>
            <a:effectLst/>
          </c:spPr>
          <c:invertIfNegative val="0"/>
          <c:dLbls>
            <c:numFmt formatCode="0.0&quot;K&quot;"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cat>
            <c:multiLvlStrRef>
              <c:f>Sheet1!$A$2:$A$4</c:f>
              <c:multiLvlStrCache>
                <c:ptCount val="3"/>
                <c:lvl>
                  <c:pt idx="0">
                    <c:v>Accessories</c:v>
                  </c:pt>
                  <c:pt idx="1">
                    <c:v>Bikes</c:v>
                  </c:pt>
                  <c:pt idx="2">
                    <c:v>Clothing</c:v>
                  </c:pt>
                </c:lvl>
              </c:multiLvlStrCache>
            </c:multiLvlStrRef>
          </c:cat>
          <c:val>
            <c:numRef>
              <c:f>Sheet1!$B$2:$B$4</c:f>
              <c:numCache>
                <c:formatCode>General</c:formatCode>
                <c:ptCount val="3"/>
                <c:pt idx="0">
                  <c:v>17</c:v>
                </c:pt>
                <c:pt idx="1">
                  <c:v>13.9</c:v>
                </c:pt>
                <c:pt idx="2">
                  <c:v>7</c:v>
                </c:pt>
              </c:numCache>
            </c:numRef>
          </c:val>
        </c:ser>
        <c:dLbls>
          <c:numFmt formatCode="0.0&quot;K&quot;"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A3A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Return rate, 10 most-ordered products (%)</a:t>
            </a:r>
          </a:p>
        </c:rich>
      </c:tx>
      <c:layout/>
      <c:overlay val="0"/>
    </c:title>
    <c:autoTitleDeleted val="0"/>
    <c:plotArea>
      <c:layout/>
      <c:barChart>
        <c:barDir val="bar"/>
        <c:grouping val="clustered"/>
        <c:varyColors val="0"/>
        <c:ser>
          <c:idx val="0"/>
          <c:order val="0"/>
          <c:tx>
            <c:strRef>
              <c:f>Sheet1!$B$1</c:f>
              <c:strCache>
                <c:ptCount val="1"/>
                <c:pt idx="0">
                  <c:v>Return %</c:v>
                </c:pt>
              </c:strCache>
            </c:strRef>
          </c:tx>
          <c:spPr>
            <a:solidFill>
              <a:srgbClr val="D64550"/>
            </a:solidFill>
            <a:effectLst/>
          </c:spPr>
          <c:invertIfNegative val="0"/>
          <c:dLbls>
            <c:numFmt formatCode="0.00&quot;%&quot;"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cat>
            <c:multiLvlStrRef>
              <c:f>Sheet1!$A$2:$A$11</c:f>
              <c:multiLvlStrCache>
                <c:ptCount val="10"/>
                <c:lvl>
                  <c:pt idx="0">
                    <c:v>Sport-100 Helmet, Red</c:v>
                  </c:pt>
                  <c:pt idx="1">
                    <c:v>Sport-100 Helmet, Blue</c:v>
                  </c:pt>
                  <c:pt idx="2">
                    <c:v>Sport-100 Helmet, Black</c:v>
                  </c:pt>
                  <c:pt idx="3">
                    <c:v>Mountain Bottle Cage</c:v>
                  </c:pt>
                  <c:pt idx="4">
                    <c:v>Water Bottle - 30 oz.</c:v>
                  </c:pt>
                  <c:pt idx="5">
                    <c:v>Mountain Tire Tube</c:v>
                  </c:pt>
                  <c:pt idx="6">
                    <c:v>Patch Kit/8 Patches</c:v>
                  </c:pt>
                  <c:pt idx="7">
                    <c:v>Road Tire Tube</c:v>
                  </c:pt>
                  <c:pt idx="8">
                    <c:v>Fender Set - Mountain</c:v>
                  </c:pt>
                  <c:pt idx="9">
                    <c:v>AWC Logo Cap</c:v>
                  </c:pt>
                </c:lvl>
              </c:multiLvlStrCache>
            </c:multiLvlStrRef>
          </c:cat>
          <c:val>
            <c:numRef>
              <c:f>Sheet1!$B$2:$B$11</c:f>
              <c:numCache>
                <c:formatCode>General</c:formatCode>
                <c:ptCount val="10"/>
                <c:pt idx="0">
                  <c:v>3.33</c:v>
                </c:pt>
                <c:pt idx="1">
                  <c:v>3.31</c:v>
                </c:pt>
                <c:pt idx="2">
                  <c:v>2.68</c:v>
                </c:pt>
                <c:pt idx="3">
                  <c:v>2.02</c:v>
                </c:pt>
                <c:pt idx="4">
                  <c:v>1.95</c:v>
                </c:pt>
                <c:pt idx="5">
                  <c:v>1.64</c:v>
                </c:pt>
                <c:pt idx="6">
                  <c:v>1.61</c:v>
                </c:pt>
                <c:pt idx="7">
                  <c:v>1.55</c:v>
                </c:pt>
                <c:pt idx="8">
                  <c:v>1.36</c:v>
                </c:pt>
                <c:pt idx="9">
                  <c:v>1.11</c:v>
                </c:pt>
              </c:numCache>
            </c:numRef>
          </c:val>
        </c:ser>
        <c:dLbls>
          <c:numFmt formatCode="0.00&quot;%&quot;"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3A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Revenue per customer ($K)</a:t>
            </a:r>
          </a:p>
        </c:rich>
      </c:tx>
      <c:layout/>
      <c:overlay val="0"/>
    </c:title>
    <c:autoTitleDeleted val="0"/>
    <c:plotArea>
      <c:layout/>
      <c:lineChart>
        <c:varyColors val="0"/>
        <c:ser>
          <c:idx val="0"/>
          <c:order val="0"/>
          <c:tx>
            <c:strRef>
              <c:f>Sheet1!$B$1</c:f>
              <c:strCache>
                <c:ptCount val="1"/>
                <c:pt idx="0">
                  <c:v>Revenue per customer ($K)</c:v>
                </c:pt>
              </c:strCache>
            </c:strRef>
          </c:tx>
          <c:spPr>
            <a:solidFill>
              <a:srgbClr val="0E7C7B"/>
            </a:solidFill>
            <a:ln w="3810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0E7C7B"/>
              </a:solidFill>
              <a:ln w="9525" cap="flat">
                <a:solidFill>
                  <a:srgbClr val="0E7C7B"/>
                </a:solidFill>
                <a:prstDash val="solid"/>
                <a:round/>
              </a:ln>
              <a:effectLst/>
            </c:spPr>
          </c:marker>
          <c:cat>
            <c:multiLvlStrRef>
              <c:f>Sheet1!$A$2:$A$12</c:f>
              <c:multiLvlStrCache>
                <c:ptCount val="11"/>
                <c:lvl>
                  <c:pt idx="0">
                    <c:v>Jan 20</c:v>
                  </c:pt>
                  <c:pt idx="1">
                    <c:v>Apr 20</c:v>
                  </c:pt>
                  <c:pt idx="2">
                    <c:v>Jul 20</c:v>
                  </c:pt>
                  <c:pt idx="3">
                    <c:v>Oct 20</c:v>
                  </c:pt>
                  <c:pt idx="4">
                    <c:v>Jan 21</c:v>
                  </c:pt>
                  <c:pt idx="5">
                    <c:v>Apr 21</c:v>
                  </c:pt>
                  <c:pt idx="6">
                    <c:v>Jul 21</c:v>
                  </c:pt>
                  <c:pt idx="7">
                    <c:v>Oct 21</c:v>
                  </c:pt>
                  <c:pt idx="8">
                    <c:v>Jan 22</c:v>
                  </c:pt>
                  <c:pt idx="9">
                    <c:v>Apr 22</c:v>
                  </c:pt>
                  <c:pt idx="10">
                    <c:v>Jun 22</c:v>
                  </c:pt>
                </c:lvl>
              </c:multiLvlStrCache>
            </c:multiLvlStrRef>
          </c:cat>
          <c:val>
            <c:numRef>
              <c:f>Sheet1!$B$2:$B$12</c:f>
              <c:numCache>
                <c:formatCode>General</c:formatCode>
                <c:ptCount val="11"/>
                <c:pt idx="0">
                  <c:v>3.2</c:v>
                </c:pt>
                <c:pt idx="1">
                  <c:v>3.3</c:v>
                </c:pt>
                <c:pt idx="2">
                  <c:v>2.1</c:v>
                </c:pt>
                <c:pt idx="3">
                  <c:v>1.9</c:v>
                </c:pt>
                <c:pt idx="4">
                  <c:v>1.9</c:v>
                </c:pt>
                <c:pt idx="5">
                  <c:v>1.8</c:v>
                </c:pt>
                <c:pt idx="6">
                  <c:v>1.6</c:v>
                </c:pt>
                <c:pt idx="7">
                  <c:v>0.6</c:v>
                </c:pt>
                <c:pt idx="8">
                  <c:v>0.8</c:v>
                </c:pt>
                <c:pt idx="9">
                  <c:v>0.8</c:v>
                </c:pt>
                <c:pt idx="10">
                  <c:v>0.85</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A3A"/>
                </a:solidFill>
                <a:latin typeface="+mn-lt"/>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9525" cap="flat">
              <a:solidFill>
                <a:srgbClr val="DADADA"/>
              </a:solidFill>
              <a:prstDash val="solid"/>
              <a:round/>
            </a:ln>
          </c:spPr>
        </c:majorGridlines>
        <c:numFmt formatCode="$0.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3A3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Orders by income level (K)</a:t>
            </a:r>
          </a:p>
        </c:rich>
      </c:tx>
      <c:layout/>
      <c:overlay val="0"/>
    </c:title>
    <c:autoTitleDeleted val="0"/>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0E7C7B"/>
              </a:solidFill>
              <a:ln w="12700" cap="flat">
                <a:solidFill>
                  <a:srgbClr val="FFFFFF"/>
                </a:solidFill>
                <a:prstDash val="solid"/>
                <a:round/>
              </a:ln>
              <a:effectLst/>
            </c:spPr>
          </c:dPt>
          <c:dPt>
            <c:idx val="1"/>
            <c:bubble3D val="0"/>
            <c:spPr>
              <a:solidFill>
                <a:srgbClr val="262626"/>
              </a:solidFill>
              <a:ln w="12700" cap="flat">
                <a:solidFill>
                  <a:srgbClr val="FFFFFF"/>
                </a:solidFill>
                <a:prstDash val="solid"/>
                <a:round/>
              </a:ln>
              <a:effectLst/>
            </c:spPr>
          </c:dPt>
          <c:dPt>
            <c:idx val="2"/>
            <c:bubble3D val="0"/>
            <c:spPr>
              <a:solidFill>
                <a:srgbClr val="E0B72B"/>
              </a:solidFill>
              <a:ln w="12700" cap="flat">
                <a:solidFill>
                  <a:srgbClr val="FFFFFF"/>
                </a:solidFill>
                <a:prstDash val="solid"/>
                <a:round/>
              </a:ln>
              <a:effectLst/>
            </c:spPr>
          </c:dPt>
          <c:dLbls>
            <c:dLbl>
              <c:idx val="0"/>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3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Average</c:v>
                </c:pt>
                <c:pt idx="1">
                  <c:v>Low</c:v>
                </c:pt>
                <c:pt idx="2">
                  <c:v>High</c:v>
                </c:pt>
              </c:strCache>
            </c:strRef>
          </c:cat>
          <c:val>
            <c:numRef>
              <c:f>Sheet1!$B$2:$B$4</c:f>
              <c:numCache>
                <c:ptCount val="3"/>
                <c:pt idx="0">
                  <c:v>11.6</c:v>
                </c:pt>
                <c:pt idx="1">
                  <c:v>10.3</c:v>
                </c:pt>
                <c:pt idx="2">
                  <c:v>2.8</c:v>
                </c:pt>
              </c:numCache>
            </c:numRef>
          </c:val>
        </c:ser>
        <c:firstSliceAng val="0"/>
        <c:holeSize val="55"/>
      </c:doughnutChart>
      <c:spPr>
        <a:noFill/>
        <a:ln>
          <a:noFill/>
        </a:ln>
        <a:effectLst/>
      </c:spPr>
    </c:plotArea>
    <c:legend>
      <c:legendPos val="r"/>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Orders by occupation (K)</a:t>
            </a:r>
          </a:p>
        </c:rich>
      </c:tx>
      <c:layout/>
      <c:overlay val="0"/>
    </c:title>
    <c:autoTitleDeleted val="0"/>
    <c:plotArea>
      <c:layout/>
      <c:barChart>
        <c:barDir val="bar"/>
        <c:grouping val="clustered"/>
        <c:varyColors val="0"/>
        <c:ser>
          <c:idx val="0"/>
          <c:order val="0"/>
          <c:tx>
            <c:strRef>
              <c:f>Sheet1!$B$1</c:f>
              <c:strCache>
                <c:ptCount val="1"/>
                <c:pt idx="0">
                  <c:v>Orders (K)</c:v>
                </c:pt>
              </c:strCache>
            </c:strRef>
          </c:tx>
          <c:spPr>
            <a:solidFill>
              <a:srgbClr val="262626"/>
            </a:solidFill>
            <a:effectLst/>
          </c:spPr>
          <c:invertIfNegative val="0"/>
          <c:dLbls>
            <c:numFmt formatCode="0.0&quot;K&quot;"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cat>
            <c:multiLvlStrRef>
              <c:f>Sheet1!$A$2:$A$4</c:f>
              <c:multiLvlStrCache>
                <c:ptCount val="3"/>
                <c:lvl>
                  <c:pt idx="0">
                    <c:v>Professional</c:v>
                  </c:pt>
                  <c:pt idx="1">
                    <c:v>Skilled Manual</c:v>
                  </c:pt>
                  <c:pt idx="2">
                    <c:v>Management</c:v>
                  </c:pt>
                </c:lvl>
              </c:multiLvlStrCache>
            </c:multiLvlStrRef>
          </c:cat>
          <c:val>
            <c:numRef>
              <c:f>Sheet1!$B$2:$B$4</c:f>
              <c:numCache>
                <c:formatCode>General</c:formatCode>
                <c:ptCount val="3"/>
                <c:pt idx="0">
                  <c:v>7.9</c:v>
                </c:pt>
                <c:pt idx="1">
                  <c:v>6</c:v>
                </c:pt>
                <c:pt idx="2">
                  <c:v>4.4</c:v>
                </c:pt>
              </c:numCache>
            </c:numRef>
          </c:val>
        </c:ser>
        <c:dLbls>
          <c:numFmt formatCode="0.0&quot;K&quot;"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A3A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1F"/>
                </a:solidFill>
                <a:latin typeface="+mn-lt"/>
              </a:defRPr>
            </a:pPr>
            <a:r>
              <a:rPr sz="1400" b="0" i="0" u="none" strike="noStrike">
                <a:solidFill>
                  <a:srgbClr val="1F1F1F"/>
                </a:solidFill>
                <a:latin typeface="+mn-lt"/>
              </a:rPr>
              <a:t>Revenue per order ($)</a:t>
            </a:r>
          </a:p>
        </c:rich>
      </c:tx>
      <c:layout/>
      <c:overlay val="0"/>
    </c:title>
    <c:autoTitleDeleted val="0"/>
    <c:plotArea>
      <c:layout/>
      <c:barChart>
        <c:barDir val="col"/>
        <c:grouping val="clustered"/>
        <c:varyColors val="0"/>
        <c:ser>
          <c:idx val="0"/>
          <c:order val="0"/>
          <c:tx>
            <c:strRef>
              <c:f>Sheet1!$B$1</c:f>
              <c:strCache>
                <c:ptCount val="1"/>
                <c:pt idx="0">
                  <c:v>Revenue per order ($)</c:v>
                </c:pt>
              </c:strCache>
            </c:strRef>
          </c:tx>
          <c:spPr>
            <a:solidFill>
              <a:srgbClr val="0E7C7B"/>
            </a:solidFill>
            <a:effectLst/>
          </c:spPr>
          <c:invertIfNegative val="0"/>
          <c:dLbls>
            <c:numFmt formatCode="$#,##0"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cat>
            <c:multiLvlStrRef>
              <c:f>Sheet1!$A$2:$A$4</c:f>
              <c:multiLvlStrCache>
                <c:ptCount val="3"/>
                <c:lvl>
                  <c:pt idx="0">
                    <c:v>Most frequent customers (24–26 orders)</c:v>
                  </c:pt>
                  <c:pt idx="1">
                    <c:v>Average order, all customers</c:v>
                  </c:pt>
                  <c:pt idx="2">
                    <c:v>Top customer by revenue</c:v>
                  </c:pt>
                </c:lvl>
              </c:multiLvlStrCache>
            </c:multiLvlStrRef>
          </c:cat>
          <c:val>
            <c:numRef>
              <c:f>Sheet1!$B$2:$B$4</c:f>
              <c:numCache>
                <c:formatCode>General</c:formatCode>
                <c:ptCount val="3"/>
                <c:pt idx="0">
                  <c:v>65</c:v>
                </c:pt>
                <c:pt idx="1">
                  <c:v>988</c:v>
                </c:pt>
                <c:pt idx="2">
                  <c:v>2068</c:v>
                </c:pt>
              </c:numCache>
            </c:numRef>
          </c:val>
        </c:ser>
        <c:dLbls>
          <c:numFmt formatCode="$#,##0"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A3A"/>
                </a:solidFill>
                <a:latin typeface="+mn-lt"/>
              </a:defRPr>
            </a:pPr>
            <a:endParaRPr lang="en-US"/>
          </a:p>
        </c:txPr>
        <c:crossAx val="2094734552"/>
        <c:crosses val="autoZero"/>
        <c:auto val="1"/>
        <c:lblAlgn val="ctr"/>
        <c:noMultiLvlLbl val="1"/>
      </c:catAx>
      <c:valAx>
        <c:axId val="2094734552"/>
        <c:scaling>
          <c:orientation val="minMax"/>
          <c:max val="24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A3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turns the four-page AdventureWorks dashboard (Executive, Map, Product Detail, Customer Detail) into a story: growth is strong, but the quality of that growth needs attention in products, returns and customer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KPIs frame the business: $24.9M revenue, $10.5M profit (a 42% margin), 25.2K orders and a 2.2% return rate. The three columns summarise the story: strong growth, three quality concerns, and three recommended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problems map to the four dashboard pages: Executive (growth and mix), Product Detail (returns and targets), Map (markets) and Customer Detail (value and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dipped in late 2020, then stepped up from July 2021 and kept climbing, with a December 2021 spike of about $1.63M. The monthly values on this chart are read from the dashboard, so treat them as approximate; they sum to roughly the $24.9M total. Margin is $10.5M / $24.9M =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per order is derived: $1.83M / 2,146 = about $853 versus $1.77M / 2,165 = about $818, a 4.3% rise. Orders are slightly down. Separately, returns went from 169 to 166, a 1.8% decline, yet the dashboard card displays +1.78%, which suggests the variance is calculated in the wrong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Accessories 17.0K, Bikes 13.9K, Clothing 7.0K. Tires and Tubes is the most ordered product type. The category figures exceed total orders, so they count orders containing each category rather than unique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Summing the ten revenue figures gives about $466K, or 1.9% of $24.9M. These are high-volume, low-ticket items. Revenue must therefore come largely from higher-priced products such as bikes, which the dashboard does not break out by revenue. The three Sport-100 helmet colours have return rates of 3.33%, 3.31% and 2.68%.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rates for the top ten products by orders. Helmets at 3.33%, 3.31% and 2.68% sit above the 2.2% company rate, while the AWC Logo Cap is lowest at 1.11%. Shorts are flagged on the dashboard as the most returned product type, though the dashboard does not show the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the United States and Australia with the largest bubbles, Canada and the United Kingdom mid-sized, and Germany and France smallest. The bubble metric is not labelled on the dashboard, so these are relative comparisons to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selected product, Road Tire Tube: orders 213 versus a target of 234 (91%), revenue $1,667.82 versus $1,804 (92%), profit $1,044 versus about $1.1K (about 95%). Margin is $1,044 / $1,667.82 = 63%. Revenue per order is $1,667.82 / 213 = $7.83.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cyan adjusted-profit line sits roughly 40-50% above the grey total-profit line for most of the period, read visually from the chart. That depends on the price adjustment input, which is 0.30 and labelled as a percentage, so confirm whether it means 0.3% or 30%, and whether volume is held constant. The red return-rate area chart is typically 1-2% with spikes to about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$24.9M / 17.4K customers = $1,431 revenue per customer. The trend line falls from about $3.2K in early 2020 to under $1K by 2022, with sharp drops around July 2020 and mid-2021. Monthly revenue rose about 55% in July 2021 while revenue per customer fell, which implies the customer base grew much faster than revenue. This is an inference and should be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Average 11.6K, Low 10.3K, High 2.8K orders, so High is roughly 11% of the 24.7K shown. Occupation: Professional 7.9K, Skilled Manual 6.0K, Management 4.4K. The dashboard shows only these three occupation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100 customers total 1,272 orders and about $615K, only 2.5% of revenue, so there is no revenue concentration risk. Customers with 24-26 orders have $1.4-1.8K of revenue, about $60-70 per order, consistent with accessory-heavy baskets. The top customer by revenue spent $12,408 across 6 orders, about $2,068 per order. Average order value is $24.9M / 25.2K, about $988.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answers one business problem: growth quality, returns, customer value and markets/pricing. Pricing and geographic moves should be piloted rather than rolled out, because the dashboard's what-if and map metrics need confirmation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targets are proposals to anchor discussion, not figures from the dashboard. Revenue per order of $853 is the June 2022 value derived on the growth-quality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messages and invite questions. Next step is the 30-day validation and returns root-cause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1"/>
                </a:solidFill>
              </a:rPr>
              <a:t>AdventureWorks Performance Analytics   |   Iheanyi Okwara, Data Analyst</a:t>
            </a:r>
            <a:endParaRPr lang="en-US" sz="1000" dirty="0"/>
          </a:p>
        </p:txBody>
      </p:sp>
      <p:sp>
        <p:nvSpPr>
          <p:cNvPr id="3" name="Text 1"/>
          <p:cNvSpPr/>
          <p:nvPr>
            <p:ph idx="101" type="title" hasCustomPrompt="1"/>
          </p:nvPr>
        </p:nvSpPr>
        <p:spPr>
          <a:xfrm>
            <a:off x="548640" y="365760"/>
            <a:ext cx="11091672" cy="777240"/>
          </a:xfrm>
          <a:prstGeom prst="rect">
            <a:avLst/>
          </a:prstGeom>
          <a:noFill/>
          <a:ln/>
        </p:spPr>
        <p:txBody>
          <a:bodyPr wrap="square" rtlCol="0"/>
          <a:lstStyle>
            <a:lvl1pPr algn="l" indent="0" marL="0">
              <a:buNone/>
              <a:defRPr lang="en-US" sz="3400" b="1" dirty="0">
                <a:solidFill>
                  <a:schemeClr val="accent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5"/>
          </a:solidFill>
          <a:ln/>
        </p:spPr>
      </p:sp>
      <p:sp>
        <p:nvSpPr>
          <p:cNvPr id="3" name="Text 1"/>
          <p:cNvSpPr/>
          <p:nvPr>
            <p:ph idx="103" type="title" hasCustomPrompt="1"/>
          </p:nvPr>
        </p:nvSpPr>
        <p:spPr>
          <a:xfrm>
            <a:off x="731520" y="1417320"/>
            <a:ext cx="749808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4" type="body" hasCustomPrompt="1"/>
          </p:nvPr>
        </p:nvSpPr>
        <p:spPr>
          <a:xfrm>
            <a:off x="731520" y="3657600"/>
            <a:ext cx="694944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5"/>
          </a:solidFill>
          <a:ln/>
        </p:spPr>
      </p:sp>
      <p:sp>
        <p:nvSpPr>
          <p:cNvPr id="3" name="Text 1"/>
          <p:cNvSpPr/>
          <p:nvPr>
            <p:ph idx="101" type="title" hasCustomPrompt="1"/>
          </p:nvPr>
        </p:nvSpPr>
        <p:spPr>
          <a:xfrm>
            <a:off x="548640" y="365760"/>
            <a:ext cx="11091672"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6400800" cy="365760"/>
          </a:xfrm>
          <a:prstGeom prst="rect">
            <a:avLst/>
          </a:prstGeom>
          <a:noFill/>
          <a:ln/>
        </p:spPr>
        <p:txBody>
          <a:bodyPr wrap="square" lIns="0" tIns="0" rIns="0" bIns="0" rtlCol="0" anchor="t"/>
          <a:lstStyle/>
          <a:p>
            <a:pPr indent="0" marL="0">
              <a:buNone/>
            </a:pPr>
            <a:r>
              <a:rPr lang="en-US" sz="1400" b="1" spc="400" kern="0" dirty="0">
                <a:solidFill>
                  <a:schemeClr val="accent2"/>
                </a:solidFill>
              </a:rPr>
              <a:t>DATA ANALYTICS PROJECT</a:t>
            </a:r>
            <a:endParaRPr lang="en-US" sz="1400" dirty="0"/>
          </a:p>
        </p:txBody>
      </p:sp>
      <p:sp>
        <p:nvSpPr>
          <p:cNvPr id="3" name="Text 1"/>
          <p:cNvSpPr/>
          <p:nvPr>
            <p:ph idx="103" type="title" hasCustomPrompt="1"/>
          </p:nvPr>
        </p:nvSpPr>
        <p:spPr>
          <a:xfrm>
            <a:off x="731520" y="1417320"/>
            <a:ext cx="7498080" cy="2103120"/>
          </a:xfrm>
          <a:prstGeom prst="rect">
            <a:avLst/>
          </a:prstGeom>
          <a:noFill/>
          <a:ln/>
        </p:spPr>
        <p:txBody>
          <a:bodyPr wrap="square" lIns="0" tIns="0" rIns="0" bIns="0" rtlCol="0" anchor="t"/>
          <a:lstStyle/>
          <a:p>
            <a:pPr algn="l" indent="0" marL="0">
              <a:buNone/>
            </a:pPr>
            <a:r>
              <a:rPr lang="en-US" sz="4400" b="1" dirty="0">
                <a:solidFill>
                  <a:schemeClr val="bg1"/>
                </a:solidFill>
              </a:rPr>
              <a:t>AdventureWorks Sales, Product &amp; Customer Analytics</a:t>
            </a:r>
            <a:endParaRPr lang="en-US" sz="4400" dirty="0"/>
          </a:p>
        </p:txBody>
      </p:sp>
      <p:sp>
        <p:nvSpPr>
          <p:cNvPr id="4" name="Text 1"/>
          <p:cNvSpPr/>
          <p:nvPr>
            <p:ph idx="104" type="body" hasCustomPrompt="1"/>
          </p:nvPr>
        </p:nvSpPr>
        <p:spPr>
          <a:xfrm>
            <a:off x="731520" y="3657600"/>
            <a:ext cx="6949440" cy="822960"/>
          </a:xfrm>
          <a:prstGeom prst="rect">
            <a:avLst/>
          </a:prstGeom>
          <a:noFill/>
          <a:ln/>
        </p:spPr>
        <p:txBody>
          <a:bodyPr wrap="square" lIns="0" tIns="0" rIns="0" bIns="0" rtlCol="0" anchor="t"/>
          <a:lstStyle/>
          <a:p>
            <a:pPr algn="l" indent="0" marL="0">
              <a:buNone/>
            </a:pPr>
            <a:r>
              <a:rPr lang="en-US" sz="2000" dirty="0">
                <a:solidFill>
                  <a:schemeClr val="accent2"/>
                </a:solidFill>
              </a:rPr>
              <a:t>Where growth is coming from, where value leaks, and what to do next</a:t>
            </a:r>
            <a:endParaRPr lang="en-US" sz="2000" dirty="0"/>
          </a:p>
        </p:txBody>
      </p:sp>
      <p:sp>
        <p:nvSpPr>
          <p:cNvPr id="5" name="Text 3"/>
          <p:cNvSpPr txBox="1"/>
          <p:nvPr/>
        </p:nvSpPr>
        <p:spPr>
          <a:xfrm>
            <a:off x="731520" y="4892040"/>
            <a:ext cx="3657600" cy="274320"/>
          </a:xfrm>
          <a:prstGeom prst="rect">
            <a:avLst/>
          </a:prstGeom>
          <a:noFill/>
          <a:ln/>
        </p:spPr>
        <p:txBody>
          <a:bodyPr wrap="square" lIns="0" tIns="0" rIns="0" bIns="0" rtlCol="0" anchor="t"/>
          <a:lstStyle/>
          <a:p>
            <a:pPr indent="0" marL="0">
              <a:buNone/>
            </a:pPr>
            <a:r>
              <a:rPr lang="en-US" sz="1200" dirty="0">
                <a:solidFill>
                  <a:schemeClr val="accent2"/>
                </a:solidFill>
              </a:rPr>
              <a:t>Presented by</a:t>
            </a:r>
            <a:endParaRPr lang="en-US" sz="1200" dirty="0"/>
          </a:p>
        </p:txBody>
      </p:sp>
      <p:sp>
        <p:nvSpPr>
          <p:cNvPr id="6" name="analyst-name"/>
          <p:cNvSpPr txBox="1"/>
          <p:nvPr/>
        </p:nvSpPr>
        <p:spPr>
          <a:xfrm>
            <a:off x="731520" y="5166360"/>
            <a:ext cx="6400800" cy="502920"/>
          </a:xfrm>
          <a:prstGeom prst="rect">
            <a:avLst/>
          </a:prstGeom>
          <a:noFill/>
          <a:ln/>
        </p:spPr>
        <p:txBody>
          <a:bodyPr wrap="square" lIns="0" tIns="0" rIns="0" bIns="0" rtlCol="0" anchor="t"/>
          <a:lstStyle/>
          <a:p>
            <a:pPr indent="0" marL="0">
              <a:buNone/>
            </a:pPr>
            <a:r>
              <a:rPr lang="en-US" sz="2800" b="1" dirty="0">
                <a:solidFill>
                  <a:schemeClr val="bg1"/>
                </a:solidFill>
              </a:rPr>
              <a:t>Iheanyi Okwara</a:t>
            </a:r>
            <a:endParaRPr lang="en-US" sz="2800" dirty="0"/>
          </a:p>
        </p:txBody>
      </p:sp>
      <p:sp>
        <p:nvSpPr>
          <p:cNvPr id="7" name="Text 5"/>
          <p:cNvSpPr txBox="1"/>
          <p:nvPr/>
        </p:nvSpPr>
        <p:spPr>
          <a:xfrm>
            <a:off x="731520" y="5715000"/>
            <a:ext cx="6400800" cy="365760"/>
          </a:xfrm>
          <a:prstGeom prst="rect">
            <a:avLst/>
          </a:prstGeom>
          <a:noFill/>
          <a:ln/>
        </p:spPr>
        <p:txBody>
          <a:bodyPr wrap="square" lIns="0" tIns="0" rIns="0" bIns="0" rtlCol="0" anchor="t"/>
          <a:lstStyle/>
          <a:p>
            <a:pPr indent="0" marL="0">
              <a:buNone/>
            </a:pPr>
            <a:r>
              <a:rPr lang="en-US" sz="1600" dirty="0">
                <a:solidFill>
                  <a:schemeClr val="accent2"/>
                </a:solidFill>
              </a:rPr>
              <a:t>Data Analyst  |  October 2026</a:t>
            </a:r>
            <a:endParaRPr lang="en-US" sz="1600" dirty="0"/>
          </a:p>
        </p:txBody>
      </p:sp>
      <p:sp>
        <p:nvSpPr>
          <p:cNvPr id="8" name="logo-card"/>
          <p:cNvSpPr/>
          <p:nvPr/>
        </p:nvSpPr>
        <p:spPr>
          <a:xfrm>
            <a:off x="8732520" y="4663440"/>
            <a:ext cx="2834640" cy="1463040"/>
          </a:xfrm>
          <a:prstGeom prst="roundRect">
            <a:avLst>
              <a:gd name="adj" fmla="val 7500"/>
            </a:avLst>
          </a:prstGeom>
          <a:solidFill>
            <a:schemeClr val="bg1"/>
          </a:solidFill>
          <a:ln/>
        </p:spPr>
      </p:sp>
      <p:pic>
        <p:nvPicPr>
          <p:cNvPr id="9" name="Image 0" descr="AdventureWorks Bike Shop logo">    </p:cNvPr>
          <p:cNvPicPr>
            <a:picLocks noChangeAspect="1"/>
          </p:cNvPicPr>
          <p:nvPr/>
        </p:nvPicPr>
        <p:blipFill>
          <a:blip r:embed="rId1"/>
          <a:stretch>
            <a:fillRect/>
          </a:stretch>
        </p:blipFill>
        <p:spPr>
          <a:xfrm>
            <a:off x="8961120" y="4846320"/>
            <a:ext cx="2377440" cy="1188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Executive summary</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Revenue has tripled, but growth is driven by more customers, not deeper spend, and returns need attention</a:t>
            </a:r>
            <a:endParaRPr lang="en-US" sz="1800" dirty="0"/>
          </a:p>
        </p:txBody>
      </p:sp>
      <p:sp>
        <p:nvSpPr>
          <p:cNvPr id="4" name="stat-card"/>
          <p:cNvSpPr/>
          <p:nvPr/>
        </p:nvSpPr>
        <p:spPr>
          <a:xfrm>
            <a:off x="548640" y="1783080"/>
            <a:ext cx="2601468" cy="1371600"/>
          </a:xfrm>
          <a:prstGeom prst="roundRect">
            <a:avLst>
              <a:gd name="adj" fmla="val 8000"/>
            </a:avLst>
          </a:prstGeom>
          <a:solidFill>
            <a:schemeClr val="accent5"/>
          </a:solidFill>
          <a:ln/>
        </p:spPr>
      </p:sp>
      <p:sp>
        <p:nvSpPr>
          <p:cNvPr id="5" name="Text 3"/>
          <p:cNvSpPr txBox="1"/>
          <p:nvPr/>
        </p:nvSpPr>
        <p:spPr>
          <a:xfrm>
            <a:off x="777240" y="1947672"/>
            <a:ext cx="2144268" cy="617220"/>
          </a:xfrm>
          <a:prstGeom prst="rect">
            <a:avLst/>
          </a:prstGeom>
          <a:noFill/>
          <a:ln/>
        </p:spPr>
        <p:txBody>
          <a:bodyPr wrap="square" lIns="0" tIns="0" rIns="0" bIns="0" rtlCol="0" anchor="ctr"/>
          <a:lstStyle/>
          <a:p>
            <a:pPr indent="0" marL="0">
              <a:buNone/>
            </a:pPr>
            <a:r>
              <a:rPr lang="en-US" sz="3400" b="1" dirty="0">
                <a:solidFill>
                  <a:schemeClr val="accent2"/>
                </a:solidFill>
              </a:rPr>
              <a:t>$24.9M</a:t>
            </a:r>
            <a:endParaRPr lang="en-US" sz="3400" dirty="0"/>
          </a:p>
        </p:txBody>
      </p:sp>
      <p:sp>
        <p:nvSpPr>
          <p:cNvPr id="6" name="Text 4"/>
          <p:cNvSpPr txBox="1"/>
          <p:nvPr/>
        </p:nvSpPr>
        <p:spPr>
          <a:xfrm>
            <a:off x="777240" y="2583180"/>
            <a:ext cx="2144268" cy="480060"/>
          </a:xfrm>
          <a:prstGeom prst="rect">
            <a:avLst/>
          </a:prstGeom>
          <a:noFill/>
          <a:ln/>
        </p:spPr>
        <p:txBody>
          <a:bodyPr wrap="square" lIns="0" tIns="0" rIns="0" bIns="0" rtlCol="0" anchor="t"/>
          <a:lstStyle/>
          <a:p>
            <a:pPr indent="0" marL="0">
              <a:buNone/>
            </a:pPr>
            <a:r>
              <a:rPr lang="en-US" sz="1400" dirty="0">
                <a:solidFill>
                  <a:schemeClr val="bg1"/>
                </a:solidFill>
              </a:rPr>
              <a:t>Revenue</a:t>
            </a:r>
            <a:endParaRPr lang="en-US" sz="1400" dirty="0"/>
          </a:p>
        </p:txBody>
      </p:sp>
      <p:sp>
        <p:nvSpPr>
          <p:cNvPr id="7" name="stat-card"/>
          <p:cNvSpPr/>
          <p:nvPr/>
        </p:nvSpPr>
        <p:spPr>
          <a:xfrm>
            <a:off x="3378708" y="1783080"/>
            <a:ext cx="2601468" cy="1371600"/>
          </a:xfrm>
          <a:prstGeom prst="roundRect">
            <a:avLst>
              <a:gd name="adj" fmla="val 8000"/>
            </a:avLst>
          </a:prstGeom>
          <a:solidFill>
            <a:schemeClr val="accent5"/>
          </a:solidFill>
          <a:ln/>
        </p:spPr>
      </p:sp>
      <p:sp>
        <p:nvSpPr>
          <p:cNvPr id="8" name="Text 6"/>
          <p:cNvSpPr txBox="1"/>
          <p:nvPr/>
        </p:nvSpPr>
        <p:spPr>
          <a:xfrm>
            <a:off x="3607308" y="1947672"/>
            <a:ext cx="2144268" cy="617220"/>
          </a:xfrm>
          <a:prstGeom prst="rect">
            <a:avLst/>
          </a:prstGeom>
          <a:noFill/>
          <a:ln/>
        </p:spPr>
        <p:txBody>
          <a:bodyPr wrap="square" lIns="0" tIns="0" rIns="0" bIns="0" rtlCol="0" anchor="ctr"/>
          <a:lstStyle/>
          <a:p>
            <a:pPr indent="0" marL="0">
              <a:buNone/>
            </a:pPr>
            <a:r>
              <a:rPr lang="en-US" sz="3400" b="1" dirty="0">
                <a:solidFill>
                  <a:schemeClr val="accent2"/>
                </a:solidFill>
              </a:rPr>
              <a:t>$10.5M</a:t>
            </a:r>
            <a:endParaRPr lang="en-US" sz="3400" dirty="0"/>
          </a:p>
        </p:txBody>
      </p:sp>
      <p:sp>
        <p:nvSpPr>
          <p:cNvPr id="9" name="Text 7"/>
          <p:cNvSpPr txBox="1"/>
          <p:nvPr/>
        </p:nvSpPr>
        <p:spPr>
          <a:xfrm>
            <a:off x="3607308" y="2583180"/>
            <a:ext cx="2144268" cy="480060"/>
          </a:xfrm>
          <a:prstGeom prst="rect">
            <a:avLst/>
          </a:prstGeom>
          <a:noFill/>
          <a:ln/>
        </p:spPr>
        <p:txBody>
          <a:bodyPr wrap="square" lIns="0" tIns="0" rIns="0" bIns="0" rtlCol="0" anchor="t"/>
          <a:lstStyle/>
          <a:p>
            <a:pPr indent="0" marL="0">
              <a:buNone/>
            </a:pPr>
            <a:r>
              <a:rPr lang="en-US" sz="1400" dirty="0">
                <a:solidFill>
                  <a:schemeClr val="bg1"/>
                </a:solidFill>
              </a:rPr>
              <a:t>Profit (42% margin)</a:t>
            </a:r>
            <a:endParaRPr lang="en-US" sz="1400" dirty="0"/>
          </a:p>
        </p:txBody>
      </p:sp>
      <p:sp>
        <p:nvSpPr>
          <p:cNvPr id="10" name="stat-card"/>
          <p:cNvSpPr/>
          <p:nvPr/>
        </p:nvSpPr>
        <p:spPr>
          <a:xfrm>
            <a:off x="6208776" y="1783080"/>
            <a:ext cx="2601468" cy="1371600"/>
          </a:xfrm>
          <a:prstGeom prst="roundRect">
            <a:avLst>
              <a:gd name="adj" fmla="val 8000"/>
            </a:avLst>
          </a:prstGeom>
          <a:solidFill>
            <a:schemeClr val="accent5"/>
          </a:solidFill>
          <a:ln/>
        </p:spPr>
      </p:sp>
      <p:sp>
        <p:nvSpPr>
          <p:cNvPr id="11" name="Text 9"/>
          <p:cNvSpPr txBox="1"/>
          <p:nvPr/>
        </p:nvSpPr>
        <p:spPr>
          <a:xfrm>
            <a:off x="6437376" y="1947672"/>
            <a:ext cx="2144268" cy="617220"/>
          </a:xfrm>
          <a:prstGeom prst="rect">
            <a:avLst/>
          </a:prstGeom>
          <a:noFill/>
          <a:ln/>
        </p:spPr>
        <p:txBody>
          <a:bodyPr wrap="square" lIns="0" tIns="0" rIns="0" bIns="0" rtlCol="0" anchor="ctr"/>
          <a:lstStyle/>
          <a:p>
            <a:pPr indent="0" marL="0">
              <a:buNone/>
            </a:pPr>
            <a:r>
              <a:rPr lang="en-US" sz="3400" b="1" dirty="0">
                <a:solidFill>
                  <a:schemeClr val="accent2"/>
                </a:solidFill>
              </a:rPr>
              <a:t>25.2K</a:t>
            </a:r>
            <a:endParaRPr lang="en-US" sz="3400" dirty="0"/>
          </a:p>
        </p:txBody>
      </p:sp>
      <p:sp>
        <p:nvSpPr>
          <p:cNvPr id="12" name="Text 10"/>
          <p:cNvSpPr txBox="1"/>
          <p:nvPr/>
        </p:nvSpPr>
        <p:spPr>
          <a:xfrm>
            <a:off x="6437376" y="2583180"/>
            <a:ext cx="2144268" cy="480060"/>
          </a:xfrm>
          <a:prstGeom prst="rect">
            <a:avLst/>
          </a:prstGeom>
          <a:noFill/>
          <a:ln/>
        </p:spPr>
        <p:txBody>
          <a:bodyPr wrap="square" lIns="0" tIns="0" rIns="0" bIns="0" rtlCol="0" anchor="t"/>
          <a:lstStyle/>
          <a:p>
            <a:pPr indent="0" marL="0">
              <a:buNone/>
            </a:pPr>
            <a:r>
              <a:rPr lang="en-US" sz="1400" dirty="0">
                <a:solidFill>
                  <a:schemeClr val="bg1"/>
                </a:solidFill>
              </a:rPr>
              <a:t>Orders</a:t>
            </a:r>
            <a:endParaRPr lang="en-US" sz="1400" dirty="0"/>
          </a:p>
        </p:txBody>
      </p:sp>
      <p:sp>
        <p:nvSpPr>
          <p:cNvPr id="13" name="stat-card"/>
          <p:cNvSpPr/>
          <p:nvPr/>
        </p:nvSpPr>
        <p:spPr>
          <a:xfrm>
            <a:off x="9038844" y="1783080"/>
            <a:ext cx="2601468" cy="1371600"/>
          </a:xfrm>
          <a:prstGeom prst="roundRect">
            <a:avLst>
              <a:gd name="adj" fmla="val 8000"/>
            </a:avLst>
          </a:prstGeom>
          <a:solidFill>
            <a:schemeClr val="accent5"/>
          </a:solidFill>
          <a:ln/>
        </p:spPr>
      </p:sp>
      <p:sp>
        <p:nvSpPr>
          <p:cNvPr id="14" name="Text 12"/>
          <p:cNvSpPr txBox="1"/>
          <p:nvPr/>
        </p:nvSpPr>
        <p:spPr>
          <a:xfrm>
            <a:off x="9267444" y="1947672"/>
            <a:ext cx="2144268" cy="617220"/>
          </a:xfrm>
          <a:prstGeom prst="rect">
            <a:avLst/>
          </a:prstGeom>
          <a:noFill/>
          <a:ln/>
        </p:spPr>
        <p:txBody>
          <a:bodyPr wrap="square" lIns="0" tIns="0" rIns="0" bIns="0" rtlCol="0" anchor="ctr"/>
          <a:lstStyle/>
          <a:p>
            <a:pPr indent="0" marL="0">
              <a:buNone/>
            </a:pPr>
            <a:r>
              <a:rPr lang="en-US" sz="3400" b="1" dirty="0">
                <a:solidFill>
                  <a:schemeClr val="accent2"/>
                </a:solidFill>
              </a:rPr>
              <a:t>2.2%</a:t>
            </a:r>
            <a:endParaRPr lang="en-US" sz="3400" dirty="0"/>
          </a:p>
        </p:txBody>
      </p:sp>
      <p:sp>
        <p:nvSpPr>
          <p:cNvPr id="15" name="Text 13"/>
          <p:cNvSpPr txBox="1"/>
          <p:nvPr/>
        </p:nvSpPr>
        <p:spPr>
          <a:xfrm>
            <a:off x="9267444" y="2583180"/>
            <a:ext cx="2144268" cy="480060"/>
          </a:xfrm>
          <a:prstGeom prst="rect">
            <a:avLst/>
          </a:prstGeom>
          <a:noFill/>
          <a:ln/>
        </p:spPr>
        <p:txBody>
          <a:bodyPr wrap="square" lIns="0" tIns="0" rIns="0" bIns="0" rtlCol="0" anchor="t"/>
          <a:lstStyle/>
          <a:p>
            <a:pPr indent="0" marL="0">
              <a:buNone/>
            </a:pPr>
            <a:r>
              <a:rPr lang="en-US" sz="1400" dirty="0">
                <a:solidFill>
                  <a:schemeClr val="bg1"/>
                </a:solidFill>
              </a:rPr>
              <a:t>Return rate</a:t>
            </a:r>
            <a:endParaRPr lang="en-US" sz="1400" dirty="0"/>
          </a:p>
        </p:txBody>
      </p:sp>
      <p:sp>
        <p:nvSpPr>
          <p:cNvPr id="16" name="summary-card"/>
          <p:cNvSpPr/>
          <p:nvPr/>
        </p:nvSpPr>
        <p:spPr>
          <a:xfrm>
            <a:off x="548640" y="3429000"/>
            <a:ext cx="3544824" cy="2788920"/>
          </a:xfrm>
          <a:prstGeom prst="roundRect">
            <a:avLst>
              <a:gd name="adj" fmla="val 3934"/>
            </a:avLst>
          </a:prstGeom>
          <a:solidFill>
            <a:schemeClr val="bg2"/>
          </a:solidFill>
          <a:ln/>
        </p:spPr>
      </p:sp>
      <p:sp>
        <p:nvSpPr>
          <p:cNvPr id="17" name="Text 15"/>
          <p:cNvSpPr txBox="1"/>
          <p:nvPr/>
        </p:nvSpPr>
        <p:spPr>
          <a:xfrm>
            <a:off x="822960" y="3611880"/>
            <a:ext cx="2996184" cy="411480"/>
          </a:xfrm>
          <a:prstGeom prst="rect">
            <a:avLst/>
          </a:prstGeom>
          <a:noFill/>
          <a:ln/>
        </p:spPr>
        <p:txBody>
          <a:bodyPr wrap="square" lIns="0" tIns="0" rIns="0" bIns="0" rtlCol="0" anchor="t"/>
          <a:lstStyle/>
          <a:p>
            <a:pPr indent="0" marL="0">
              <a:buNone/>
            </a:pPr>
            <a:r>
              <a:rPr lang="en-US" sz="2000" b="1" dirty="0">
                <a:solidFill>
                  <a:schemeClr val="accent1"/>
                </a:solidFill>
              </a:rPr>
              <a:t>What's working</a:t>
            </a:r>
            <a:endParaRPr lang="en-US" sz="2000" dirty="0"/>
          </a:p>
        </p:txBody>
      </p:sp>
      <p:sp>
        <p:nvSpPr>
          <p:cNvPr id="18" name="Text 16"/>
          <p:cNvSpPr txBox="1"/>
          <p:nvPr/>
        </p:nvSpPr>
        <p:spPr>
          <a:xfrm>
            <a:off x="822960" y="4114800"/>
            <a:ext cx="2996184"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Monthly revenue up from $0.58M (Jan 2020) to $1.83M</a:t>
            </a:r>
            <a:endParaRPr lang="en-US" sz="1500" dirty="0"/>
          </a:p>
          <a:p>
            <a:pPr marL="342900" indent="-342900">
              <a:spcAft>
                <a:spcPts val="800"/>
              </a:spcAft>
              <a:buSzPct val="100000"/>
              <a:buChar char="•"/>
            </a:pPr>
            <a:r>
              <a:rPr lang="en-US" sz="1500" dirty="0">
                <a:solidFill>
                  <a:schemeClr val="tx1"/>
                </a:solidFill>
              </a:rPr>
              <a:t>42% profit margin</a:t>
            </a:r>
            <a:endParaRPr lang="en-US" sz="1500" dirty="0"/>
          </a:p>
          <a:p>
            <a:pPr marL="342900" indent="-342900">
              <a:spcAft>
                <a:spcPts val="800"/>
              </a:spcAft>
              <a:buSzPct val="100000"/>
              <a:buChar char="•"/>
            </a:pPr>
            <a:r>
              <a:rPr lang="en-US" sz="1500" dirty="0">
                <a:solidFill>
                  <a:schemeClr val="tx1"/>
                </a:solidFill>
              </a:rPr>
              <a:t>Revenue per order is rising</a:t>
            </a:r>
            <a:endParaRPr lang="en-US" sz="1500" dirty="0"/>
          </a:p>
        </p:txBody>
      </p:sp>
      <p:sp>
        <p:nvSpPr>
          <p:cNvPr id="19" name="summary-card"/>
          <p:cNvSpPr/>
          <p:nvPr/>
        </p:nvSpPr>
        <p:spPr>
          <a:xfrm>
            <a:off x="4322064" y="3429000"/>
            <a:ext cx="3544824" cy="2788920"/>
          </a:xfrm>
          <a:prstGeom prst="roundRect">
            <a:avLst>
              <a:gd name="adj" fmla="val 3934"/>
            </a:avLst>
          </a:prstGeom>
          <a:solidFill>
            <a:schemeClr val="bg2"/>
          </a:solidFill>
          <a:ln/>
        </p:spPr>
      </p:sp>
      <p:sp>
        <p:nvSpPr>
          <p:cNvPr id="20" name="Text 18"/>
          <p:cNvSpPr txBox="1"/>
          <p:nvPr/>
        </p:nvSpPr>
        <p:spPr>
          <a:xfrm>
            <a:off x="4596384" y="3611880"/>
            <a:ext cx="2996184" cy="411480"/>
          </a:xfrm>
          <a:prstGeom prst="rect">
            <a:avLst/>
          </a:prstGeom>
          <a:noFill/>
          <a:ln/>
        </p:spPr>
        <p:txBody>
          <a:bodyPr wrap="square" lIns="0" tIns="0" rIns="0" bIns="0" rtlCol="0" anchor="t"/>
          <a:lstStyle/>
          <a:p>
            <a:pPr indent="0" marL="0">
              <a:buNone/>
            </a:pPr>
            <a:r>
              <a:rPr lang="en-US" sz="2000" b="1" dirty="0">
                <a:solidFill>
                  <a:schemeClr val="accent1"/>
                </a:solidFill>
              </a:rPr>
              <a:t>What's concerning</a:t>
            </a:r>
            <a:endParaRPr lang="en-US" sz="2000" dirty="0"/>
          </a:p>
        </p:txBody>
      </p:sp>
      <p:sp>
        <p:nvSpPr>
          <p:cNvPr id="21" name="Text 19"/>
          <p:cNvSpPr txBox="1"/>
          <p:nvPr/>
        </p:nvSpPr>
        <p:spPr>
          <a:xfrm>
            <a:off x="4596384" y="4114800"/>
            <a:ext cx="2996184"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Revenue per customer fell ~74%</a:t>
            </a:r>
            <a:endParaRPr lang="en-US" sz="1500" dirty="0"/>
          </a:p>
          <a:p>
            <a:pPr marL="342900" indent="-342900">
              <a:spcAft>
                <a:spcPts val="800"/>
              </a:spcAft>
              <a:buSzPct val="100000"/>
              <a:buChar char="•"/>
            </a:pPr>
            <a:r>
              <a:rPr lang="en-US" sz="1500" dirty="0">
                <a:solidFill>
                  <a:schemeClr val="tx1"/>
                </a:solidFill>
              </a:rPr>
              <a:t>Sport-100 helmets return at 2.7–3.3%</a:t>
            </a:r>
            <a:endParaRPr lang="en-US" sz="1500" dirty="0"/>
          </a:p>
          <a:p>
            <a:pPr marL="342900" indent="-342900">
              <a:spcAft>
                <a:spcPts val="800"/>
              </a:spcAft>
              <a:buSzPct val="100000"/>
              <a:buChar char="•"/>
            </a:pPr>
            <a:r>
              <a:rPr lang="en-US" sz="1500" dirty="0">
                <a:solidFill>
                  <a:schemeClr val="tx1"/>
                </a:solidFill>
              </a:rPr>
              <a:t>Top products by orders add under 2% of revenue</a:t>
            </a:r>
            <a:endParaRPr lang="en-US" sz="1500" dirty="0"/>
          </a:p>
        </p:txBody>
      </p:sp>
      <p:sp>
        <p:nvSpPr>
          <p:cNvPr id="22" name="summary-card"/>
          <p:cNvSpPr/>
          <p:nvPr/>
        </p:nvSpPr>
        <p:spPr>
          <a:xfrm>
            <a:off x="8095488" y="3429000"/>
            <a:ext cx="3544824" cy="2788920"/>
          </a:xfrm>
          <a:prstGeom prst="roundRect">
            <a:avLst>
              <a:gd name="adj" fmla="val 3934"/>
            </a:avLst>
          </a:prstGeom>
          <a:solidFill>
            <a:schemeClr val="bg2"/>
          </a:solidFill>
          <a:ln/>
        </p:spPr>
      </p:sp>
      <p:sp>
        <p:nvSpPr>
          <p:cNvPr id="23" name="Text 21"/>
          <p:cNvSpPr txBox="1"/>
          <p:nvPr/>
        </p:nvSpPr>
        <p:spPr>
          <a:xfrm>
            <a:off x="8369808" y="3611880"/>
            <a:ext cx="2996184" cy="411480"/>
          </a:xfrm>
          <a:prstGeom prst="rect">
            <a:avLst/>
          </a:prstGeom>
          <a:noFill/>
          <a:ln/>
        </p:spPr>
        <p:txBody>
          <a:bodyPr wrap="square" lIns="0" tIns="0" rIns="0" bIns="0" rtlCol="0" anchor="t"/>
          <a:lstStyle/>
          <a:p>
            <a:pPr indent="0" marL="0">
              <a:buNone/>
            </a:pPr>
            <a:r>
              <a:rPr lang="en-US" sz="2000" b="1" dirty="0">
                <a:solidFill>
                  <a:schemeClr val="accent1"/>
                </a:solidFill>
              </a:rPr>
              <a:t>What we recommend</a:t>
            </a:r>
            <a:endParaRPr lang="en-US" sz="2000" dirty="0"/>
          </a:p>
        </p:txBody>
      </p:sp>
      <p:sp>
        <p:nvSpPr>
          <p:cNvPr id="24" name="Text 22"/>
          <p:cNvSpPr txBox="1"/>
          <p:nvPr/>
        </p:nvSpPr>
        <p:spPr>
          <a:xfrm>
            <a:off x="8369808" y="4114800"/>
            <a:ext cx="2996184"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Grow basket value and high-income reach</a:t>
            </a:r>
            <a:endParaRPr lang="en-US" sz="1500" dirty="0"/>
          </a:p>
          <a:p>
            <a:pPr marL="342900" indent="-342900">
              <a:spcAft>
                <a:spcPts val="800"/>
              </a:spcAft>
              <a:buSzPct val="100000"/>
              <a:buChar char="•"/>
            </a:pPr>
            <a:r>
              <a:rPr lang="en-US" sz="1500" dirty="0">
                <a:solidFill>
                  <a:schemeClr val="tx1"/>
                </a:solidFill>
              </a:rPr>
              <a:t>Fix helmet and shorts returns</a:t>
            </a:r>
            <a:endParaRPr lang="en-US" sz="1500" dirty="0"/>
          </a:p>
          <a:p>
            <a:pPr marL="342900" indent="-342900">
              <a:spcAft>
                <a:spcPts val="800"/>
              </a:spcAft>
              <a:buSzPct val="100000"/>
              <a:buChar char="•"/>
            </a:pPr>
            <a:r>
              <a:rPr lang="en-US" sz="1500" dirty="0">
                <a:solidFill>
                  <a:schemeClr val="tx1"/>
                </a:solidFill>
              </a:rPr>
              <a:t>Segment customers by value, not frequency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Four questions leadership needs answered</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The dashboard was built to answer these business problems</a:t>
            </a:r>
            <a:endParaRPr lang="en-US" sz="1800" dirty="0"/>
          </a:p>
        </p:txBody>
      </p:sp>
      <p:sp>
        <p:nvSpPr>
          <p:cNvPr id="4" name="problem-card"/>
          <p:cNvSpPr/>
          <p:nvPr/>
        </p:nvSpPr>
        <p:spPr>
          <a:xfrm>
            <a:off x="548640" y="1783080"/>
            <a:ext cx="5440680" cy="2057400"/>
          </a:xfrm>
          <a:prstGeom prst="roundRect">
            <a:avLst>
              <a:gd name="adj" fmla="val 5333"/>
            </a:avLst>
          </a:prstGeom>
          <a:solidFill>
            <a:schemeClr val="bg2"/>
          </a:solidFill>
          <a:ln/>
        </p:spPr>
      </p:sp>
      <p:sp>
        <p:nvSpPr>
          <p:cNvPr id="5" name="badge"/>
          <p:cNvSpPr/>
          <p:nvPr/>
        </p:nvSpPr>
        <p:spPr>
          <a:xfrm>
            <a:off x="822960" y="2057400"/>
            <a:ext cx="502920" cy="502920"/>
          </a:xfrm>
          <a:prstGeom prst="ellipse">
            <a:avLst/>
          </a:prstGeom>
          <a:solidFill>
            <a:schemeClr val="accent1"/>
          </a:solidFill>
          <a:ln/>
        </p:spPr>
      </p:sp>
      <p:sp>
        <p:nvSpPr>
          <p:cNvPr id="6" name="Text 4"/>
          <p:cNvSpPr txBox="1"/>
          <p:nvPr/>
        </p:nvSpPr>
        <p:spPr>
          <a:xfrm>
            <a:off x="822960" y="2057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554480" y="20574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Is growth healthy?</a:t>
            </a:r>
            <a:endParaRPr lang="en-US" sz="2000" dirty="0"/>
          </a:p>
        </p:txBody>
      </p:sp>
      <p:sp>
        <p:nvSpPr>
          <p:cNvPr id="8" name="Text 6"/>
          <p:cNvSpPr txBox="1"/>
          <p:nvPr/>
        </p:nvSpPr>
        <p:spPr>
          <a:xfrm>
            <a:off x="1554480" y="2697480"/>
            <a:ext cx="4206240" cy="1005840"/>
          </a:xfrm>
          <a:prstGeom prst="rect">
            <a:avLst/>
          </a:prstGeom>
          <a:noFill/>
          <a:ln/>
        </p:spPr>
        <p:txBody>
          <a:bodyPr wrap="square" lIns="0" tIns="0" rIns="0" bIns="0" rtlCol="0" anchor="t"/>
          <a:lstStyle/>
          <a:p>
            <a:pPr indent="0" marL="0">
              <a:buNone/>
            </a:pPr>
            <a:r>
              <a:rPr lang="en-US" sz="1600" dirty="0">
                <a:solidFill>
                  <a:schemeClr val="tx1"/>
                </a:solidFill>
              </a:rPr>
              <a:t>Revenue is climbing, yet monthly orders slipped and revenue per customer has fallen sharply.</a:t>
            </a:r>
            <a:endParaRPr lang="en-US" sz="1600" dirty="0"/>
          </a:p>
        </p:txBody>
      </p:sp>
      <p:sp>
        <p:nvSpPr>
          <p:cNvPr id="9" name="problem-card"/>
          <p:cNvSpPr/>
          <p:nvPr/>
        </p:nvSpPr>
        <p:spPr>
          <a:xfrm>
            <a:off x="6199632" y="1783080"/>
            <a:ext cx="5440680" cy="2057400"/>
          </a:xfrm>
          <a:prstGeom prst="roundRect">
            <a:avLst>
              <a:gd name="adj" fmla="val 5333"/>
            </a:avLst>
          </a:prstGeom>
          <a:solidFill>
            <a:schemeClr val="bg2"/>
          </a:solidFill>
          <a:ln/>
        </p:spPr>
      </p:sp>
      <p:sp>
        <p:nvSpPr>
          <p:cNvPr id="10" name="badge"/>
          <p:cNvSpPr/>
          <p:nvPr/>
        </p:nvSpPr>
        <p:spPr>
          <a:xfrm>
            <a:off x="6473952" y="2057400"/>
            <a:ext cx="502920" cy="502920"/>
          </a:xfrm>
          <a:prstGeom prst="ellipse">
            <a:avLst/>
          </a:prstGeom>
          <a:solidFill>
            <a:schemeClr val="accent1"/>
          </a:solidFill>
          <a:ln/>
        </p:spPr>
      </p:sp>
      <p:sp>
        <p:nvSpPr>
          <p:cNvPr id="11" name="Text 9"/>
          <p:cNvSpPr txBox="1"/>
          <p:nvPr/>
        </p:nvSpPr>
        <p:spPr>
          <a:xfrm>
            <a:off x="6473952" y="2057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7205472" y="20574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Are we selling the right products?</a:t>
            </a:r>
            <a:endParaRPr lang="en-US" sz="2000" dirty="0"/>
          </a:p>
        </p:txBody>
      </p:sp>
      <p:sp>
        <p:nvSpPr>
          <p:cNvPr id="13" name="Text 11"/>
          <p:cNvSpPr txBox="1"/>
          <p:nvPr/>
        </p:nvSpPr>
        <p:spPr>
          <a:xfrm>
            <a:off x="7205472" y="2697480"/>
            <a:ext cx="4206240" cy="1005840"/>
          </a:xfrm>
          <a:prstGeom prst="rect">
            <a:avLst/>
          </a:prstGeom>
          <a:noFill/>
          <a:ln/>
        </p:spPr>
        <p:txBody>
          <a:bodyPr wrap="square" lIns="0" tIns="0" rIns="0" bIns="0" rtlCol="0" anchor="t"/>
          <a:lstStyle/>
          <a:p>
            <a:pPr indent="0" marL="0">
              <a:buNone/>
            </a:pPr>
            <a:r>
              <a:rPr lang="en-US" sz="1600" dirty="0">
                <a:solidFill>
                  <a:schemeClr val="tx1"/>
                </a:solidFill>
              </a:rPr>
              <a:t>Accessories drive order volume, but the 10 most-ordered products bring in under 2% of revenue.</a:t>
            </a:r>
            <a:endParaRPr lang="en-US" sz="1600" dirty="0"/>
          </a:p>
        </p:txBody>
      </p:sp>
      <p:sp>
        <p:nvSpPr>
          <p:cNvPr id="14" name="problem-card"/>
          <p:cNvSpPr/>
          <p:nvPr/>
        </p:nvSpPr>
        <p:spPr>
          <a:xfrm>
            <a:off x="548640" y="4069080"/>
            <a:ext cx="5440680" cy="2057400"/>
          </a:xfrm>
          <a:prstGeom prst="roundRect">
            <a:avLst>
              <a:gd name="adj" fmla="val 5333"/>
            </a:avLst>
          </a:prstGeom>
          <a:solidFill>
            <a:schemeClr val="bg2"/>
          </a:solidFill>
          <a:ln/>
        </p:spPr>
      </p:sp>
      <p:sp>
        <p:nvSpPr>
          <p:cNvPr id="15" name="badge"/>
          <p:cNvSpPr/>
          <p:nvPr/>
        </p:nvSpPr>
        <p:spPr>
          <a:xfrm>
            <a:off x="822960" y="4343400"/>
            <a:ext cx="502920" cy="502920"/>
          </a:xfrm>
          <a:prstGeom prst="ellipse">
            <a:avLst/>
          </a:prstGeom>
          <a:solidFill>
            <a:schemeClr val="accent1"/>
          </a:solidFill>
          <a:ln/>
        </p:spPr>
      </p:sp>
      <p:sp>
        <p:nvSpPr>
          <p:cNvPr id="16" name="Text 14"/>
          <p:cNvSpPr txBox="1"/>
          <p:nvPr/>
        </p:nvSpPr>
        <p:spPr>
          <a:xfrm>
            <a:off x="822960" y="4343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1554480" y="43434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Where are returns eroding value?</a:t>
            </a:r>
            <a:endParaRPr lang="en-US" sz="2000" dirty="0"/>
          </a:p>
        </p:txBody>
      </p:sp>
      <p:sp>
        <p:nvSpPr>
          <p:cNvPr id="18" name="Text 16"/>
          <p:cNvSpPr txBox="1"/>
          <p:nvPr/>
        </p:nvSpPr>
        <p:spPr>
          <a:xfrm>
            <a:off x="1554480" y="4983480"/>
            <a:ext cx="4206240" cy="1005840"/>
          </a:xfrm>
          <a:prstGeom prst="rect">
            <a:avLst/>
          </a:prstGeom>
          <a:noFill/>
          <a:ln/>
        </p:spPr>
        <p:txBody>
          <a:bodyPr wrap="square" lIns="0" tIns="0" rIns="0" bIns="0" rtlCol="0" anchor="t"/>
          <a:lstStyle/>
          <a:p>
            <a:pPr indent="0" marL="0">
              <a:buNone/>
            </a:pPr>
            <a:r>
              <a:rPr lang="en-US" sz="1600" dirty="0">
                <a:solidFill>
                  <a:schemeClr val="tx1"/>
                </a:solidFill>
              </a:rPr>
              <a:t>Sport-100 helmets and shorts return well above the 2.2% average.</a:t>
            </a:r>
            <a:endParaRPr lang="en-US" sz="1600" dirty="0"/>
          </a:p>
        </p:txBody>
      </p:sp>
      <p:sp>
        <p:nvSpPr>
          <p:cNvPr id="19" name="problem-card"/>
          <p:cNvSpPr/>
          <p:nvPr/>
        </p:nvSpPr>
        <p:spPr>
          <a:xfrm>
            <a:off x="6199632" y="4069080"/>
            <a:ext cx="5440680" cy="2057400"/>
          </a:xfrm>
          <a:prstGeom prst="roundRect">
            <a:avLst>
              <a:gd name="adj" fmla="val 5333"/>
            </a:avLst>
          </a:prstGeom>
          <a:solidFill>
            <a:schemeClr val="bg2"/>
          </a:solidFill>
          <a:ln/>
        </p:spPr>
      </p:sp>
      <p:sp>
        <p:nvSpPr>
          <p:cNvPr id="20" name="badge"/>
          <p:cNvSpPr/>
          <p:nvPr/>
        </p:nvSpPr>
        <p:spPr>
          <a:xfrm>
            <a:off x="6473952" y="4343400"/>
            <a:ext cx="502920" cy="502920"/>
          </a:xfrm>
          <a:prstGeom prst="ellipse">
            <a:avLst/>
          </a:prstGeom>
          <a:solidFill>
            <a:schemeClr val="accent1"/>
          </a:solidFill>
          <a:ln/>
        </p:spPr>
      </p:sp>
      <p:sp>
        <p:nvSpPr>
          <p:cNvPr id="21" name="Text 19"/>
          <p:cNvSpPr txBox="1"/>
          <p:nvPr/>
        </p:nvSpPr>
        <p:spPr>
          <a:xfrm>
            <a:off x="6473952" y="43434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7205472" y="4343400"/>
            <a:ext cx="4206240" cy="548640"/>
          </a:xfrm>
          <a:prstGeom prst="rect">
            <a:avLst/>
          </a:prstGeom>
          <a:noFill/>
          <a:ln/>
        </p:spPr>
        <p:txBody>
          <a:bodyPr wrap="square" lIns="0" tIns="0" rIns="0" bIns="0" rtlCol="0" anchor="ctr"/>
          <a:lstStyle/>
          <a:p>
            <a:pPr indent="0" marL="0">
              <a:buNone/>
            </a:pPr>
            <a:r>
              <a:rPr lang="en-US" sz="2000" b="1" dirty="0">
                <a:solidFill>
                  <a:schemeClr val="accent1"/>
                </a:solidFill>
              </a:rPr>
              <a:t>Which customers and markets matter most?</a:t>
            </a:r>
            <a:endParaRPr lang="en-US" sz="2000" dirty="0"/>
          </a:p>
        </p:txBody>
      </p:sp>
      <p:sp>
        <p:nvSpPr>
          <p:cNvPr id="23" name="Text 21"/>
          <p:cNvSpPr txBox="1"/>
          <p:nvPr/>
        </p:nvSpPr>
        <p:spPr>
          <a:xfrm>
            <a:off x="7205472" y="4983480"/>
            <a:ext cx="4206240" cy="1005840"/>
          </a:xfrm>
          <a:prstGeom prst="rect">
            <a:avLst/>
          </a:prstGeom>
          <a:noFill/>
          <a:ln/>
        </p:spPr>
        <p:txBody>
          <a:bodyPr wrap="square" lIns="0" tIns="0" rIns="0" bIns="0" rtlCol="0" anchor="t"/>
          <a:lstStyle/>
          <a:p>
            <a:pPr indent="0" marL="0">
              <a:buNone/>
            </a:pPr>
            <a:r>
              <a:rPr lang="en-US" sz="1600" dirty="0">
                <a:solidFill>
                  <a:schemeClr val="tx1"/>
                </a:solidFill>
              </a:rPr>
              <a:t>Frequent buyers spend little, high-income customers are 11% of orders, and Europe shows small bubbles.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Monthly revenue has roughly tripled</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A step-change from July 2021 lifted revenue from ~$0.5M to $1.83M a month</a:t>
            </a:r>
            <a:endParaRPr lang="en-US" sz="1800" dirty="0"/>
          </a:p>
        </p:txBody>
      </p:sp>
      <p:graphicFrame>
        <p:nvGraphicFramePr>
          <p:cNvPr id="4" name="Chart 0" descr=""/>
          <p:cNvGraphicFramePr/>
          <p:nvPr/>
        </p:nvGraphicFramePr>
        <p:xfrm>
          <a:off x="548640" y="1783080"/>
          <a:ext cx="73152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100" dirty="0">
                <a:solidFill>
                  <a:schemeClr val="tx1"/>
                </a:solidFill>
              </a:rPr>
              <a:t>Monthly values read from the dashboard line chart; approximate.</a:t>
            </a:r>
            <a:endParaRPr lang="en-US" sz="1100" dirty="0"/>
          </a:p>
        </p:txBody>
      </p:sp>
      <p:sp>
        <p:nvSpPr>
          <p:cNvPr id="6" name="stat-card"/>
          <p:cNvSpPr/>
          <p:nvPr/>
        </p:nvSpPr>
        <p:spPr>
          <a:xfrm>
            <a:off x="8183880" y="1783080"/>
            <a:ext cx="3456432" cy="1325880"/>
          </a:xfrm>
          <a:prstGeom prst="roundRect">
            <a:avLst>
              <a:gd name="adj" fmla="val 8276"/>
            </a:avLst>
          </a:prstGeom>
          <a:solidFill>
            <a:schemeClr val="accent5"/>
          </a:solidFill>
          <a:ln/>
        </p:spPr>
      </p:sp>
      <p:sp>
        <p:nvSpPr>
          <p:cNvPr id="7" name="Text 4"/>
          <p:cNvSpPr txBox="1"/>
          <p:nvPr/>
        </p:nvSpPr>
        <p:spPr>
          <a:xfrm>
            <a:off x="8412480" y="1947672"/>
            <a:ext cx="2999232" cy="596646"/>
          </a:xfrm>
          <a:prstGeom prst="rect">
            <a:avLst/>
          </a:prstGeom>
          <a:noFill/>
          <a:ln/>
        </p:spPr>
        <p:txBody>
          <a:bodyPr wrap="square" lIns="0" tIns="0" rIns="0" bIns="0" rtlCol="0" anchor="ctr"/>
          <a:lstStyle/>
          <a:p>
            <a:pPr indent="0" marL="0">
              <a:buNone/>
            </a:pPr>
            <a:r>
              <a:rPr lang="en-US" sz="3200" b="1" dirty="0">
                <a:solidFill>
                  <a:schemeClr val="accent2"/>
                </a:solidFill>
              </a:rPr>
              <a:t>3.2×</a:t>
            </a:r>
            <a:endParaRPr lang="en-US" sz="3200" dirty="0"/>
          </a:p>
        </p:txBody>
      </p:sp>
      <p:sp>
        <p:nvSpPr>
          <p:cNvPr id="8" name="Text 5"/>
          <p:cNvSpPr txBox="1"/>
          <p:nvPr/>
        </p:nvSpPr>
        <p:spPr>
          <a:xfrm>
            <a:off x="8412480" y="2562606"/>
            <a:ext cx="2999232" cy="454914"/>
          </a:xfrm>
          <a:prstGeom prst="rect">
            <a:avLst/>
          </a:prstGeom>
          <a:noFill/>
          <a:ln/>
        </p:spPr>
        <p:txBody>
          <a:bodyPr wrap="square" lIns="0" tIns="0" rIns="0" bIns="0" rtlCol="0" anchor="t"/>
          <a:lstStyle/>
          <a:p>
            <a:pPr indent="0" marL="0">
              <a:buNone/>
            </a:pPr>
            <a:r>
              <a:rPr lang="en-US" sz="1400" dirty="0">
                <a:solidFill>
                  <a:schemeClr val="bg1"/>
                </a:solidFill>
              </a:rPr>
              <a:t>June 2022 revenue vs January 2020 ($1.83M vs $0.58M)</a:t>
            </a:r>
            <a:endParaRPr lang="en-US" sz="1400" dirty="0"/>
          </a:p>
        </p:txBody>
      </p:sp>
      <p:sp>
        <p:nvSpPr>
          <p:cNvPr id="9" name="stat-card"/>
          <p:cNvSpPr/>
          <p:nvPr/>
        </p:nvSpPr>
        <p:spPr>
          <a:xfrm>
            <a:off x="8183880" y="3337560"/>
            <a:ext cx="3456432" cy="1325880"/>
          </a:xfrm>
          <a:prstGeom prst="roundRect">
            <a:avLst>
              <a:gd name="adj" fmla="val 8276"/>
            </a:avLst>
          </a:prstGeom>
          <a:solidFill>
            <a:schemeClr val="bg2"/>
          </a:solidFill>
          <a:ln/>
        </p:spPr>
      </p:sp>
      <p:sp>
        <p:nvSpPr>
          <p:cNvPr id="10" name="Text 7"/>
          <p:cNvSpPr txBox="1"/>
          <p:nvPr/>
        </p:nvSpPr>
        <p:spPr>
          <a:xfrm>
            <a:off x="8412480" y="3502152"/>
            <a:ext cx="2999232" cy="596646"/>
          </a:xfrm>
          <a:prstGeom prst="rect">
            <a:avLst/>
          </a:prstGeom>
          <a:noFill/>
          <a:ln/>
        </p:spPr>
        <p:txBody>
          <a:bodyPr wrap="square" lIns="0" tIns="0" rIns="0" bIns="0" rtlCol="0" anchor="ctr"/>
          <a:lstStyle/>
          <a:p>
            <a:pPr indent="0" marL="0">
              <a:buNone/>
            </a:pPr>
            <a:r>
              <a:rPr lang="en-US" sz="3200" b="1" dirty="0">
                <a:solidFill>
                  <a:schemeClr val="accent1"/>
                </a:solidFill>
              </a:rPr>
              <a:t>+47%</a:t>
            </a:r>
            <a:endParaRPr lang="en-US" sz="3200" dirty="0"/>
          </a:p>
        </p:txBody>
      </p:sp>
      <p:sp>
        <p:nvSpPr>
          <p:cNvPr id="11" name="Text 8"/>
          <p:cNvSpPr txBox="1"/>
          <p:nvPr/>
        </p:nvSpPr>
        <p:spPr>
          <a:xfrm>
            <a:off x="8412480" y="4117086"/>
            <a:ext cx="2999232" cy="454914"/>
          </a:xfrm>
          <a:prstGeom prst="rect">
            <a:avLst/>
          </a:prstGeom>
          <a:noFill/>
          <a:ln/>
        </p:spPr>
        <p:txBody>
          <a:bodyPr wrap="square" lIns="0" tIns="0" rIns="0" bIns="0" rtlCol="0" anchor="t"/>
          <a:lstStyle/>
          <a:p>
            <a:pPr indent="0" marL="0">
              <a:buNone/>
            </a:pPr>
            <a:r>
              <a:rPr lang="en-US" sz="1400" dirty="0">
                <a:solidFill>
                  <a:schemeClr val="tx1"/>
                </a:solidFill>
              </a:rPr>
              <a:t>2021 revenue (~$9.4M) vs 2020 (~$6.4M)</a:t>
            </a:r>
            <a:endParaRPr lang="en-US" sz="1400" dirty="0"/>
          </a:p>
        </p:txBody>
      </p:sp>
      <p:sp>
        <p:nvSpPr>
          <p:cNvPr id="12" name="stat-card"/>
          <p:cNvSpPr/>
          <p:nvPr/>
        </p:nvSpPr>
        <p:spPr>
          <a:xfrm>
            <a:off x="8183880" y="4892040"/>
            <a:ext cx="3456432" cy="1325880"/>
          </a:xfrm>
          <a:prstGeom prst="roundRect">
            <a:avLst>
              <a:gd name="adj" fmla="val 8276"/>
            </a:avLst>
          </a:prstGeom>
          <a:solidFill>
            <a:schemeClr val="bg2"/>
          </a:solidFill>
          <a:ln/>
        </p:spPr>
      </p:sp>
      <p:sp>
        <p:nvSpPr>
          <p:cNvPr id="13" name="Text 10"/>
          <p:cNvSpPr txBox="1"/>
          <p:nvPr/>
        </p:nvSpPr>
        <p:spPr>
          <a:xfrm>
            <a:off x="8412480" y="5056632"/>
            <a:ext cx="2999232" cy="596646"/>
          </a:xfrm>
          <a:prstGeom prst="rect">
            <a:avLst/>
          </a:prstGeom>
          <a:noFill/>
          <a:ln/>
        </p:spPr>
        <p:txBody>
          <a:bodyPr wrap="square" lIns="0" tIns="0" rIns="0" bIns="0" rtlCol="0" anchor="ctr"/>
          <a:lstStyle/>
          <a:p>
            <a:pPr indent="0" marL="0">
              <a:buNone/>
            </a:pPr>
            <a:r>
              <a:rPr lang="en-US" sz="3200" b="1" dirty="0">
                <a:solidFill>
                  <a:schemeClr val="accent1"/>
                </a:solidFill>
              </a:rPr>
              <a:t>42%</a:t>
            </a:r>
            <a:endParaRPr lang="en-US" sz="3200" dirty="0"/>
          </a:p>
        </p:txBody>
      </p:sp>
      <p:sp>
        <p:nvSpPr>
          <p:cNvPr id="14" name="Text 11"/>
          <p:cNvSpPr txBox="1"/>
          <p:nvPr/>
        </p:nvSpPr>
        <p:spPr>
          <a:xfrm>
            <a:off x="8412480" y="5671566"/>
            <a:ext cx="2999232" cy="454914"/>
          </a:xfrm>
          <a:prstGeom prst="rect">
            <a:avLst/>
          </a:prstGeom>
          <a:noFill/>
          <a:ln/>
        </p:spPr>
        <p:txBody>
          <a:bodyPr wrap="square" lIns="0" tIns="0" rIns="0" bIns="0" rtlCol="0" anchor="t"/>
          <a:lstStyle/>
          <a:p>
            <a:pPr indent="0" marL="0">
              <a:buNone/>
            </a:pPr>
            <a:r>
              <a:rPr lang="en-US" sz="1400" dirty="0">
                <a:solidFill>
                  <a:schemeClr val="tx1"/>
                </a:solidFill>
              </a:rPr>
              <a:t>profit margin ($10.5M on $24.9M)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Revenue is up, orders are not</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June revenue rose 3.3% while orders fell 0.9%, so each order is worth more</a:t>
            </a:r>
            <a:endParaRPr lang="en-US" sz="1800" dirty="0"/>
          </a:p>
        </p:txBody>
      </p:sp>
      <p:sp>
        <p:nvSpPr>
          <p:cNvPr id="4" name="compare-card"/>
          <p:cNvSpPr/>
          <p:nvPr/>
        </p:nvSpPr>
        <p:spPr>
          <a:xfrm>
            <a:off x="548640" y="1783080"/>
            <a:ext cx="3544824" cy="2834640"/>
          </a:xfrm>
          <a:prstGeom prst="roundRect">
            <a:avLst>
              <a:gd name="adj" fmla="val 3871"/>
            </a:avLst>
          </a:prstGeom>
          <a:solidFill>
            <a:schemeClr val="bg2"/>
          </a:solidFill>
          <a:ln/>
        </p:spPr>
      </p:sp>
      <p:sp>
        <p:nvSpPr>
          <p:cNvPr id="5" name="Text 3"/>
          <p:cNvSpPr txBox="1"/>
          <p:nvPr/>
        </p:nvSpPr>
        <p:spPr>
          <a:xfrm>
            <a:off x="822960" y="1965960"/>
            <a:ext cx="2996184" cy="365760"/>
          </a:xfrm>
          <a:prstGeom prst="rect">
            <a:avLst/>
          </a:prstGeom>
          <a:noFill/>
          <a:ln/>
        </p:spPr>
        <p:txBody>
          <a:bodyPr wrap="square" lIns="0" tIns="0" rIns="0" bIns="0" rtlCol="0" anchor="t"/>
          <a:lstStyle/>
          <a:p>
            <a:pPr indent="0" marL="0">
              <a:buNone/>
            </a:pPr>
            <a:r>
              <a:rPr lang="en-US" sz="1800" b="1" dirty="0">
                <a:solidFill>
                  <a:schemeClr val="accent1"/>
                </a:solidFill>
              </a:rPr>
              <a:t>Monthly revenue</a:t>
            </a:r>
            <a:endParaRPr lang="en-US" sz="1800" dirty="0"/>
          </a:p>
        </p:txBody>
      </p:sp>
      <p:sp>
        <p:nvSpPr>
          <p:cNvPr id="6" name="Text 4"/>
          <p:cNvSpPr txBox="1"/>
          <p:nvPr/>
        </p:nvSpPr>
        <p:spPr>
          <a:xfrm>
            <a:off x="822960" y="2514600"/>
            <a:ext cx="1645920" cy="640080"/>
          </a:xfrm>
          <a:prstGeom prst="rect">
            <a:avLst/>
          </a:prstGeom>
          <a:noFill/>
          <a:ln/>
        </p:spPr>
        <p:txBody>
          <a:bodyPr wrap="square" lIns="0" tIns="0" rIns="0" bIns="0" rtlCol="0" anchor="ctr"/>
          <a:lstStyle/>
          <a:p>
            <a:pPr indent="0" marL="0">
              <a:buNone/>
            </a:pPr>
            <a:r>
              <a:rPr lang="en-US" sz="3000" b="1" dirty="0">
                <a:solidFill>
                  <a:schemeClr val="accent1"/>
                </a:solidFill>
              </a:rPr>
              <a:t>$1.83M</a:t>
            </a:r>
            <a:endParaRPr lang="en-US" sz="3000" dirty="0"/>
          </a:p>
        </p:txBody>
      </p:sp>
      <p:sp>
        <p:nvSpPr>
          <p:cNvPr id="7" name="Text 5"/>
          <p:cNvSpPr txBox="1"/>
          <p:nvPr/>
        </p:nvSpPr>
        <p:spPr>
          <a:xfrm>
            <a:off x="822960" y="3154680"/>
            <a:ext cx="1645920" cy="274320"/>
          </a:xfrm>
          <a:prstGeom prst="rect">
            <a:avLst/>
          </a:prstGeom>
          <a:noFill/>
          <a:ln/>
        </p:spPr>
        <p:txBody>
          <a:bodyPr wrap="square" lIns="0" tIns="0" rIns="0" bIns="0" rtlCol="0" anchor="t"/>
          <a:lstStyle/>
          <a:p>
            <a:pPr indent="0" marL="0">
              <a:buNone/>
            </a:pPr>
            <a:r>
              <a:rPr lang="en-US" sz="1300" dirty="0">
                <a:solidFill>
                  <a:schemeClr val="tx1"/>
                </a:solidFill>
              </a:rPr>
              <a:t>This month</a:t>
            </a:r>
            <a:endParaRPr lang="en-US" sz="1300" dirty="0"/>
          </a:p>
        </p:txBody>
      </p:sp>
      <p:sp>
        <p:nvSpPr>
          <p:cNvPr id="8" name="Text 6"/>
          <p:cNvSpPr txBox="1"/>
          <p:nvPr/>
        </p:nvSpPr>
        <p:spPr>
          <a:xfrm>
            <a:off x="2468880" y="2514600"/>
            <a:ext cx="1554480" cy="640080"/>
          </a:xfrm>
          <a:prstGeom prst="rect">
            <a:avLst/>
          </a:prstGeom>
          <a:noFill/>
          <a:ln/>
        </p:spPr>
        <p:txBody>
          <a:bodyPr wrap="square" lIns="0" tIns="0" rIns="0" bIns="0" rtlCol="0" anchor="ctr"/>
          <a:lstStyle/>
          <a:p>
            <a:pPr indent="0" marL="0">
              <a:buNone/>
            </a:pPr>
            <a:r>
              <a:rPr lang="en-US" sz="3000" b="1" dirty="0">
                <a:solidFill>
                  <a:schemeClr val="accent5"/>
                </a:solidFill>
              </a:rPr>
              <a:t>$1.77M</a:t>
            </a:r>
            <a:endParaRPr lang="en-US" sz="3000" dirty="0"/>
          </a:p>
        </p:txBody>
      </p:sp>
      <p:sp>
        <p:nvSpPr>
          <p:cNvPr id="9" name="Text 7"/>
          <p:cNvSpPr txBox="1"/>
          <p:nvPr/>
        </p:nvSpPr>
        <p:spPr>
          <a:xfrm>
            <a:off x="2468880" y="3154680"/>
            <a:ext cx="1554480" cy="274320"/>
          </a:xfrm>
          <a:prstGeom prst="rect">
            <a:avLst/>
          </a:prstGeom>
          <a:noFill/>
          <a:ln/>
        </p:spPr>
        <p:txBody>
          <a:bodyPr wrap="square" lIns="0" tIns="0" rIns="0" bIns="0" rtlCol="0" anchor="t"/>
          <a:lstStyle/>
          <a:p>
            <a:pPr indent="0" marL="0">
              <a:buNone/>
            </a:pPr>
            <a:r>
              <a:rPr lang="en-US" sz="1300" dirty="0">
                <a:solidFill>
                  <a:schemeClr val="tx1"/>
                </a:solidFill>
              </a:rPr>
              <a:t>Prior month</a:t>
            </a:r>
            <a:endParaRPr lang="en-US" sz="1300" dirty="0"/>
          </a:p>
        </p:txBody>
      </p:sp>
      <p:sp>
        <p:nvSpPr>
          <p:cNvPr id="10" name="delta-chip"/>
          <p:cNvSpPr/>
          <p:nvPr/>
        </p:nvSpPr>
        <p:spPr>
          <a:xfrm>
            <a:off x="822960" y="3749040"/>
            <a:ext cx="2996184" cy="594360"/>
          </a:xfrm>
          <a:prstGeom prst="roundRect">
            <a:avLst>
              <a:gd name="adj" fmla="val 15385"/>
            </a:avLst>
          </a:prstGeom>
          <a:solidFill>
            <a:schemeClr val="accent5"/>
          </a:solidFill>
          <a:ln/>
        </p:spPr>
      </p:sp>
      <p:sp>
        <p:nvSpPr>
          <p:cNvPr id="11" name="Text 9"/>
          <p:cNvSpPr txBox="1"/>
          <p:nvPr/>
        </p:nvSpPr>
        <p:spPr>
          <a:xfrm>
            <a:off x="822960" y="3749040"/>
            <a:ext cx="2996184" cy="594360"/>
          </a:xfrm>
          <a:prstGeom prst="rect">
            <a:avLst/>
          </a:prstGeom>
          <a:noFill/>
          <a:ln/>
        </p:spPr>
        <p:txBody>
          <a:bodyPr wrap="square" lIns="0" tIns="0" rIns="0" bIns="0" rtlCol="0" anchor="ctr"/>
          <a:lstStyle/>
          <a:p>
            <a:pPr algn="ctr" indent="0" marL="0">
              <a:buNone/>
            </a:pPr>
            <a:r>
              <a:rPr lang="en-US" sz="1600" b="1" dirty="0">
                <a:solidFill>
                  <a:schemeClr val="accent2"/>
                </a:solidFill>
              </a:rPr>
              <a:t>Change: +3.3%</a:t>
            </a:r>
            <a:endParaRPr lang="en-US" sz="1600" dirty="0"/>
          </a:p>
        </p:txBody>
      </p:sp>
      <p:sp>
        <p:nvSpPr>
          <p:cNvPr id="12" name="compare-card"/>
          <p:cNvSpPr/>
          <p:nvPr/>
        </p:nvSpPr>
        <p:spPr>
          <a:xfrm>
            <a:off x="4322064" y="1783080"/>
            <a:ext cx="3544824" cy="2834640"/>
          </a:xfrm>
          <a:prstGeom prst="roundRect">
            <a:avLst>
              <a:gd name="adj" fmla="val 3871"/>
            </a:avLst>
          </a:prstGeom>
          <a:solidFill>
            <a:schemeClr val="bg2"/>
          </a:solidFill>
          <a:ln/>
        </p:spPr>
      </p:sp>
      <p:sp>
        <p:nvSpPr>
          <p:cNvPr id="13" name="Text 11"/>
          <p:cNvSpPr txBox="1"/>
          <p:nvPr/>
        </p:nvSpPr>
        <p:spPr>
          <a:xfrm>
            <a:off x="4596384" y="1965960"/>
            <a:ext cx="2996184" cy="365760"/>
          </a:xfrm>
          <a:prstGeom prst="rect">
            <a:avLst/>
          </a:prstGeom>
          <a:noFill/>
          <a:ln/>
        </p:spPr>
        <p:txBody>
          <a:bodyPr wrap="square" lIns="0" tIns="0" rIns="0" bIns="0" rtlCol="0" anchor="t"/>
          <a:lstStyle/>
          <a:p>
            <a:pPr indent="0" marL="0">
              <a:buNone/>
            </a:pPr>
            <a:r>
              <a:rPr lang="en-US" sz="1800" b="1" dirty="0">
                <a:solidFill>
                  <a:schemeClr val="accent1"/>
                </a:solidFill>
              </a:rPr>
              <a:t>Monthly orders</a:t>
            </a:r>
            <a:endParaRPr lang="en-US" sz="1800" dirty="0"/>
          </a:p>
        </p:txBody>
      </p:sp>
      <p:sp>
        <p:nvSpPr>
          <p:cNvPr id="14" name="Text 12"/>
          <p:cNvSpPr txBox="1"/>
          <p:nvPr/>
        </p:nvSpPr>
        <p:spPr>
          <a:xfrm>
            <a:off x="4596384" y="2514600"/>
            <a:ext cx="1645920" cy="640080"/>
          </a:xfrm>
          <a:prstGeom prst="rect">
            <a:avLst/>
          </a:prstGeom>
          <a:noFill/>
          <a:ln/>
        </p:spPr>
        <p:txBody>
          <a:bodyPr wrap="square" lIns="0" tIns="0" rIns="0" bIns="0" rtlCol="0" anchor="ctr"/>
          <a:lstStyle/>
          <a:p>
            <a:pPr indent="0" marL="0">
              <a:buNone/>
            </a:pPr>
            <a:r>
              <a:rPr lang="en-US" sz="3000" b="1" dirty="0">
                <a:solidFill>
                  <a:schemeClr val="accent1"/>
                </a:solidFill>
              </a:rPr>
              <a:t>2,146</a:t>
            </a:r>
            <a:endParaRPr lang="en-US" sz="3000" dirty="0"/>
          </a:p>
        </p:txBody>
      </p:sp>
      <p:sp>
        <p:nvSpPr>
          <p:cNvPr id="15" name="Text 13"/>
          <p:cNvSpPr txBox="1"/>
          <p:nvPr/>
        </p:nvSpPr>
        <p:spPr>
          <a:xfrm>
            <a:off x="4596384" y="3154680"/>
            <a:ext cx="1645920" cy="274320"/>
          </a:xfrm>
          <a:prstGeom prst="rect">
            <a:avLst/>
          </a:prstGeom>
          <a:noFill/>
          <a:ln/>
        </p:spPr>
        <p:txBody>
          <a:bodyPr wrap="square" lIns="0" tIns="0" rIns="0" bIns="0" rtlCol="0" anchor="t"/>
          <a:lstStyle/>
          <a:p>
            <a:pPr indent="0" marL="0">
              <a:buNone/>
            </a:pPr>
            <a:r>
              <a:rPr lang="en-US" sz="1300" dirty="0">
                <a:solidFill>
                  <a:schemeClr val="tx1"/>
                </a:solidFill>
              </a:rPr>
              <a:t>This month</a:t>
            </a:r>
            <a:endParaRPr lang="en-US" sz="1300" dirty="0"/>
          </a:p>
        </p:txBody>
      </p:sp>
      <p:sp>
        <p:nvSpPr>
          <p:cNvPr id="16" name="Text 14"/>
          <p:cNvSpPr txBox="1"/>
          <p:nvPr/>
        </p:nvSpPr>
        <p:spPr>
          <a:xfrm>
            <a:off x="6242304" y="2514600"/>
            <a:ext cx="1554480" cy="640080"/>
          </a:xfrm>
          <a:prstGeom prst="rect">
            <a:avLst/>
          </a:prstGeom>
          <a:noFill/>
          <a:ln/>
        </p:spPr>
        <p:txBody>
          <a:bodyPr wrap="square" lIns="0" tIns="0" rIns="0" bIns="0" rtlCol="0" anchor="ctr"/>
          <a:lstStyle/>
          <a:p>
            <a:pPr indent="0" marL="0">
              <a:buNone/>
            </a:pPr>
            <a:r>
              <a:rPr lang="en-US" sz="3000" b="1" dirty="0">
                <a:solidFill>
                  <a:schemeClr val="accent5"/>
                </a:solidFill>
              </a:rPr>
              <a:t>2,165</a:t>
            </a:r>
            <a:endParaRPr lang="en-US" sz="3000" dirty="0"/>
          </a:p>
        </p:txBody>
      </p:sp>
      <p:sp>
        <p:nvSpPr>
          <p:cNvPr id="17" name="Text 15"/>
          <p:cNvSpPr txBox="1"/>
          <p:nvPr/>
        </p:nvSpPr>
        <p:spPr>
          <a:xfrm>
            <a:off x="6242304" y="3154680"/>
            <a:ext cx="1554480" cy="274320"/>
          </a:xfrm>
          <a:prstGeom prst="rect">
            <a:avLst/>
          </a:prstGeom>
          <a:noFill/>
          <a:ln/>
        </p:spPr>
        <p:txBody>
          <a:bodyPr wrap="square" lIns="0" tIns="0" rIns="0" bIns="0" rtlCol="0" anchor="t"/>
          <a:lstStyle/>
          <a:p>
            <a:pPr indent="0" marL="0">
              <a:buNone/>
            </a:pPr>
            <a:r>
              <a:rPr lang="en-US" sz="1300" dirty="0">
                <a:solidFill>
                  <a:schemeClr val="tx1"/>
                </a:solidFill>
              </a:rPr>
              <a:t>Prior month</a:t>
            </a:r>
            <a:endParaRPr lang="en-US" sz="1300" dirty="0"/>
          </a:p>
        </p:txBody>
      </p:sp>
      <p:sp>
        <p:nvSpPr>
          <p:cNvPr id="18" name="delta-chip"/>
          <p:cNvSpPr/>
          <p:nvPr/>
        </p:nvSpPr>
        <p:spPr>
          <a:xfrm>
            <a:off x="4596384" y="3749040"/>
            <a:ext cx="2996184" cy="594360"/>
          </a:xfrm>
          <a:prstGeom prst="roundRect">
            <a:avLst>
              <a:gd name="adj" fmla="val 15385"/>
            </a:avLst>
          </a:prstGeom>
          <a:solidFill>
            <a:schemeClr val="accent4"/>
          </a:solidFill>
          <a:ln/>
        </p:spPr>
      </p:sp>
      <p:sp>
        <p:nvSpPr>
          <p:cNvPr id="19" name="Text 17"/>
          <p:cNvSpPr txBox="1"/>
          <p:nvPr/>
        </p:nvSpPr>
        <p:spPr>
          <a:xfrm>
            <a:off x="4596384" y="3749040"/>
            <a:ext cx="2996184" cy="594360"/>
          </a:xfrm>
          <a:prstGeom prst="rect">
            <a:avLst/>
          </a:prstGeom>
          <a:noFill/>
          <a:ln/>
        </p:spPr>
        <p:txBody>
          <a:bodyPr wrap="square" lIns="0" tIns="0" rIns="0" bIns="0" rtlCol="0" anchor="ctr"/>
          <a:lstStyle/>
          <a:p>
            <a:pPr algn="ctr" indent="0" marL="0">
              <a:buNone/>
            </a:pPr>
            <a:r>
              <a:rPr lang="en-US" sz="1600" b="1" dirty="0">
                <a:solidFill>
                  <a:schemeClr val="bg1"/>
                </a:solidFill>
              </a:rPr>
              <a:t>Change: −0.9%</a:t>
            </a:r>
            <a:endParaRPr lang="en-US" sz="1600" dirty="0"/>
          </a:p>
        </p:txBody>
      </p:sp>
      <p:sp>
        <p:nvSpPr>
          <p:cNvPr id="20" name="compare-card"/>
          <p:cNvSpPr/>
          <p:nvPr/>
        </p:nvSpPr>
        <p:spPr>
          <a:xfrm>
            <a:off x="8095488" y="1783080"/>
            <a:ext cx="3544824" cy="2834640"/>
          </a:xfrm>
          <a:prstGeom prst="roundRect">
            <a:avLst>
              <a:gd name="adj" fmla="val 3871"/>
            </a:avLst>
          </a:prstGeom>
          <a:solidFill>
            <a:schemeClr val="bg2"/>
          </a:solidFill>
          <a:ln/>
        </p:spPr>
      </p:sp>
      <p:sp>
        <p:nvSpPr>
          <p:cNvPr id="21" name="Text 19"/>
          <p:cNvSpPr txBox="1"/>
          <p:nvPr/>
        </p:nvSpPr>
        <p:spPr>
          <a:xfrm>
            <a:off x="8369808" y="1965960"/>
            <a:ext cx="2996184" cy="365760"/>
          </a:xfrm>
          <a:prstGeom prst="rect">
            <a:avLst/>
          </a:prstGeom>
          <a:noFill/>
          <a:ln/>
        </p:spPr>
        <p:txBody>
          <a:bodyPr wrap="square" lIns="0" tIns="0" rIns="0" bIns="0" rtlCol="0" anchor="t"/>
          <a:lstStyle/>
          <a:p>
            <a:pPr indent="0" marL="0">
              <a:buNone/>
            </a:pPr>
            <a:r>
              <a:rPr lang="en-US" sz="1800" b="1" dirty="0">
                <a:solidFill>
                  <a:schemeClr val="accent1"/>
                </a:solidFill>
              </a:rPr>
              <a:t>Revenue per order</a:t>
            </a:r>
            <a:endParaRPr lang="en-US" sz="1800" dirty="0"/>
          </a:p>
        </p:txBody>
      </p:sp>
      <p:sp>
        <p:nvSpPr>
          <p:cNvPr id="22" name="Text 20"/>
          <p:cNvSpPr txBox="1"/>
          <p:nvPr/>
        </p:nvSpPr>
        <p:spPr>
          <a:xfrm>
            <a:off x="8369808" y="2514600"/>
            <a:ext cx="1645920" cy="640080"/>
          </a:xfrm>
          <a:prstGeom prst="rect">
            <a:avLst/>
          </a:prstGeom>
          <a:noFill/>
          <a:ln/>
        </p:spPr>
        <p:txBody>
          <a:bodyPr wrap="square" lIns="0" tIns="0" rIns="0" bIns="0" rtlCol="0" anchor="ctr"/>
          <a:lstStyle/>
          <a:p>
            <a:pPr indent="0" marL="0">
              <a:buNone/>
            </a:pPr>
            <a:r>
              <a:rPr lang="en-US" sz="3000" b="1" dirty="0">
                <a:solidFill>
                  <a:schemeClr val="accent1"/>
                </a:solidFill>
              </a:rPr>
              <a:t>$853</a:t>
            </a:r>
            <a:endParaRPr lang="en-US" sz="3000" dirty="0"/>
          </a:p>
        </p:txBody>
      </p:sp>
      <p:sp>
        <p:nvSpPr>
          <p:cNvPr id="23" name="Text 21"/>
          <p:cNvSpPr txBox="1"/>
          <p:nvPr/>
        </p:nvSpPr>
        <p:spPr>
          <a:xfrm>
            <a:off x="8369808" y="3154680"/>
            <a:ext cx="1645920" cy="274320"/>
          </a:xfrm>
          <a:prstGeom prst="rect">
            <a:avLst/>
          </a:prstGeom>
          <a:noFill/>
          <a:ln/>
        </p:spPr>
        <p:txBody>
          <a:bodyPr wrap="square" lIns="0" tIns="0" rIns="0" bIns="0" rtlCol="0" anchor="t"/>
          <a:lstStyle/>
          <a:p>
            <a:pPr indent="0" marL="0">
              <a:buNone/>
            </a:pPr>
            <a:r>
              <a:rPr lang="en-US" sz="1300" dirty="0">
                <a:solidFill>
                  <a:schemeClr val="tx1"/>
                </a:solidFill>
              </a:rPr>
              <a:t>This month</a:t>
            </a:r>
            <a:endParaRPr lang="en-US" sz="1300" dirty="0"/>
          </a:p>
        </p:txBody>
      </p:sp>
      <p:sp>
        <p:nvSpPr>
          <p:cNvPr id="24" name="Text 22"/>
          <p:cNvSpPr txBox="1"/>
          <p:nvPr/>
        </p:nvSpPr>
        <p:spPr>
          <a:xfrm>
            <a:off x="10015728" y="2514600"/>
            <a:ext cx="1554480" cy="640080"/>
          </a:xfrm>
          <a:prstGeom prst="rect">
            <a:avLst/>
          </a:prstGeom>
          <a:noFill/>
          <a:ln/>
        </p:spPr>
        <p:txBody>
          <a:bodyPr wrap="square" lIns="0" tIns="0" rIns="0" bIns="0" rtlCol="0" anchor="ctr"/>
          <a:lstStyle/>
          <a:p>
            <a:pPr indent="0" marL="0">
              <a:buNone/>
            </a:pPr>
            <a:r>
              <a:rPr lang="en-US" sz="3000" b="1" dirty="0">
                <a:solidFill>
                  <a:schemeClr val="accent5"/>
                </a:solidFill>
              </a:rPr>
              <a:t>$818</a:t>
            </a:r>
            <a:endParaRPr lang="en-US" sz="3000" dirty="0"/>
          </a:p>
        </p:txBody>
      </p:sp>
      <p:sp>
        <p:nvSpPr>
          <p:cNvPr id="25" name="Text 23"/>
          <p:cNvSpPr txBox="1"/>
          <p:nvPr/>
        </p:nvSpPr>
        <p:spPr>
          <a:xfrm>
            <a:off x="10015728" y="3154680"/>
            <a:ext cx="1554480" cy="274320"/>
          </a:xfrm>
          <a:prstGeom prst="rect">
            <a:avLst/>
          </a:prstGeom>
          <a:noFill/>
          <a:ln/>
        </p:spPr>
        <p:txBody>
          <a:bodyPr wrap="square" lIns="0" tIns="0" rIns="0" bIns="0" rtlCol="0" anchor="t"/>
          <a:lstStyle/>
          <a:p>
            <a:pPr indent="0" marL="0">
              <a:buNone/>
            </a:pPr>
            <a:r>
              <a:rPr lang="en-US" sz="1300" dirty="0">
                <a:solidFill>
                  <a:schemeClr val="tx1"/>
                </a:solidFill>
              </a:rPr>
              <a:t>Prior month</a:t>
            </a:r>
            <a:endParaRPr lang="en-US" sz="1300" dirty="0"/>
          </a:p>
        </p:txBody>
      </p:sp>
      <p:sp>
        <p:nvSpPr>
          <p:cNvPr id="26" name="delta-chip"/>
          <p:cNvSpPr/>
          <p:nvPr/>
        </p:nvSpPr>
        <p:spPr>
          <a:xfrm>
            <a:off x="8369808" y="3749040"/>
            <a:ext cx="2996184" cy="594360"/>
          </a:xfrm>
          <a:prstGeom prst="roundRect">
            <a:avLst>
              <a:gd name="adj" fmla="val 15385"/>
            </a:avLst>
          </a:prstGeom>
          <a:solidFill>
            <a:schemeClr val="accent5"/>
          </a:solidFill>
          <a:ln/>
        </p:spPr>
      </p:sp>
      <p:sp>
        <p:nvSpPr>
          <p:cNvPr id="27" name="Text 25"/>
          <p:cNvSpPr txBox="1"/>
          <p:nvPr/>
        </p:nvSpPr>
        <p:spPr>
          <a:xfrm>
            <a:off x="8369808" y="3749040"/>
            <a:ext cx="2996184" cy="594360"/>
          </a:xfrm>
          <a:prstGeom prst="rect">
            <a:avLst/>
          </a:prstGeom>
          <a:noFill/>
          <a:ln/>
        </p:spPr>
        <p:txBody>
          <a:bodyPr wrap="square" lIns="0" tIns="0" rIns="0" bIns="0" rtlCol="0" anchor="ctr"/>
          <a:lstStyle/>
          <a:p>
            <a:pPr algn="ctr" indent="0" marL="0">
              <a:buNone/>
            </a:pPr>
            <a:r>
              <a:rPr lang="en-US" sz="1600" b="1" dirty="0">
                <a:solidFill>
                  <a:schemeClr val="accent2"/>
                </a:solidFill>
              </a:rPr>
              <a:t>Change: +4.3%</a:t>
            </a:r>
            <a:endParaRPr lang="en-US" sz="1600" dirty="0"/>
          </a:p>
        </p:txBody>
      </p:sp>
      <p:sp>
        <p:nvSpPr>
          <p:cNvPr id="28" name="callout-card"/>
          <p:cNvSpPr/>
          <p:nvPr/>
        </p:nvSpPr>
        <p:spPr>
          <a:xfrm>
            <a:off x="548640" y="4846320"/>
            <a:ext cx="11091672" cy="640080"/>
          </a:xfrm>
          <a:prstGeom prst="roundRect">
            <a:avLst>
              <a:gd name="adj" fmla="val 17143"/>
            </a:avLst>
          </a:prstGeom>
          <a:solidFill>
            <a:schemeClr val="bg2"/>
          </a:solidFill>
          <a:ln/>
        </p:spPr>
      </p:sp>
      <p:sp>
        <p:nvSpPr>
          <p:cNvPr id="29" name="Text 27"/>
          <p:cNvSpPr txBox="1"/>
          <p:nvPr/>
        </p:nvSpPr>
        <p:spPr>
          <a:xfrm>
            <a:off x="777240" y="4846320"/>
            <a:ext cx="10634472" cy="640080"/>
          </a:xfrm>
          <a:prstGeom prst="rect">
            <a:avLst/>
          </a:prstGeom>
          <a:noFill/>
          <a:ln/>
        </p:spPr>
        <p:txBody>
          <a:bodyPr wrap="square" lIns="0" tIns="0" rIns="0" bIns="0" rtlCol="0" anchor="ctr"/>
          <a:lstStyle/>
          <a:p>
            <a:pPr indent="0" marL="0">
              <a:buNone/>
            </a:pPr>
            <a:r>
              <a:rPr lang="en-US" sz="1500" b="1" dirty="0">
                <a:solidFill>
                  <a:schemeClr val="accent1"/>
                </a:solidFill>
              </a:rPr>
              <a:t>Reading it: </a:t>
            </a:r>
            <a:pPr indent="0" marL="0">
              <a:buNone/>
            </a:pPr>
            <a:r>
              <a:rPr lang="en-US" sz="1500" dirty="0">
                <a:solidFill>
                  <a:schemeClr val="tx1"/>
                </a:solidFill>
              </a:rPr>
              <a:t>price and mix are carrying growth, so order volume is the metric to watch.</a:t>
            </a:r>
            <a:endParaRPr lang="en-US" sz="1500" dirty="0"/>
          </a:p>
        </p:txBody>
      </p:sp>
      <p:sp>
        <p:nvSpPr>
          <p:cNvPr id="30" name="callout-card"/>
          <p:cNvSpPr/>
          <p:nvPr/>
        </p:nvSpPr>
        <p:spPr>
          <a:xfrm>
            <a:off x="548640" y="5623560"/>
            <a:ext cx="11091672" cy="594360"/>
          </a:xfrm>
          <a:prstGeom prst="roundRect">
            <a:avLst>
              <a:gd name="adj" fmla="val 18462"/>
            </a:avLst>
          </a:prstGeom>
          <a:solidFill>
            <a:schemeClr val="bg2"/>
          </a:solidFill>
          <a:ln/>
        </p:spPr>
      </p:sp>
      <p:sp>
        <p:nvSpPr>
          <p:cNvPr id="31" name="Text 29"/>
          <p:cNvSpPr txBox="1"/>
          <p:nvPr/>
        </p:nvSpPr>
        <p:spPr>
          <a:xfrm>
            <a:off x="777240" y="5623560"/>
            <a:ext cx="10634472" cy="594360"/>
          </a:xfrm>
          <a:prstGeom prst="rect">
            <a:avLst/>
          </a:prstGeom>
          <a:noFill/>
          <a:ln/>
        </p:spPr>
        <p:txBody>
          <a:bodyPr wrap="square" lIns="0" tIns="0" rIns="0" bIns="0" rtlCol="0" anchor="ctr"/>
          <a:lstStyle/>
          <a:p>
            <a:pPr indent="0" marL="0">
              <a:buNone/>
            </a:pPr>
            <a:r>
              <a:rPr lang="en-US" sz="1500" b="1" dirty="0">
                <a:solidFill>
                  <a:schemeClr val="accent1"/>
                </a:solidFill>
              </a:rPr>
              <a:t>Dashboard fix: </a:t>
            </a:r>
            <a:pPr indent="0" marL="0">
              <a:buNone/>
            </a:pPr>
            <a:r>
              <a:rPr lang="en-US" sz="1500" dirty="0">
                <a:solidFill>
                  <a:schemeClr val="tx1"/>
                </a:solidFill>
              </a:rPr>
              <a:t>the Monthly Returns card shows +1.78%, but returns fell from 169 to 166. Check its variance formula.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Accessories lead on order volume</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Accessories account for 45% of category orders, ahead of Bikes and Clothing</a:t>
            </a:r>
            <a:endParaRPr lang="en-US" sz="1800" dirty="0"/>
          </a:p>
        </p:txBody>
      </p:sp>
      <p:graphicFrame>
        <p:nvGraphicFramePr>
          <p:cNvPr id="4" name="Chart 0" descr=""/>
          <p:cNvGraphicFramePr/>
          <p:nvPr/>
        </p:nvGraphicFramePr>
        <p:xfrm>
          <a:off x="548640" y="1783080"/>
          <a:ext cx="6858000" cy="4434840"/>
        </p:xfrm>
        <a:graphic xmlns:a="http://schemas.openxmlformats.org/drawingml/2006/main">
          <a:graphicData uri="http://schemas.openxmlformats.org/drawingml/2006/chart">
            <c:chart xmlns:c="http://schemas.openxmlformats.org/drawingml/2006/chart" r:id="rId1"/>
          </a:graphicData>
        </a:graphic>
      </p:graphicFrame>
      <p:sp>
        <p:nvSpPr>
          <p:cNvPr id="5" name="stat-card"/>
          <p:cNvSpPr/>
          <p:nvPr/>
        </p:nvSpPr>
        <p:spPr>
          <a:xfrm>
            <a:off x="7772400" y="1783080"/>
            <a:ext cx="3867912" cy="1325880"/>
          </a:xfrm>
          <a:prstGeom prst="roundRect">
            <a:avLst>
              <a:gd name="adj" fmla="val 8276"/>
            </a:avLst>
          </a:prstGeom>
          <a:solidFill>
            <a:schemeClr val="accent5"/>
          </a:solidFill>
          <a:ln/>
        </p:spPr>
      </p:sp>
      <p:sp>
        <p:nvSpPr>
          <p:cNvPr id="6" name="Text 3"/>
          <p:cNvSpPr txBox="1"/>
          <p:nvPr/>
        </p:nvSpPr>
        <p:spPr>
          <a:xfrm>
            <a:off x="8001000" y="1947672"/>
            <a:ext cx="3410712" cy="596646"/>
          </a:xfrm>
          <a:prstGeom prst="rect">
            <a:avLst/>
          </a:prstGeom>
          <a:noFill/>
          <a:ln/>
        </p:spPr>
        <p:txBody>
          <a:bodyPr wrap="square" lIns="0" tIns="0" rIns="0" bIns="0" rtlCol="0" anchor="ctr"/>
          <a:lstStyle/>
          <a:p>
            <a:pPr indent="0" marL="0">
              <a:buNone/>
            </a:pPr>
            <a:r>
              <a:rPr lang="en-US" sz="3200" b="1" dirty="0">
                <a:solidFill>
                  <a:schemeClr val="accent2"/>
                </a:solidFill>
              </a:rPr>
              <a:t>17.0K</a:t>
            </a:r>
            <a:endParaRPr lang="en-US" sz="3200" dirty="0"/>
          </a:p>
        </p:txBody>
      </p:sp>
      <p:sp>
        <p:nvSpPr>
          <p:cNvPr id="7" name="Text 4"/>
          <p:cNvSpPr txBox="1"/>
          <p:nvPr/>
        </p:nvSpPr>
        <p:spPr>
          <a:xfrm>
            <a:off x="8001000" y="2562606"/>
            <a:ext cx="3410712" cy="454914"/>
          </a:xfrm>
          <a:prstGeom prst="rect">
            <a:avLst/>
          </a:prstGeom>
          <a:noFill/>
          <a:ln/>
        </p:spPr>
        <p:txBody>
          <a:bodyPr wrap="square" lIns="0" tIns="0" rIns="0" bIns="0" rtlCol="0" anchor="t"/>
          <a:lstStyle/>
          <a:p>
            <a:pPr indent="0" marL="0">
              <a:buNone/>
            </a:pPr>
            <a:r>
              <a:rPr lang="en-US" sz="1400" dirty="0">
                <a:solidFill>
                  <a:schemeClr val="bg1"/>
                </a:solidFill>
              </a:rPr>
              <a:t>Accessories orders, the largest category</a:t>
            </a:r>
            <a:endParaRPr lang="en-US" sz="1400" dirty="0"/>
          </a:p>
        </p:txBody>
      </p:sp>
      <p:sp>
        <p:nvSpPr>
          <p:cNvPr id="8" name="stat-card"/>
          <p:cNvSpPr/>
          <p:nvPr/>
        </p:nvSpPr>
        <p:spPr>
          <a:xfrm>
            <a:off x="7772400" y="3337560"/>
            <a:ext cx="3867912" cy="1325880"/>
          </a:xfrm>
          <a:prstGeom prst="roundRect">
            <a:avLst>
              <a:gd name="adj" fmla="val 8276"/>
            </a:avLst>
          </a:prstGeom>
          <a:solidFill>
            <a:schemeClr val="bg2"/>
          </a:solidFill>
          <a:ln/>
        </p:spPr>
      </p:sp>
      <p:sp>
        <p:nvSpPr>
          <p:cNvPr id="9" name="Text 6"/>
          <p:cNvSpPr txBox="1"/>
          <p:nvPr/>
        </p:nvSpPr>
        <p:spPr>
          <a:xfrm>
            <a:off x="8001000" y="3502152"/>
            <a:ext cx="3410712" cy="596646"/>
          </a:xfrm>
          <a:prstGeom prst="rect">
            <a:avLst/>
          </a:prstGeom>
          <a:noFill/>
          <a:ln/>
        </p:spPr>
        <p:txBody>
          <a:bodyPr wrap="square" lIns="0" tIns="0" rIns="0" bIns="0" rtlCol="0" anchor="ctr"/>
          <a:lstStyle/>
          <a:p>
            <a:pPr indent="0" marL="0">
              <a:buNone/>
            </a:pPr>
            <a:r>
              <a:rPr lang="en-US" sz="2600" b="1" dirty="0">
                <a:solidFill>
                  <a:schemeClr val="accent1"/>
                </a:solidFill>
              </a:rPr>
              <a:t>Tires &amp; Tubes</a:t>
            </a:r>
            <a:endParaRPr lang="en-US" sz="2600" dirty="0"/>
          </a:p>
        </p:txBody>
      </p:sp>
      <p:sp>
        <p:nvSpPr>
          <p:cNvPr id="10" name="Text 7"/>
          <p:cNvSpPr txBox="1"/>
          <p:nvPr/>
        </p:nvSpPr>
        <p:spPr>
          <a:xfrm>
            <a:off x="8001000" y="4117086"/>
            <a:ext cx="3410712" cy="454914"/>
          </a:xfrm>
          <a:prstGeom prst="rect">
            <a:avLst/>
          </a:prstGeom>
          <a:noFill/>
          <a:ln/>
        </p:spPr>
        <p:txBody>
          <a:bodyPr wrap="square" lIns="0" tIns="0" rIns="0" bIns="0" rtlCol="0" anchor="t"/>
          <a:lstStyle/>
          <a:p>
            <a:pPr indent="0" marL="0">
              <a:buNone/>
            </a:pPr>
            <a:r>
              <a:rPr lang="en-US" sz="1400" dirty="0">
                <a:solidFill>
                  <a:schemeClr val="tx1"/>
                </a:solidFill>
              </a:rPr>
              <a:t>most ordered product type</a:t>
            </a:r>
            <a:endParaRPr lang="en-US" sz="1400" dirty="0"/>
          </a:p>
        </p:txBody>
      </p:sp>
      <p:sp>
        <p:nvSpPr>
          <p:cNvPr id="11" name="note-card"/>
          <p:cNvSpPr/>
          <p:nvPr/>
        </p:nvSpPr>
        <p:spPr>
          <a:xfrm>
            <a:off x="7772400" y="4892040"/>
            <a:ext cx="3867912" cy="1325880"/>
          </a:xfrm>
          <a:prstGeom prst="roundRect">
            <a:avLst>
              <a:gd name="adj" fmla="val 8276"/>
            </a:avLst>
          </a:prstGeom>
          <a:solidFill>
            <a:schemeClr val="bg2"/>
          </a:solidFill>
          <a:ln/>
        </p:spPr>
      </p:sp>
      <p:sp>
        <p:nvSpPr>
          <p:cNvPr id="12" name="Text 9"/>
          <p:cNvSpPr txBox="1"/>
          <p:nvPr/>
        </p:nvSpPr>
        <p:spPr>
          <a:xfrm>
            <a:off x="8001000" y="4892040"/>
            <a:ext cx="3410712" cy="1325880"/>
          </a:xfrm>
          <a:prstGeom prst="rect">
            <a:avLst/>
          </a:prstGeom>
          <a:noFill/>
          <a:ln/>
        </p:spPr>
        <p:txBody>
          <a:bodyPr wrap="square" lIns="0" tIns="0" rIns="0" bIns="0" rtlCol="0" anchor="ctr"/>
          <a:lstStyle/>
          <a:p>
            <a:pPr indent="0" marL="0">
              <a:buNone/>
            </a:pPr>
            <a:r>
              <a:rPr lang="en-US" sz="1300" dirty="0">
                <a:solidFill>
                  <a:schemeClr val="tx1"/>
                </a:solidFill>
              </a:rPr>
              <a:t>Category orders add to 37.9K versus 25.2K total orders, because one order can span several categories.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Top sellers by orders earn little revenue</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The 10 most-ordered products bring in ~$0.47M, about 1.9% of the $24.9M total</a:t>
            </a:r>
            <a:endParaRPr lang="en-US" sz="1800" dirty="0"/>
          </a:p>
        </p:txBody>
      </p:sp>
      <p:graphicFrame>
        <p:nvGraphicFramePr>
          <p:cNvPr id="8" name="top-products-table"/>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3200400"/>
                <a:gridCol w="1188720"/>
                <a:gridCol w="1463040"/>
                <a:gridCol w="1463040"/>
              </a:tblGrid>
              <a:tr h="365760">
                <a:tc>
                  <a:txBody>
                    <a:bodyPr/>
                    <a:lstStyle/>
                    <a:p>
                      <a:pPr algn="l" indent="0" marL="0">
                        <a:buNone/>
                      </a:pPr>
                      <a:r>
                        <a:rPr lang="en-US" sz="1400" b="1" dirty="0">
                          <a:solidFill>
                            <a:srgbClr val="FFFFFF"/>
                          </a:solidFill>
                        </a:rPr>
                        <a:t>Product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262626"/>
                    </a:solidFill>
                  </a:tcPr>
                </a:tc>
                <a:tc>
                  <a:txBody>
                    <a:bodyPr/>
                    <a:lstStyle/>
                    <a:p>
                      <a:pPr algn="r" indent="0" marL="0">
                        <a:buNone/>
                      </a:pPr>
                      <a:r>
                        <a:rPr lang="en-US" sz="1400" b="1" dirty="0">
                          <a:solidFill>
                            <a:srgbClr val="FFFFFF"/>
                          </a:solidFill>
                        </a:rPr>
                        <a:t>Orders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262626"/>
                    </a:solidFill>
                  </a:tcPr>
                </a:tc>
                <a:tc>
                  <a:txBody>
                    <a:bodyPr/>
                    <a:lstStyle/>
                    <a:p>
                      <a:pPr algn="r" indent="0" marL="0">
                        <a:buNone/>
                      </a:pPr>
                      <a:r>
                        <a:rPr lang="en-US" sz="1400" b="1" dirty="0">
                          <a:solidFill>
                            <a:srgbClr val="FFFFFF"/>
                          </a:solidFill>
                        </a:rPr>
                        <a:t>Revenue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262626"/>
                    </a:solidFill>
                  </a:tcPr>
                </a:tc>
                <a:tc>
                  <a:txBody>
                    <a:bodyPr/>
                    <a:lstStyle/>
                    <a:p>
                      <a:pPr algn="r" indent="0" marL="0">
                        <a:buNone/>
                      </a:pPr>
                      <a:r>
                        <a:rPr lang="en-US" sz="1400" b="1" dirty="0">
                          <a:solidFill>
                            <a:srgbClr val="FFFFFF"/>
                          </a:solidFill>
                        </a:rPr>
                        <a:t>Return %</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262626"/>
                    </a:solidFill>
                  </a:tcPr>
                </a:tc>
              </a:tr>
              <a:tr h="365760">
                <a:tc>
                  <a:txBody>
                    <a:bodyPr/>
                    <a:lstStyle/>
                    <a:p>
                      <a:pPr algn="l" indent="0" marL="0">
                        <a:buNone/>
                      </a:pPr>
                      <a:r>
                        <a:rPr lang="en-US" sz="1400" b="1" dirty="0">
                          <a:solidFill>
                            <a:srgbClr val="1F1F1F"/>
                          </a:solidFill>
                        </a:rPr>
                        <a:t>Water Bottle - 30 oz.</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3,983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$39,755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1.95%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r>
              <a:tr h="365760">
                <a:tc>
                  <a:txBody>
                    <a:bodyPr/>
                    <a:lstStyle/>
                    <a:p>
                      <a:pPr algn="l" indent="0" marL="0">
                        <a:buNone/>
                      </a:pPr>
                      <a:r>
                        <a:rPr lang="en-US" sz="1400" b="1" dirty="0">
                          <a:solidFill>
                            <a:srgbClr val="1F1F1F"/>
                          </a:solidFill>
                        </a:rPr>
                        <a:t>Patch Kit/8 Patches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2,952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$13,506</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1.61%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400" b="1" dirty="0">
                          <a:solidFill>
                            <a:srgbClr val="1F1F1F"/>
                          </a:solidFill>
                        </a:rPr>
                        <a:t>Mountain Tire Tube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2,846</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$28,333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1.64%</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r>
              <a:tr h="365760">
                <a:tc>
                  <a:txBody>
                    <a:bodyPr/>
                    <a:lstStyle/>
                    <a:p>
                      <a:pPr algn="l" indent="0" marL="0">
                        <a:buNone/>
                      </a:pPr>
                      <a:r>
                        <a:rPr lang="en-US" sz="1400" b="1" dirty="0">
                          <a:solidFill>
                            <a:srgbClr val="1F1F1F"/>
                          </a:solidFill>
                        </a:rPr>
                        <a:t>Road Tire Tube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2,173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$17,265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1.55%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400" b="1" dirty="0">
                          <a:solidFill>
                            <a:srgbClr val="1F1F1F"/>
                          </a:solidFill>
                        </a:rPr>
                        <a:t>Sport-100 Helmet, Red</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2,099</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$73,444</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b="1" dirty="0">
                          <a:solidFill>
                            <a:srgbClr val="FFFFFF"/>
                          </a:solidFill>
                        </a:rPr>
                        <a:t>3.33%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D64550"/>
                    </a:solidFill>
                  </a:tcPr>
                </a:tc>
              </a:tr>
              <a:tr h="365760">
                <a:tc>
                  <a:txBody>
                    <a:bodyPr/>
                    <a:lstStyle/>
                    <a:p>
                      <a:pPr algn="l" indent="0" marL="0">
                        <a:buNone/>
                      </a:pPr>
                      <a:r>
                        <a:rPr lang="en-US" sz="1400" b="1" dirty="0">
                          <a:solidFill>
                            <a:srgbClr val="1F1F1F"/>
                          </a:solidFill>
                        </a:rPr>
                        <a:t>AWC Logo Cap</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2,062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$35,882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1.11%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400" b="1" dirty="0">
                          <a:solidFill>
                            <a:srgbClr val="1F1F1F"/>
                          </a:solidFill>
                        </a:rPr>
                        <a:t>Sport-100 Helmet, Blue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1,995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$67,120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b="1" dirty="0">
                          <a:solidFill>
                            <a:srgbClr val="FFFFFF"/>
                          </a:solidFill>
                        </a:rPr>
                        <a:t>3.31%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D64550"/>
                    </a:solidFill>
                  </a:tcPr>
                </a:tc>
              </a:tr>
              <a:tr h="365760">
                <a:tc>
                  <a:txBody>
                    <a:bodyPr/>
                    <a:lstStyle/>
                    <a:p>
                      <a:pPr algn="l" indent="0" marL="0">
                        <a:buNone/>
                      </a:pPr>
                      <a:r>
                        <a:rPr lang="en-US" sz="1400" b="1" dirty="0">
                          <a:solidFill>
                            <a:srgbClr val="1F1F1F"/>
                          </a:solidFill>
                        </a:rPr>
                        <a:t>Fender Set - Mountain</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1,975</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$87,041</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1.36%</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algn="l" indent="0" marL="0">
                        <a:buNone/>
                      </a:pPr>
                      <a:r>
                        <a:rPr lang="en-US" sz="1400" b="1" dirty="0">
                          <a:solidFill>
                            <a:srgbClr val="1F1F1F"/>
                          </a:solidFill>
                        </a:rPr>
                        <a:t>Sport-100 Helmet, Black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1,940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dirty="0">
                          <a:solidFill>
                            <a:srgbClr val="1F1F1F"/>
                          </a:solidFill>
                        </a:rPr>
                        <a:t>$65,270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E6F5F4"/>
                    </a:solidFill>
                  </a:tcPr>
                </a:tc>
                <a:tc>
                  <a:txBody>
                    <a:bodyPr/>
                    <a:lstStyle/>
                    <a:p>
                      <a:pPr algn="r" indent="0" marL="0">
                        <a:buNone/>
                      </a:pPr>
                      <a:r>
                        <a:rPr lang="en-US" sz="1400" b="1" dirty="0">
                          <a:solidFill>
                            <a:srgbClr val="FFFFFF"/>
                          </a:solidFill>
                        </a:rPr>
                        <a:t>2.68%</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D64550"/>
                    </a:solidFill>
                  </a:tcPr>
                </a:tc>
              </a:tr>
              <a:tr h="365760">
                <a:tc>
                  <a:txBody>
                    <a:bodyPr/>
                    <a:lstStyle/>
                    <a:p>
                      <a:pPr algn="l" indent="0" marL="0">
                        <a:buNone/>
                      </a:pPr>
                      <a:r>
                        <a:rPr lang="en-US" sz="1400" b="1" dirty="0">
                          <a:solidFill>
                            <a:srgbClr val="1F1F1F"/>
                          </a:solidFill>
                        </a:rPr>
                        <a:t>Mountain Bottle Cage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1,896</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$38,062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400" dirty="0">
                          <a:solidFill>
                            <a:srgbClr val="1F1F1F"/>
                          </a:solidFill>
                        </a:rPr>
                        <a:t>2.02%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100" dirty="0">
                <a:solidFill>
                  <a:schemeClr val="tx1"/>
                </a:solidFill>
              </a:rPr>
              <a:t>Red = return rate above the 2.2% company average. Revenue rounded to the nearest dollar.</a:t>
            </a:r>
            <a:endParaRPr lang="en-US" sz="1100" dirty="0"/>
          </a:p>
        </p:txBody>
      </p:sp>
      <p:sp>
        <p:nvSpPr>
          <p:cNvPr id="6" name="stat-card"/>
          <p:cNvSpPr/>
          <p:nvPr/>
        </p:nvSpPr>
        <p:spPr>
          <a:xfrm>
            <a:off x="8183880" y="1783080"/>
            <a:ext cx="3456432" cy="1325880"/>
          </a:xfrm>
          <a:prstGeom prst="roundRect">
            <a:avLst>
              <a:gd name="adj" fmla="val 8276"/>
            </a:avLst>
          </a:prstGeom>
          <a:solidFill>
            <a:schemeClr val="accent5"/>
          </a:solidFill>
          <a:ln/>
        </p:spPr>
      </p:sp>
      <p:sp>
        <p:nvSpPr>
          <p:cNvPr id="7" name="Text 4"/>
          <p:cNvSpPr txBox="1"/>
          <p:nvPr/>
        </p:nvSpPr>
        <p:spPr>
          <a:xfrm>
            <a:off x="8412480" y="1947672"/>
            <a:ext cx="2999232" cy="596646"/>
          </a:xfrm>
          <a:prstGeom prst="rect">
            <a:avLst/>
          </a:prstGeom>
          <a:noFill/>
          <a:ln/>
        </p:spPr>
        <p:txBody>
          <a:bodyPr wrap="square" lIns="0" tIns="0" rIns="0" bIns="0" rtlCol="0" anchor="ctr"/>
          <a:lstStyle/>
          <a:p>
            <a:pPr indent="0" marL="0">
              <a:buNone/>
            </a:pPr>
            <a:r>
              <a:rPr lang="en-US" sz="3200" b="1" dirty="0">
                <a:solidFill>
                  <a:schemeClr val="accent2"/>
                </a:solidFill>
              </a:rPr>
              <a:t>1.9%</a:t>
            </a:r>
            <a:endParaRPr lang="en-US" sz="3200" dirty="0"/>
          </a:p>
        </p:txBody>
      </p:sp>
      <p:sp>
        <p:nvSpPr>
          <p:cNvPr id="8" name="Text 5"/>
          <p:cNvSpPr txBox="1"/>
          <p:nvPr/>
        </p:nvSpPr>
        <p:spPr>
          <a:xfrm>
            <a:off x="8412480" y="2562606"/>
            <a:ext cx="2999232" cy="454914"/>
          </a:xfrm>
          <a:prstGeom prst="rect">
            <a:avLst/>
          </a:prstGeom>
          <a:noFill/>
          <a:ln/>
        </p:spPr>
        <p:txBody>
          <a:bodyPr wrap="square" lIns="0" tIns="0" rIns="0" bIns="0" rtlCol="0" anchor="t"/>
          <a:lstStyle/>
          <a:p>
            <a:pPr indent="0" marL="0">
              <a:buNone/>
            </a:pPr>
            <a:r>
              <a:rPr lang="en-US" sz="1400" dirty="0">
                <a:solidFill>
                  <a:schemeClr val="bg1"/>
                </a:solidFill>
              </a:rPr>
              <a:t>of total revenue from the 10 most-ordered products</a:t>
            </a:r>
            <a:endParaRPr lang="en-US" sz="1400" dirty="0"/>
          </a:p>
        </p:txBody>
      </p:sp>
      <p:sp>
        <p:nvSpPr>
          <p:cNvPr id="9" name="stat-card"/>
          <p:cNvSpPr/>
          <p:nvPr/>
        </p:nvSpPr>
        <p:spPr>
          <a:xfrm>
            <a:off x="8183880" y="3337560"/>
            <a:ext cx="3456432" cy="1325880"/>
          </a:xfrm>
          <a:prstGeom prst="roundRect">
            <a:avLst>
              <a:gd name="adj" fmla="val 8276"/>
            </a:avLst>
          </a:prstGeom>
          <a:solidFill>
            <a:schemeClr val="bg2"/>
          </a:solidFill>
          <a:ln/>
        </p:spPr>
      </p:sp>
      <p:sp>
        <p:nvSpPr>
          <p:cNvPr id="10" name="Text 7"/>
          <p:cNvSpPr txBox="1"/>
          <p:nvPr/>
        </p:nvSpPr>
        <p:spPr>
          <a:xfrm>
            <a:off x="8412480" y="3502152"/>
            <a:ext cx="2999232" cy="596646"/>
          </a:xfrm>
          <a:prstGeom prst="rect">
            <a:avLst/>
          </a:prstGeom>
          <a:noFill/>
          <a:ln/>
        </p:spPr>
        <p:txBody>
          <a:bodyPr wrap="square" lIns="0" tIns="0" rIns="0" bIns="0" rtlCol="0" anchor="ctr"/>
          <a:lstStyle/>
          <a:p>
            <a:pPr indent="0" marL="0">
              <a:buNone/>
            </a:pPr>
            <a:r>
              <a:rPr lang="en-US" sz="3200" b="1" dirty="0">
                <a:solidFill>
                  <a:schemeClr val="accent1"/>
                </a:solidFill>
              </a:rPr>
              <a:t>$87K</a:t>
            </a:r>
            <a:endParaRPr lang="en-US" sz="3200" dirty="0"/>
          </a:p>
        </p:txBody>
      </p:sp>
      <p:sp>
        <p:nvSpPr>
          <p:cNvPr id="11" name="Text 8"/>
          <p:cNvSpPr txBox="1"/>
          <p:nvPr/>
        </p:nvSpPr>
        <p:spPr>
          <a:xfrm>
            <a:off x="8412480" y="4117086"/>
            <a:ext cx="2999232" cy="454914"/>
          </a:xfrm>
          <a:prstGeom prst="rect">
            <a:avLst/>
          </a:prstGeom>
          <a:noFill/>
          <a:ln/>
        </p:spPr>
        <p:txBody>
          <a:bodyPr wrap="square" lIns="0" tIns="0" rIns="0" bIns="0" rtlCol="0" anchor="t"/>
          <a:lstStyle/>
          <a:p>
            <a:pPr indent="0" marL="0">
              <a:buNone/>
            </a:pPr>
            <a:r>
              <a:rPr lang="en-US" sz="1400" dirty="0">
                <a:solidFill>
                  <a:schemeClr val="tx1"/>
                </a:solidFill>
              </a:rPr>
              <a:t>Fender Set - Mountain: top revenue in this list</a:t>
            </a:r>
            <a:endParaRPr lang="en-US" sz="1400" dirty="0"/>
          </a:p>
        </p:txBody>
      </p:sp>
      <p:sp>
        <p:nvSpPr>
          <p:cNvPr id="12" name="stat-card"/>
          <p:cNvSpPr/>
          <p:nvPr/>
        </p:nvSpPr>
        <p:spPr>
          <a:xfrm>
            <a:off x="8183880" y="4892040"/>
            <a:ext cx="3456432" cy="1325880"/>
          </a:xfrm>
          <a:prstGeom prst="roundRect">
            <a:avLst>
              <a:gd name="adj" fmla="val 8276"/>
            </a:avLst>
          </a:prstGeom>
          <a:solidFill>
            <a:schemeClr val="bg2"/>
          </a:solidFill>
          <a:ln/>
        </p:spPr>
      </p:sp>
      <p:sp>
        <p:nvSpPr>
          <p:cNvPr id="13" name="Text 10"/>
          <p:cNvSpPr txBox="1"/>
          <p:nvPr/>
        </p:nvSpPr>
        <p:spPr>
          <a:xfrm>
            <a:off x="8412480" y="5056632"/>
            <a:ext cx="2999232" cy="596646"/>
          </a:xfrm>
          <a:prstGeom prst="rect">
            <a:avLst/>
          </a:prstGeom>
          <a:noFill/>
          <a:ln/>
        </p:spPr>
        <p:txBody>
          <a:bodyPr wrap="square" lIns="0" tIns="0" rIns="0" bIns="0" rtlCol="0" anchor="ctr"/>
          <a:lstStyle/>
          <a:p>
            <a:pPr indent="0" marL="0">
              <a:buNone/>
            </a:pPr>
            <a:r>
              <a:rPr lang="en-US" sz="3200" b="1" dirty="0">
                <a:solidFill>
                  <a:schemeClr val="accent1"/>
                </a:solidFill>
              </a:rPr>
              <a:t>3 of 10</a:t>
            </a:r>
            <a:endParaRPr lang="en-US" sz="3200" dirty="0"/>
          </a:p>
        </p:txBody>
      </p:sp>
      <p:sp>
        <p:nvSpPr>
          <p:cNvPr id="14" name="Text 11"/>
          <p:cNvSpPr txBox="1"/>
          <p:nvPr/>
        </p:nvSpPr>
        <p:spPr>
          <a:xfrm>
            <a:off x="8412480" y="5671566"/>
            <a:ext cx="2999232" cy="454914"/>
          </a:xfrm>
          <a:prstGeom prst="rect">
            <a:avLst/>
          </a:prstGeom>
          <a:noFill/>
          <a:ln/>
        </p:spPr>
        <p:txBody>
          <a:bodyPr wrap="square" lIns="0" tIns="0" rIns="0" bIns="0" rtlCol="0" anchor="t"/>
          <a:lstStyle/>
          <a:p>
            <a:pPr indent="0" marL="0">
              <a:buNone/>
            </a:pPr>
            <a:r>
              <a:rPr lang="en-US" sz="1400" dirty="0">
                <a:solidFill>
                  <a:schemeClr val="tx1"/>
                </a:solidFill>
              </a:rPr>
              <a:t>top sellers are Sport-100 helmets, all above-average returns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Helmets are the returns hotspot</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All three Sport-100 helmets return above the 2.2% average; shorts are the most returned product type</a:t>
            </a:r>
            <a:endParaRPr lang="en-US" sz="1800" dirty="0"/>
          </a:p>
        </p:txBody>
      </p:sp>
      <p:graphicFrame>
        <p:nvGraphicFramePr>
          <p:cNvPr id="4" name="Chart 0" descr=""/>
          <p:cNvGraphicFramePr/>
          <p:nvPr/>
        </p:nvGraphicFramePr>
        <p:xfrm>
          <a:off x="548640" y="178308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5" name="stat-card"/>
          <p:cNvSpPr/>
          <p:nvPr/>
        </p:nvSpPr>
        <p:spPr>
          <a:xfrm>
            <a:off x="8138160" y="1783080"/>
            <a:ext cx="3502152" cy="1325880"/>
          </a:xfrm>
          <a:prstGeom prst="roundRect">
            <a:avLst>
              <a:gd name="adj" fmla="val 8276"/>
            </a:avLst>
          </a:prstGeom>
          <a:solidFill>
            <a:schemeClr val="accent5"/>
          </a:solidFill>
          <a:ln/>
        </p:spPr>
      </p:sp>
      <p:sp>
        <p:nvSpPr>
          <p:cNvPr id="6" name="Text 3"/>
          <p:cNvSpPr txBox="1"/>
          <p:nvPr/>
        </p:nvSpPr>
        <p:spPr>
          <a:xfrm>
            <a:off x="8366760" y="1947672"/>
            <a:ext cx="3044952" cy="596646"/>
          </a:xfrm>
          <a:prstGeom prst="rect">
            <a:avLst/>
          </a:prstGeom>
          <a:noFill/>
          <a:ln/>
        </p:spPr>
        <p:txBody>
          <a:bodyPr wrap="square" lIns="0" tIns="0" rIns="0" bIns="0" rtlCol="0" anchor="ctr"/>
          <a:lstStyle/>
          <a:p>
            <a:pPr indent="0" marL="0">
              <a:buNone/>
            </a:pPr>
            <a:r>
              <a:rPr lang="en-US" sz="3200" b="1" dirty="0">
                <a:solidFill>
                  <a:schemeClr val="accent2"/>
                </a:solidFill>
              </a:rPr>
              <a:t>2.2%</a:t>
            </a:r>
            <a:endParaRPr lang="en-US" sz="3200" dirty="0"/>
          </a:p>
        </p:txBody>
      </p:sp>
      <p:sp>
        <p:nvSpPr>
          <p:cNvPr id="7" name="Text 4"/>
          <p:cNvSpPr txBox="1"/>
          <p:nvPr/>
        </p:nvSpPr>
        <p:spPr>
          <a:xfrm>
            <a:off x="8366760" y="2562606"/>
            <a:ext cx="3044952" cy="454914"/>
          </a:xfrm>
          <a:prstGeom prst="rect">
            <a:avLst/>
          </a:prstGeom>
          <a:noFill/>
          <a:ln/>
        </p:spPr>
        <p:txBody>
          <a:bodyPr wrap="square" lIns="0" tIns="0" rIns="0" bIns="0" rtlCol="0" anchor="t"/>
          <a:lstStyle/>
          <a:p>
            <a:pPr indent="0" marL="0">
              <a:buNone/>
            </a:pPr>
            <a:r>
              <a:rPr lang="en-US" sz="1400" dirty="0">
                <a:solidFill>
                  <a:schemeClr val="bg1"/>
                </a:solidFill>
              </a:rPr>
              <a:t>company-wide return rate (benchmark)</a:t>
            </a:r>
            <a:endParaRPr lang="en-US" sz="1400" dirty="0"/>
          </a:p>
        </p:txBody>
      </p:sp>
      <p:sp>
        <p:nvSpPr>
          <p:cNvPr id="8" name="stat-card"/>
          <p:cNvSpPr/>
          <p:nvPr/>
        </p:nvSpPr>
        <p:spPr>
          <a:xfrm>
            <a:off x="8138160" y="3337560"/>
            <a:ext cx="3502152" cy="1325880"/>
          </a:xfrm>
          <a:prstGeom prst="roundRect">
            <a:avLst>
              <a:gd name="adj" fmla="val 8276"/>
            </a:avLst>
          </a:prstGeom>
          <a:solidFill>
            <a:schemeClr val="bg2"/>
          </a:solidFill>
          <a:ln/>
        </p:spPr>
      </p:sp>
      <p:sp>
        <p:nvSpPr>
          <p:cNvPr id="9" name="Text 6"/>
          <p:cNvSpPr txBox="1"/>
          <p:nvPr/>
        </p:nvSpPr>
        <p:spPr>
          <a:xfrm>
            <a:off x="8366760" y="3502152"/>
            <a:ext cx="3044952" cy="596646"/>
          </a:xfrm>
          <a:prstGeom prst="rect">
            <a:avLst/>
          </a:prstGeom>
          <a:noFill/>
          <a:ln/>
        </p:spPr>
        <p:txBody>
          <a:bodyPr wrap="square" lIns="0" tIns="0" rIns="0" bIns="0" rtlCol="0" anchor="ctr"/>
          <a:lstStyle/>
          <a:p>
            <a:pPr indent="0" marL="0">
              <a:buNone/>
            </a:pPr>
            <a:r>
              <a:rPr lang="en-US" sz="3200" b="1" dirty="0">
                <a:solidFill>
                  <a:schemeClr val="accent1"/>
                </a:solidFill>
              </a:rPr>
              <a:t>+1.1 pts</a:t>
            </a:r>
            <a:endParaRPr lang="en-US" sz="3200" dirty="0"/>
          </a:p>
        </p:txBody>
      </p:sp>
      <p:sp>
        <p:nvSpPr>
          <p:cNvPr id="10" name="Text 7"/>
          <p:cNvSpPr txBox="1"/>
          <p:nvPr/>
        </p:nvSpPr>
        <p:spPr>
          <a:xfrm>
            <a:off x="8366760" y="4117086"/>
            <a:ext cx="3044952" cy="454914"/>
          </a:xfrm>
          <a:prstGeom prst="rect">
            <a:avLst/>
          </a:prstGeom>
          <a:noFill/>
          <a:ln/>
        </p:spPr>
        <p:txBody>
          <a:bodyPr wrap="square" lIns="0" tIns="0" rIns="0" bIns="0" rtlCol="0" anchor="t"/>
          <a:lstStyle/>
          <a:p>
            <a:pPr indent="0" marL="0">
              <a:buNone/>
            </a:pPr>
            <a:r>
              <a:rPr lang="en-US" sz="1400" dirty="0">
                <a:solidFill>
                  <a:schemeClr val="tx1"/>
                </a:solidFill>
              </a:rPr>
              <a:t>Sport-100 Helmet, Red above the average</a:t>
            </a:r>
            <a:endParaRPr lang="en-US" sz="1400" dirty="0"/>
          </a:p>
        </p:txBody>
      </p:sp>
      <p:sp>
        <p:nvSpPr>
          <p:cNvPr id="11" name="stat-card"/>
          <p:cNvSpPr/>
          <p:nvPr/>
        </p:nvSpPr>
        <p:spPr>
          <a:xfrm>
            <a:off x="8138160" y="4892040"/>
            <a:ext cx="3502152" cy="1325880"/>
          </a:xfrm>
          <a:prstGeom prst="roundRect">
            <a:avLst>
              <a:gd name="adj" fmla="val 8276"/>
            </a:avLst>
          </a:prstGeom>
          <a:solidFill>
            <a:schemeClr val="bg2"/>
          </a:solidFill>
          <a:ln/>
        </p:spPr>
      </p:sp>
      <p:sp>
        <p:nvSpPr>
          <p:cNvPr id="12" name="Text 9"/>
          <p:cNvSpPr txBox="1"/>
          <p:nvPr/>
        </p:nvSpPr>
        <p:spPr>
          <a:xfrm>
            <a:off x="8366760" y="5056632"/>
            <a:ext cx="3044952" cy="596646"/>
          </a:xfrm>
          <a:prstGeom prst="rect">
            <a:avLst/>
          </a:prstGeom>
          <a:noFill/>
          <a:ln/>
        </p:spPr>
        <p:txBody>
          <a:bodyPr wrap="square" lIns="0" tIns="0" rIns="0" bIns="0" rtlCol="0" anchor="ctr"/>
          <a:lstStyle/>
          <a:p>
            <a:pPr indent="0" marL="0">
              <a:buNone/>
            </a:pPr>
            <a:r>
              <a:rPr lang="en-US" sz="3000" b="1" dirty="0">
                <a:solidFill>
                  <a:schemeClr val="accent1"/>
                </a:solidFill>
              </a:rPr>
              <a:t>Shorts</a:t>
            </a:r>
            <a:endParaRPr lang="en-US" sz="3000" dirty="0"/>
          </a:p>
        </p:txBody>
      </p:sp>
      <p:sp>
        <p:nvSpPr>
          <p:cNvPr id="13" name="Text 10"/>
          <p:cNvSpPr txBox="1"/>
          <p:nvPr/>
        </p:nvSpPr>
        <p:spPr>
          <a:xfrm>
            <a:off x="8366760" y="5671566"/>
            <a:ext cx="3044952" cy="454914"/>
          </a:xfrm>
          <a:prstGeom prst="rect">
            <a:avLst/>
          </a:prstGeom>
          <a:noFill/>
          <a:ln/>
        </p:spPr>
        <p:txBody>
          <a:bodyPr wrap="square" lIns="0" tIns="0" rIns="0" bIns="0" rtlCol="0" anchor="t"/>
          <a:lstStyle/>
          <a:p>
            <a:pPr indent="0" marL="0">
              <a:buNone/>
            </a:pPr>
            <a:r>
              <a:rPr lang="en-US" sz="1400" dirty="0">
                <a:solidFill>
                  <a:schemeClr val="tx1"/>
                </a:solidFill>
              </a:rPr>
              <a:t>most returned product type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Six markets, led by the US and Australia</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Sales span North America, Europe and the Pacific, but European bubbles are the smallest</a:t>
            </a:r>
            <a:endParaRPr lang="en-US" sz="1800" dirty="0"/>
          </a:p>
        </p:txBody>
      </p:sp>
      <p:pic>
        <p:nvPicPr>
          <p:cNvPr id="4" name="Image 0" descr="Map of AdventureWorks markets: United States, Canada, United Kingdom, Germany, France and Australia">    </p:cNvPr>
          <p:cNvPicPr>
            <a:picLocks noChangeAspect="1"/>
          </p:cNvPicPr>
          <p:nvPr/>
        </p:nvPicPr>
        <p:blipFill>
          <a:blip r:embed="rId1"/>
          <a:stretch>
            <a:fillRect/>
          </a:stretch>
        </p:blipFill>
        <p:spPr>
          <a:xfrm>
            <a:off x="548640" y="1783080"/>
            <a:ext cx="7223760" cy="3145536"/>
          </a:xfrm>
          <a:prstGeom prst="rect">
            <a:avLst/>
          </a:prstGeom>
        </p:spPr>
      </p:pic>
      <p:sp>
        <p:nvSpPr>
          <p:cNvPr id="5" name="Text 2"/>
          <p:cNvSpPr txBox="1"/>
          <p:nvPr/>
        </p:nvSpPr>
        <p:spPr>
          <a:xfrm>
            <a:off x="548640" y="4983480"/>
            <a:ext cx="7223760" cy="274320"/>
          </a:xfrm>
          <a:prstGeom prst="rect">
            <a:avLst/>
          </a:prstGeom>
          <a:noFill/>
          <a:ln/>
        </p:spPr>
        <p:txBody>
          <a:bodyPr wrap="square" lIns="0" tIns="0" rIns="0" bIns="0" rtlCol="0" anchor="t"/>
          <a:lstStyle/>
          <a:p>
            <a:pPr indent="0" marL="0">
              <a:buNone/>
            </a:pPr>
            <a:r>
              <a:rPr lang="en-US" sz="1100" dirty="0">
                <a:solidFill>
                  <a:schemeClr val="tx1"/>
                </a:solidFill>
              </a:rPr>
              <a:t>Source: AdventureWorks dashboard, Map page.</a:t>
            </a:r>
            <a:endParaRPr lang="en-US" sz="1100" dirty="0"/>
          </a:p>
        </p:txBody>
      </p:sp>
      <p:sp>
        <p:nvSpPr>
          <p:cNvPr id="6" name="note-card"/>
          <p:cNvSpPr/>
          <p:nvPr/>
        </p:nvSpPr>
        <p:spPr>
          <a:xfrm>
            <a:off x="548640" y="5349240"/>
            <a:ext cx="7223760" cy="868680"/>
          </a:xfrm>
          <a:prstGeom prst="roundRect">
            <a:avLst>
              <a:gd name="adj" fmla="val 12632"/>
            </a:avLst>
          </a:prstGeom>
          <a:solidFill>
            <a:schemeClr val="bg2"/>
          </a:solidFill>
          <a:ln/>
        </p:spPr>
      </p:sp>
      <p:sp>
        <p:nvSpPr>
          <p:cNvPr id="7" name="Text 4"/>
          <p:cNvSpPr txBox="1"/>
          <p:nvPr/>
        </p:nvSpPr>
        <p:spPr>
          <a:xfrm>
            <a:off x="777240" y="5349240"/>
            <a:ext cx="6766560" cy="868680"/>
          </a:xfrm>
          <a:prstGeom prst="rect">
            <a:avLst/>
          </a:prstGeom>
          <a:noFill/>
          <a:ln/>
        </p:spPr>
        <p:txBody>
          <a:bodyPr wrap="square" lIns="0" tIns="0" rIns="0" bIns="0" rtlCol="0" anchor="ctr"/>
          <a:lstStyle/>
          <a:p>
            <a:pPr indent="0" marL="0">
              <a:buNone/>
            </a:pPr>
            <a:r>
              <a:rPr lang="en-US" sz="1400" dirty="0">
                <a:solidFill>
                  <a:schemeClr val="tx1"/>
                </a:solidFill>
              </a:rPr>
              <a:t>The dashboard does not label what bubble size measures, so confirm the metric before using this for planning.</a:t>
            </a:r>
            <a:endParaRPr lang="en-US" sz="1400" dirty="0"/>
          </a:p>
        </p:txBody>
      </p:sp>
      <p:sp>
        <p:nvSpPr>
          <p:cNvPr id="8" name="stat-card"/>
          <p:cNvSpPr/>
          <p:nvPr/>
        </p:nvSpPr>
        <p:spPr>
          <a:xfrm>
            <a:off x="8138160" y="1783080"/>
            <a:ext cx="3502152" cy="1325880"/>
          </a:xfrm>
          <a:prstGeom prst="roundRect">
            <a:avLst>
              <a:gd name="adj" fmla="val 8276"/>
            </a:avLst>
          </a:prstGeom>
          <a:solidFill>
            <a:schemeClr val="accent5"/>
          </a:solidFill>
          <a:ln/>
        </p:spPr>
      </p:sp>
      <p:sp>
        <p:nvSpPr>
          <p:cNvPr id="9" name="Text 6"/>
          <p:cNvSpPr txBox="1"/>
          <p:nvPr/>
        </p:nvSpPr>
        <p:spPr>
          <a:xfrm>
            <a:off x="8366760" y="1947672"/>
            <a:ext cx="3044952" cy="596646"/>
          </a:xfrm>
          <a:prstGeom prst="rect">
            <a:avLst/>
          </a:prstGeom>
          <a:noFill/>
          <a:ln/>
        </p:spPr>
        <p:txBody>
          <a:bodyPr wrap="square" lIns="0" tIns="0" rIns="0" bIns="0" rtlCol="0" anchor="ctr"/>
          <a:lstStyle/>
          <a:p>
            <a:pPr indent="0" marL="0">
              <a:buNone/>
            </a:pPr>
            <a:r>
              <a:rPr lang="en-US" sz="2800" b="1" dirty="0">
                <a:solidFill>
                  <a:schemeClr val="accent2"/>
                </a:solidFill>
              </a:rPr>
              <a:t>6 countries</a:t>
            </a:r>
            <a:endParaRPr lang="en-US" sz="2800" dirty="0"/>
          </a:p>
        </p:txBody>
      </p:sp>
      <p:sp>
        <p:nvSpPr>
          <p:cNvPr id="10" name="Text 7"/>
          <p:cNvSpPr txBox="1"/>
          <p:nvPr/>
        </p:nvSpPr>
        <p:spPr>
          <a:xfrm>
            <a:off x="8366760" y="2562606"/>
            <a:ext cx="3044952" cy="454914"/>
          </a:xfrm>
          <a:prstGeom prst="rect">
            <a:avLst/>
          </a:prstGeom>
          <a:noFill/>
          <a:ln/>
        </p:spPr>
        <p:txBody>
          <a:bodyPr wrap="square" lIns="0" tIns="0" rIns="0" bIns="0" rtlCol="0" anchor="t"/>
          <a:lstStyle/>
          <a:p>
            <a:pPr indent="0" marL="0">
              <a:buNone/>
            </a:pPr>
            <a:r>
              <a:rPr lang="en-US" sz="1400" dirty="0">
                <a:solidFill>
                  <a:schemeClr val="bg1"/>
                </a:solidFill>
              </a:rPr>
              <a:t>across 3 regions</a:t>
            </a:r>
            <a:endParaRPr lang="en-US" sz="1400" dirty="0"/>
          </a:p>
        </p:txBody>
      </p:sp>
      <p:sp>
        <p:nvSpPr>
          <p:cNvPr id="11" name="stat-card"/>
          <p:cNvSpPr/>
          <p:nvPr/>
        </p:nvSpPr>
        <p:spPr>
          <a:xfrm>
            <a:off x="8138160" y="3337560"/>
            <a:ext cx="3502152" cy="1325880"/>
          </a:xfrm>
          <a:prstGeom prst="roundRect">
            <a:avLst>
              <a:gd name="adj" fmla="val 8276"/>
            </a:avLst>
          </a:prstGeom>
          <a:solidFill>
            <a:schemeClr val="bg2"/>
          </a:solidFill>
          <a:ln/>
        </p:spPr>
      </p:sp>
      <p:sp>
        <p:nvSpPr>
          <p:cNvPr id="12" name="Text 9"/>
          <p:cNvSpPr txBox="1"/>
          <p:nvPr/>
        </p:nvSpPr>
        <p:spPr>
          <a:xfrm>
            <a:off x="8366760" y="3502152"/>
            <a:ext cx="3044952" cy="596646"/>
          </a:xfrm>
          <a:prstGeom prst="rect">
            <a:avLst/>
          </a:prstGeom>
          <a:noFill/>
          <a:ln/>
        </p:spPr>
        <p:txBody>
          <a:bodyPr wrap="square" lIns="0" tIns="0" rIns="0" bIns="0" rtlCol="0" anchor="ctr"/>
          <a:lstStyle/>
          <a:p>
            <a:pPr indent="0" marL="0">
              <a:buNone/>
            </a:pPr>
            <a:r>
              <a:rPr lang="en-US" sz="2600" b="1" dirty="0">
                <a:solidFill>
                  <a:schemeClr val="accent1"/>
                </a:solidFill>
              </a:rPr>
              <a:t>US + Australia</a:t>
            </a:r>
            <a:endParaRPr lang="en-US" sz="2600" dirty="0"/>
          </a:p>
        </p:txBody>
      </p:sp>
      <p:sp>
        <p:nvSpPr>
          <p:cNvPr id="13" name="Text 10"/>
          <p:cNvSpPr txBox="1"/>
          <p:nvPr/>
        </p:nvSpPr>
        <p:spPr>
          <a:xfrm>
            <a:off x="8366760" y="4117086"/>
            <a:ext cx="3044952" cy="454914"/>
          </a:xfrm>
          <a:prstGeom prst="rect">
            <a:avLst/>
          </a:prstGeom>
          <a:noFill/>
          <a:ln/>
        </p:spPr>
        <p:txBody>
          <a:bodyPr wrap="square" lIns="0" tIns="0" rIns="0" bIns="0" rtlCol="0" anchor="t"/>
          <a:lstStyle/>
          <a:p>
            <a:pPr indent="0" marL="0">
              <a:buNone/>
            </a:pPr>
            <a:r>
              <a:rPr lang="en-US" sz="1400" dirty="0">
                <a:solidFill>
                  <a:schemeClr val="tx1"/>
                </a:solidFill>
              </a:rPr>
              <a:t>largest bubbles on the map</a:t>
            </a:r>
            <a:endParaRPr lang="en-US" sz="1400" dirty="0"/>
          </a:p>
        </p:txBody>
      </p:sp>
      <p:sp>
        <p:nvSpPr>
          <p:cNvPr id="14" name="stat-card"/>
          <p:cNvSpPr/>
          <p:nvPr/>
        </p:nvSpPr>
        <p:spPr>
          <a:xfrm>
            <a:off x="8138160" y="4892040"/>
            <a:ext cx="3502152" cy="1325880"/>
          </a:xfrm>
          <a:prstGeom prst="roundRect">
            <a:avLst>
              <a:gd name="adj" fmla="val 8276"/>
            </a:avLst>
          </a:prstGeom>
          <a:solidFill>
            <a:schemeClr val="bg2"/>
          </a:solidFill>
          <a:ln/>
        </p:spPr>
      </p:sp>
      <p:sp>
        <p:nvSpPr>
          <p:cNvPr id="15" name="Text 12"/>
          <p:cNvSpPr txBox="1"/>
          <p:nvPr/>
        </p:nvSpPr>
        <p:spPr>
          <a:xfrm>
            <a:off x="8366760" y="5056632"/>
            <a:ext cx="3044952" cy="596646"/>
          </a:xfrm>
          <a:prstGeom prst="rect">
            <a:avLst/>
          </a:prstGeom>
          <a:noFill/>
          <a:ln/>
        </p:spPr>
        <p:txBody>
          <a:bodyPr wrap="square" lIns="0" tIns="0" rIns="0" bIns="0" rtlCol="0" anchor="ctr"/>
          <a:lstStyle/>
          <a:p>
            <a:pPr indent="0" marL="0">
              <a:buNone/>
            </a:pPr>
            <a:r>
              <a:rPr lang="en-US" sz="2800" b="1" dirty="0">
                <a:solidFill>
                  <a:schemeClr val="accent1"/>
                </a:solidFill>
              </a:rPr>
              <a:t>Europe</a:t>
            </a:r>
            <a:endParaRPr lang="en-US" sz="2800" dirty="0"/>
          </a:p>
        </p:txBody>
      </p:sp>
      <p:sp>
        <p:nvSpPr>
          <p:cNvPr id="16" name="Text 13"/>
          <p:cNvSpPr txBox="1"/>
          <p:nvPr/>
        </p:nvSpPr>
        <p:spPr>
          <a:xfrm>
            <a:off x="8366760" y="5671566"/>
            <a:ext cx="3044952" cy="454914"/>
          </a:xfrm>
          <a:prstGeom prst="rect">
            <a:avLst/>
          </a:prstGeom>
          <a:noFill/>
          <a:ln/>
        </p:spPr>
        <p:txBody>
          <a:bodyPr wrap="square" lIns="0" tIns="0" rIns="0" bIns="0" rtlCol="0" anchor="t"/>
          <a:lstStyle/>
          <a:p>
            <a:pPr indent="0" marL="0">
              <a:buNone/>
            </a:pPr>
            <a:r>
              <a:rPr lang="en-US" sz="1400" dirty="0">
                <a:solidFill>
                  <a:schemeClr val="tx1"/>
                </a:solidFill>
              </a:rPr>
              <a:t>UK, Germany and France: the smallest presence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Road Tire Tube is missing every target</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Orders, revenue and profit all land 5–9% below their monthly targets</a:t>
            </a:r>
            <a:endParaRPr lang="en-US" sz="1800" dirty="0"/>
          </a:p>
        </p:txBody>
      </p:sp>
      <p:sp>
        <p:nvSpPr>
          <p:cNvPr id="4" name="target-card"/>
          <p:cNvSpPr/>
          <p:nvPr/>
        </p:nvSpPr>
        <p:spPr>
          <a:xfrm>
            <a:off x="548640" y="1783080"/>
            <a:ext cx="7223760" cy="1325880"/>
          </a:xfrm>
          <a:prstGeom prst="roundRect">
            <a:avLst>
              <a:gd name="adj" fmla="val 8276"/>
            </a:avLst>
          </a:prstGeom>
          <a:solidFill>
            <a:schemeClr val="bg2"/>
          </a:solidFill>
          <a:ln/>
        </p:spPr>
      </p:sp>
      <p:sp>
        <p:nvSpPr>
          <p:cNvPr id="5" name="Text 3"/>
          <p:cNvSpPr txBox="1"/>
          <p:nvPr/>
        </p:nvSpPr>
        <p:spPr>
          <a:xfrm>
            <a:off x="822960" y="1965960"/>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Orders</a:t>
            </a:r>
            <a:endParaRPr lang="en-US" sz="1800" dirty="0"/>
          </a:p>
        </p:txBody>
      </p:sp>
      <p:sp>
        <p:nvSpPr>
          <p:cNvPr id="6" name="Text 4"/>
          <p:cNvSpPr txBox="1"/>
          <p:nvPr/>
        </p:nvSpPr>
        <p:spPr>
          <a:xfrm>
            <a:off x="3108960" y="1965960"/>
            <a:ext cx="4389120" cy="365760"/>
          </a:xfrm>
          <a:prstGeom prst="rect">
            <a:avLst/>
          </a:prstGeom>
          <a:noFill/>
          <a:ln/>
        </p:spPr>
        <p:txBody>
          <a:bodyPr wrap="square" lIns="0" tIns="0" rIns="0" bIns="0" rtlCol="0" anchor="t"/>
          <a:lstStyle/>
          <a:p>
            <a:pPr algn="r" indent="0" marL="0">
              <a:buNone/>
            </a:pPr>
            <a:r>
              <a:rPr lang="en-US" sz="1600" dirty="0">
                <a:solidFill>
                  <a:schemeClr val="tx1"/>
                </a:solidFill>
              </a:rPr>
              <a:t>213 of 234</a:t>
            </a:r>
            <a:endParaRPr lang="en-US" sz="1600" dirty="0"/>
          </a:p>
        </p:txBody>
      </p:sp>
      <p:sp>
        <p:nvSpPr>
          <p:cNvPr id="7" name="bar-track"/>
          <p:cNvSpPr/>
          <p:nvPr/>
        </p:nvSpPr>
        <p:spPr>
          <a:xfrm>
            <a:off x="822960" y="2514600"/>
            <a:ext cx="6035040" cy="292608"/>
          </a:xfrm>
          <a:prstGeom prst="roundRect">
            <a:avLst>
              <a:gd name="adj" fmla="val 50000"/>
            </a:avLst>
          </a:prstGeom>
          <a:solidFill>
            <a:schemeClr val="bg1"/>
          </a:solidFill>
          <a:ln/>
        </p:spPr>
      </p:sp>
      <p:sp>
        <p:nvSpPr>
          <p:cNvPr id="8" name="bar-fill"/>
          <p:cNvSpPr/>
          <p:nvPr/>
        </p:nvSpPr>
        <p:spPr>
          <a:xfrm>
            <a:off x="822960" y="2514600"/>
            <a:ext cx="5493434" cy="292608"/>
          </a:xfrm>
          <a:prstGeom prst="roundRect">
            <a:avLst>
              <a:gd name="adj" fmla="val 50000"/>
            </a:avLst>
          </a:prstGeom>
          <a:solidFill>
            <a:schemeClr val="accent1"/>
          </a:solidFill>
          <a:ln/>
        </p:spPr>
      </p:sp>
      <p:sp>
        <p:nvSpPr>
          <p:cNvPr id="9" name="Text 7"/>
          <p:cNvSpPr txBox="1"/>
          <p:nvPr/>
        </p:nvSpPr>
        <p:spPr>
          <a:xfrm>
            <a:off x="6903720" y="2468880"/>
            <a:ext cx="731520" cy="384048"/>
          </a:xfrm>
          <a:prstGeom prst="rect">
            <a:avLst/>
          </a:prstGeom>
          <a:noFill/>
          <a:ln/>
        </p:spPr>
        <p:txBody>
          <a:bodyPr wrap="square" lIns="0" tIns="0" rIns="0" bIns="0" rtlCol="0" anchor="ctr"/>
          <a:lstStyle/>
          <a:p>
            <a:pPr algn="r" indent="0" marL="0">
              <a:buNone/>
            </a:pPr>
            <a:r>
              <a:rPr lang="en-US" sz="1600" b="1" dirty="0">
                <a:solidFill>
                  <a:schemeClr val="accent1"/>
                </a:solidFill>
              </a:rPr>
              <a:t>91%</a:t>
            </a:r>
            <a:endParaRPr lang="en-US" sz="1600" dirty="0"/>
          </a:p>
        </p:txBody>
      </p:sp>
      <p:sp>
        <p:nvSpPr>
          <p:cNvPr id="10" name="target-card"/>
          <p:cNvSpPr/>
          <p:nvPr/>
        </p:nvSpPr>
        <p:spPr>
          <a:xfrm>
            <a:off x="548640" y="3291840"/>
            <a:ext cx="7223760" cy="1325880"/>
          </a:xfrm>
          <a:prstGeom prst="roundRect">
            <a:avLst>
              <a:gd name="adj" fmla="val 8276"/>
            </a:avLst>
          </a:prstGeom>
          <a:solidFill>
            <a:schemeClr val="bg2"/>
          </a:solidFill>
          <a:ln/>
        </p:spPr>
      </p:sp>
      <p:sp>
        <p:nvSpPr>
          <p:cNvPr id="11" name="Text 9"/>
          <p:cNvSpPr txBox="1"/>
          <p:nvPr/>
        </p:nvSpPr>
        <p:spPr>
          <a:xfrm>
            <a:off x="822960" y="3474720"/>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Revenue</a:t>
            </a:r>
            <a:endParaRPr lang="en-US" sz="1800" dirty="0"/>
          </a:p>
        </p:txBody>
      </p:sp>
      <p:sp>
        <p:nvSpPr>
          <p:cNvPr id="12" name="Text 10"/>
          <p:cNvSpPr txBox="1"/>
          <p:nvPr/>
        </p:nvSpPr>
        <p:spPr>
          <a:xfrm>
            <a:off x="3108960" y="3474720"/>
            <a:ext cx="4389120" cy="365760"/>
          </a:xfrm>
          <a:prstGeom prst="rect">
            <a:avLst/>
          </a:prstGeom>
          <a:noFill/>
          <a:ln/>
        </p:spPr>
        <p:txBody>
          <a:bodyPr wrap="square" lIns="0" tIns="0" rIns="0" bIns="0" rtlCol="0" anchor="t"/>
          <a:lstStyle/>
          <a:p>
            <a:pPr algn="r" indent="0" marL="0">
              <a:buNone/>
            </a:pPr>
            <a:r>
              <a:rPr lang="en-US" sz="1600" dirty="0">
                <a:solidFill>
                  <a:schemeClr val="tx1"/>
                </a:solidFill>
              </a:rPr>
              <a:t>$1,667.82 of $1,804</a:t>
            </a:r>
            <a:endParaRPr lang="en-US" sz="1600" dirty="0"/>
          </a:p>
        </p:txBody>
      </p:sp>
      <p:sp>
        <p:nvSpPr>
          <p:cNvPr id="13" name="bar-track"/>
          <p:cNvSpPr/>
          <p:nvPr/>
        </p:nvSpPr>
        <p:spPr>
          <a:xfrm>
            <a:off x="822960" y="4023360"/>
            <a:ext cx="6035040" cy="292608"/>
          </a:xfrm>
          <a:prstGeom prst="roundRect">
            <a:avLst>
              <a:gd name="adj" fmla="val 50000"/>
            </a:avLst>
          </a:prstGeom>
          <a:solidFill>
            <a:schemeClr val="bg1"/>
          </a:solidFill>
          <a:ln/>
        </p:spPr>
      </p:sp>
      <p:sp>
        <p:nvSpPr>
          <p:cNvPr id="14" name="bar-fill"/>
          <p:cNvSpPr/>
          <p:nvPr/>
        </p:nvSpPr>
        <p:spPr>
          <a:xfrm>
            <a:off x="822960" y="4023360"/>
            <a:ext cx="5579468" cy="292608"/>
          </a:xfrm>
          <a:prstGeom prst="roundRect">
            <a:avLst>
              <a:gd name="adj" fmla="val 50000"/>
            </a:avLst>
          </a:prstGeom>
          <a:solidFill>
            <a:schemeClr val="accent1"/>
          </a:solidFill>
          <a:ln/>
        </p:spPr>
      </p:sp>
      <p:sp>
        <p:nvSpPr>
          <p:cNvPr id="15" name="Text 13"/>
          <p:cNvSpPr txBox="1"/>
          <p:nvPr/>
        </p:nvSpPr>
        <p:spPr>
          <a:xfrm>
            <a:off x="6903720" y="3977640"/>
            <a:ext cx="731520" cy="384048"/>
          </a:xfrm>
          <a:prstGeom prst="rect">
            <a:avLst/>
          </a:prstGeom>
          <a:noFill/>
          <a:ln/>
        </p:spPr>
        <p:txBody>
          <a:bodyPr wrap="square" lIns="0" tIns="0" rIns="0" bIns="0" rtlCol="0" anchor="ctr"/>
          <a:lstStyle/>
          <a:p>
            <a:pPr algn="r" indent="0" marL="0">
              <a:buNone/>
            </a:pPr>
            <a:r>
              <a:rPr lang="en-US" sz="1600" b="1" dirty="0">
                <a:solidFill>
                  <a:schemeClr val="accent1"/>
                </a:solidFill>
              </a:rPr>
              <a:t>92%</a:t>
            </a:r>
            <a:endParaRPr lang="en-US" sz="1600" dirty="0"/>
          </a:p>
        </p:txBody>
      </p:sp>
      <p:sp>
        <p:nvSpPr>
          <p:cNvPr id="16" name="target-card"/>
          <p:cNvSpPr/>
          <p:nvPr/>
        </p:nvSpPr>
        <p:spPr>
          <a:xfrm>
            <a:off x="548640" y="4800600"/>
            <a:ext cx="7223760" cy="1325880"/>
          </a:xfrm>
          <a:prstGeom prst="roundRect">
            <a:avLst>
              <a:gd name="adj" fmla="val 8276"/>
            </a:avLst>
          </a:prstGeom>
          <a:solidFill>
            <a:schemeClr val="bg2"/>
          </a:solidFill>
          <a:ln/>
        </p:spPr>
      </p:sp>
      <p:sp>
        <p:nvSpPr>
          <p:cNvPr id="17" name="Text 15"/>
          <p:cNvSpPr txBox="1"/>
          <p:nvPr/>
        </p:nvSpPr>
        <p:spPr>
          <a:xfrm>
            <a:off x="822960" y="4983480"/>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Profit</a:t>
            </a:r>
            <a:endParaRPr lang="en-US" sz="1800" dirty="0"/>
          </a:p>
        </p:txBody>
      </p:sp>
      <p:sp>
        <p:nvSpPr>
          <p:cNvPr id="18" name="Text 16"/>
          <p:cNvSpPr txBox="1"/>
          <p:nvPr/>
        </p:nvSpPr>
        <p:spPr>
          <a:xfrm>
            <a:off x="3108960" y="4983480"/>
            <a:ext cx="4389120" cy="365760"/>
          </a:xfrm>
          <a:prstGeom prst="rect">
            <a:avLst/>
          </a:prstGeom>
          <a:noFill/>
          <a:ln/>
        </p:spPr>
        <p:txBody>
          <a:bodyPr wrap="square" lIns="0" tIns="0" rIns="0" bIns="0" rtlCol="0" anchor="t"/>
          <a:lstStyle/>
          <a:p>
            <a:pPr algn="r" indent="0" marL="0">
              <a:buNone/>
            </a:pPr>
            <a:r>
              <a:rPr lang="en-US" sz="1600" dirty="0">
                <a:solidFill>
                  <a:schemeClr val="tx1"/>
                </a:solidFill>
              </a:rPr>
              <a:t>$1,044 of ~$1.1K</a:t>
            </a:r>
            <a:endParaRPr lang="en-US" sz="1600" dirty="0"/>
          </a:p>
        </p:txBody>
      </p:sp>
      <p:sp>
        <p:nvSpPr>
          <p:cNvPr id="19" name="bar-track"/>
          <p:cNvSpPr/>
          <p:nvPr/>
        </p:nvSpPr>
        <p:spPr>
          <a:xfrm>
            <a:off x="822960" y="5532120"/>
            <a:ext cx="6035040" cy="292608"/>
          </a:xfrm>
          <a:prstGeom prst="roundRect">
            <a:avLst>
              <a:gd name="adj" fmla="val 50000"/>
            </a:avLst>
          </a:prstGeom>
          <a:solidFill>
            <a:schemeClr val="bg1"/>
          </a:solidFill>
          <a:ln/>
        </p:spPr>
      </p:sp>
      <p:sp>
        <p:nvSpPr>
          <p:cNvPr id="20" name="bar-fill"/>
          <p:cNvSpPr/>
          <p:nvPr/>
        </p:nvSpPr>
        <p:spPr>
          <a:xfrm>
            <a:off x="822960" y="5532120"/>
            <a:ext cx="5727802" cy="292608"/>
          </a:xfrm>
          <a:prstGeom prst="roundRect">
            <a:avLst>
              <a:gd name="adj" fmla="val 50000"/>
            </a:avLst>
          </a:prstGeom>
          <a:solidFill>
            <a:schemeClr val="accent1"/>
          </a:solidFill>
          <a:ln/>
        </p:spPr>
      </p:sp>
      <p:sp>
        <p:nvSpPr>
          <p:cNvPr id="21" name="Text 19"/>
          <p:cNvSpPr txBox="1"/>
          <p:nvPr/>
        </p:nvSpPr>
        <p:spPr>
          <a:xfrm>
            <a:off x="6903720" y="5486400"/>
            <a:ext cx="731520" cy="384048"/>
          </a:xfrm>
          <a:prstGeom prst="rect">
            <a:avLst/>
          </a:prstGeom>
          <a:noFill/>
          <a:ln/>
        </p:spPr>
        <p:txBody>
          <a:bodyPr wrap="square" lIns="0" tIns="0" rIns="0" bIns="0" rtlCol="0" anchor="ctr"/>
          <a:lstStyle/>
          <a:p>
            <a:pPr algn="r" indent="0" marL="0">
              <a:buNone/>
            </a:pPr>
            <a:r>
              <a:rPr lang="en-US" sz="1600" b="1" dirty="0">
                <a:solidFill>
                  <a:schemeClr val="accent1"/>
                </a:solidFill>
              </a:rPr>
              <a:t>95%</a:t>
            </a:r>
            <a:endParaRPr lang="en-US" sz="1600" dirty="0"/>
          </a:p>
        </p:txBody>
      </p:sp>
      <p:sp>
        <p:nvSpPr>
          <p:cNvPr id="22" name="stat-card"/>
          <p:cNvSpPr/>
          <p:nvPr/>
        </p:nvSpPr>
        <p:spPr>
          <a:xfrm>
            <a:off x="8138160" y="1783080"/>
            <a:ext cx="3502152" cy="1325880"/>
          </a:xfrm>
          <a:prstGeom prst="roundRect">
            <a:avLst>
              <a:gd name="adj" fmla="val 8276"/>
            </a:avLst>
          </a:prstGeom>
          <a:solidFill>
            <a:schemeClr val="accent5"/>
          </a:solidFill>
          <a:ln/>
        </p:spPr>
      </p:sp>
      <p:sp>
        <p:nvSpPr>
          <p:cNvPr id="23" name="Text 21"/>
          <p:cNvSpPr txBox="1"/>
          <p:nvPr/>
        </p:nvSpPr>
        <p:spPr>
          <a:xfrm>
            <a:off x="8366760" y="1947672"/>
            <a:ext cx="3044952" cy="596646"/>
          </a:xfrm>
          <a:prstGeom prst="rect">
            <a:avLst/>
          </a:prstGeom>
          <a:noFill/>
          <a:ln/>
        </p:spPr>
        <p:txBody>
          <a:bodyPr wrap="square" lIns="0" tIns="0" rIns="0" bIns="0" rtlCol="0" anchor="ctr"/>
          <a:lstStyle/>
          <a:p>
            <a:pPr indent="0" marL="0">
              <a:buNone/>
            </a:pPr>
            <a:r>
              <a:rPr lang="en-US" sz="3200" b="1" dirty="0">
                <a:solidFill>
                  <a:schemeClr val="accent2"/>
                </a:solidFill>
              </a:rPr>
              <a:t>63%</a:t>
            </a:r>
            <a:endParaRPr lang="en-US" sz="3200" dirty="0"/>
          </a:p>
        </p:txBody>
      </p:sp>
      <p:sp>
        <p:nvSpPr>
          <p:cNvPr id="24" name="Text 22"/>
          <p:cNvSpPr txBox="1"/>
          <p:nvPr/>
        </p:nvSpPr>
        <p:spPr>
          <a:xfrm>
            <a:off x="8366760" y="2562606"/>
            <a:ext cx="3044952" cy="454914"/>
          </a:xfrm>
          <a:prstGeom prst="rect">
            <a:avLst/>
          </a:prstGeom>
          <a:noFill/>
          <a:ln/>
        </p:spPr>
        <p:txBody>
          <a:bodyPr wrap="square" lIns="0" tIns="0" rIns="0" bIns="0" rtlCol="0" anchor="t"/>
          <a:lstStyle/>
          <a:p>
            <a:pPr indent="0" marL="0">
              <a:buNone/>
            </a:pPr>
            <a:r>
              <a:rPr lang="en-US" sz="1400" dirty="0">
                <a:solidFill>
                  <a:schemeClr val="bg1"/>
                </a:solidFill>
              </a:rPr>
              <a:t>profit margin on Road Tire Tube ($1,044 on $1,668)</a:t>
            </a:r>
            <a:endParaRPr lang="en-US" sz="1400" dirty="0"/>
          </a:p>
        </p:txBody>
      </p:sp>
      <p:sp>
        <p:nvSpPr>
          <p:cNvPr id="25" name="stat-card"/>
          <p:cNvSpPr/>
          <p:nvPr/>
        </p:nvSpPr>
        <p:spPr>
          <a:xfrm>
            <a:off x="8138160" y="3337560"/>
            <a:ext cx="3502152" cy="1325880"/>
          </a:xfrm>
          <a:prstGeom prst="roundRect">
            <a:avLst>
              <a:gd name="adj" fmla="val 8276"/>
            </a:avLst>
          </a:prstGeom>
          <a:solidFill>
            <a:schemeClr val="bg2"/>
          </a:solidFill>
          <a:ln/>
        </p:spPr>
      </p:sp>
      <p:sp>
        <p:nvSpPr>
          <p:cNvPr id="26" name="Text 24"/>
          <p:cNvSpPr txBox="1"/>
          <p:nvPr/>
        </p:nvSpPr>
        <p:spPr>
          <a:xfrm>
            <a:off x="8366760" y="3502152"/>
            <a:ext cx="3044952" cy="596646"/>
          </a:xfrm>
          <a:prstGeom prst="rect">
            <a:avLst/>
          </a:prstGeom>
          <a:noFill/>
          <a:ln/>
        </p:spPr>
        <p:txBody>
          <a:bodyPr wrap="square" lIns="0" tIns="0" rIns="0" bIns="0" rtlCol="0" anchor="ctr"/>
          <a:lstStyle/>
          <a:p>
            <a:pPr indent="0" marL="0">
              <a:buNone/>
            </a:pPr>
            <a:r>
              <a:rPr lang="en-US" sz="3200" b="1" dirty="0">
                <a:solidFill>
                  <a:schemeClr val="accent1"/>
                </a:solidFill>
              </a:rPr>
              <a:t>$7.83</a:t>
            </a:r>
            <a:endParaRPr lang="en-US" sz="3200" dirty="0"/>
          </a:p>
        </p:txBody>
      </p:sp>
      <p:sp>
        <p:nvSpPr>
          <p:cNvPr id="27" name="Text 25"/>
          <p:cNvSpPr txBox="1"/>
          <p:nvPr/>
        </p:nvSpPr>
        <p:spPr>
          <a:xfrm>
            <a:off x="8366760" y="4117086"/>
            <a:ext cx="3044952" cy="454914"/>
          </a:xfrm>
          <a:prstGeom prst="rect">
            <a:avLst/>
          </a:prstGeom>
          <a:noFill/>
          <a:ln/>
        </p:spPr>
        <p:txBody>
          <a:bodyPr wrap="square" lIns="0" tIns="0" rIns="0" bIns="0" rtlCol="0" anchor="t"/>
          <a:lstStyle/>
          <a:p>
            <a:pPr indent="0" marL="0">
              <a:buNone/>
            </a:pPr>
            <a:r>
              <a:rPr lang="en-US" sz="1400" dirty="0">
                <a:solidFill>
                  <a:schemeClr val="tx1"/>
                </a:solidFill>
              </a:rPr>
              <a:t>revenue per order, a low-ticket, high-margin item</a:t>
            </a:r>
            <a:endParaRPr lang="en-US" sz="1400" dirty="0"/>
          </a:p>
        </p:txBody>
      </p:sp>
      <p:sp>
        <p:nvSpPr>
          <p:cNvPr id="28" name="note-card"/>
          <p:cNvSpPr/>
          <p:nvPr/>
        </p:nvSpPr>
        <p:spPr>
          <a:xfrm>
            <a:off x="8138160" y="4892040"/>
            <a:ext cx="3502152" cy="1325880"/>
          </a:xfrm>
          <a:prstGeom prst="roundRect">
            <a:avLst>
              <a:gd name="adj" fmla="val 8276"/>
            </a:avLst>
          </a:prstGeom>
          <a:solidFill>
            <a:schemeClr val="bg2"/>
          </a:solidFill>
          <a:ln/>
        </p:spPr>
      </p:sp>
      <p:sp>
        <p:nvSpPr>
          <p:cNvPr id="29" name="Text 27"/>
          <p:cNvSpPr txBox="1"/>
          <p:nvPr/>
        </p:nvSpPr>
        <p:spPr>
          <a:xfrm>
            <a:off x="8366760" y="4892040"/>
            <a:ext cx="3044952" cy="1325880"/>
          </a:xfrm>
          <a:prstGeom prst="rect">
            <a:avLst/>
          </a:prstGeom>
          <a:noFill/>
          <a:ln/>
        </p:spPr>
        <p:txBody>
          <a:bodyPr wrap="square" lIns="0" tIns="0" rIns="0" bIns="0" rtlCol="0" anchor="ctr"/>
          <a:lstStyle/>
          <a:p>
            <a:pPr indent="0" marL="0">
              <a:buNone/>
            </a:pPr>
            <a:r>
              <a:rPr lang="en-US" sz="1300" dirty="0">
                <a:solidFill>
                  <a:schemeClr val="tx1"/>
                </a:solidFill>
              </a:rPr>
              <a:t>Profit target shown as ~$1.1K on the dashboard, so that percentage is approximate.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Pricing upside, but returns are volatile</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The price what-if lifts Road Tire Tube profit by roughly 40–50%, while return rates swing between 1% and 5%</a:t>
            </a:r>
            <a:endParaRPr lang="en-US" sz="1800" dirty="0"/>
          </a:p>
        </p:txBody>
      </p:sp>
      <p:pic>
        <p:nvPicPr>
          <p:cNvPr id="4" name="Image 0" descr="Dashboard charts: total versus adjusted profit and return percentage for Road Tire Tube">    </p:cNvPr>
          <p:cNvPicPr>
            <a:picLocks noChangeAspect="1"/>
          </p:cNvPicPr>
          <p:nvPr/>
        </p:nvPicPr>
        <p:blipFill>
          <a:blip r:embed="rId1"/>
          <a:stretch>
            <a:fillRect/>
          </a:stretch>
        </p:blipFill>
        <p:spPr>
          <a:xfrm>
            <a:off x="548640" y="1783080"/>
            <a:ext cx="7223760" cy="2889504"/>
          </a:xfrm>
          <a:prstGeom prst="rect">
            <a:avLst/>
          </a:prstGeom>
        </p:spPr>
      </p:pic>
      <p:sp>
        <p:nvSpPr>
          <p:cNvPr id="5" name="Text 2"/>
          <p:cNvSpPr txBox="1"/>
          <p:nvPr/>
        </p:nvSpPr>
        <p:spPr>
          <a:xfrm>
            <a:off x="548640" y="4727448"/>
            <a:ext cx="7223760" cy="274320"/>
          </a:xfrm>
          <a:prstGeom prst="rect">
            <a:avLst/>
          </a:prstGeom>
          <a:noFill/>
          <a:ln/>
        </p:spPr>
        <p:txBody>
          <a:bodyPr wrap="square" lIns="0" tIns="0" rIns="0" bIns="0" rtlCol="0" anchor="t"/>
          <a:lstStyle/>
          <a:p>
            <a:pPr indent="0" marL="0">
              <a:buNone/>
            </a:pPr>
            <a:r>
              <a:rPr lang="en-US" sz="1100" dirty="0">
                <a:solidFill>
                  <a:schemeClr val="tx1"/>
                </a:solidFill>
              </a:rPr>
              <a:t>Source: AdventureWorks dashboard, Product Detail page (Jul 2021–Jun 2022).</a:t>
            </a:r>
            <a:endParaRPr lang="en-US" sz="1100" dirty="0"/>
          </a:p>
        </p:txBody>
      </p:sp>
      <p:sp>
        <p:nvSpPr>
          <p:cNvPr id="6" name="note-card"/>
          <p:cNvSpPr/>
          <p:nvPr/>
        </p:nvSpPr>
        <p:spPr>
          <a:xfrm>
            <a:off x="548640" y="5166360"/>
            <a:ext cx="7223760" cy="1051560"/>
          </a:xfrm>
          <a:prstGeom prst="roundRect">
            <a:avLst>
              <a:gd name="adj" fmla="val 10435"/>
            </a:avLst>
          </a:prstGeom>
          <a:solidFill>
            <a:schemeClr val="bg2"/>
          </a:solidFill>
          <a:ln/>
        </p:spPr>
      </p:sp>
      <p:sp>
        <p:nvSpPr>
          <p:cNvPr id="7" name="Text 4"/>
          <p:cNvSpPr txBox="1"/>
          <p:nvPr/>
        </p:nvSpPr>
        <p:spPr>
          <a:xfrm>
            <a:off x="777240" y="5166360"/>
            <a:ext cx="6766560" cy="1051560"/>
          </a:xfrm>
          <a:prstGeom prst="rect">
            <a:avLst/>
          </a:prstGeom>
          <a:noFill/>
          <a:ln/>
        </p:spPr>
        <p:txBody>
          <a:bodyPr wrap="square" lIns="0" tIns="0" rIns="0" bIns="0" rtlCol="0" anchor="ctr"/>
          <a:lstStyle/>
          <a:p>
            <a:pPr indent="0" marL="0">
              <a:buNone/>
            </a:pPr>
            <a:r>
              <a:rPr lang="en-US" sz="1400" b="1" dirty="0">
                <a:solidFill>
                  <a:schemeClr val="accent1"/>
                </a:solidFill>
              </a:rPr>
              <a:t>Caveat: </a:t>
            </a:r>
            <a:pPr indent="0" marL="0">
              <a:buNone/>
            </a:pPr>
            <a:r>
              <a:rPr lang="en-US" sz="1400" dirty="0">
                <a:solidFill>
                  <a:schemeClr val="tx1"/>
                </a:solidFill>
              </a:rPr>
              <a:t>the slider is set to 0.30 (labelled %). Confirm the unit and whether the model assumes demand stays flat after a price change.</a:t>
            </a:r>
            <a:endParaRPr lang="en-US" sz="1400" dirty="0"/>
          </a:p>
        </p:txBody>
      </p:sp>
      <p:sp>
        <p:nvSpPr>
          <p:cNvPr id="8" name="stat-card"/>
          <p:cNvSpPr/>
          <p:nvPr/>
        </p:nvSpPr>
        <p:spPr>
          <a:xfrm>
            <a:off x="8138160" y="1783080"/>
            <a:ext cx="3502152" cy="1325880"/>
          </a:xfrm>
          <a:prstGeom prst="roundRect">
            <a:avLst>
              <a:gd name="adj" fmla="val 8276"/>
            </a:avLst>
          </a:prstGeom>
          <a:solidFill>
            <a:schemeClr val="accent5"/>
          </a:solidFill>
          <a:ln/>
        </p:spPr>
      </p:sp>
      <p:sp>
        <p:nvSpPr>
          <p:cNvPr id="9" name="Text 6"/>
          <p:cNvSpPr txBox="1"/>
          <p:nvPr/>
        </p:nvSpPr>
        <p:spPr>
          <a:xfrm>
            <a:off x="8366760" y="1947672"/>
            <a:ext cx="3044952" cy="596646"/>
          </a:xfrm>
          <a:prstGeom prst="rect">
            <a:avLst/>
          </a:prstGeom>
          <a:noFill/>
          <a:ln/>
        </p:spPr>
        <p:txBody>
          <a:bodyPr wrap="square" lIns="0" tIns="0" rIns="0" bIns="0" rtlCol="0" anchor="ctr"/>
          <a:lstStyle/>
          <a:p>
            <a:pPr indent="0" marL="0">
              <a:buNone/>
            </a:pPr>
            <a:r>
              <a:rPr lang="en-US" sz="3000" b="1" dirty="0">
                <a:solidFill>
                  <a:schemeClr val="accent2"/>
                </a:solidFill>
              </a:rPr>
              <a:t>~+45%</a:t>
            </a:r>
            <a:endParaRPr lang="en-US" sz="3000" dirty="0"/>
          </a:p>
        </p:txBody>
      </p:sp>
      <p:sp>
        <p:nvSpPr>
          <p:cNvPr id="10" name="Text 7"/>
          <p:cNvSpPr txBox="1"/>
          <p:nvPr/>
        </p:nvSpPr>
        <p:spPr>
          <a:xfrm>
            <a:off x="8366760" y="2562606"/>
            <a:ext cx="3044952" cy="454914"/>
          </a:xfrm>
          <a:prstGeom prst="rect">
            <a:avLst/>
          </a:prstGeom>
          <a:noFill/>
          <a:ln/>
        </p:spPr>
        <p:txBody>
          <a:bodyPr wrap="square" lIns="0" tIns="0" rIns="0" bIns="0" rtlCol="0" anchor="t"/>
          <a:lstStyle/>
          <a:p>
            <a:pPr indent="0" marL="0">
              <a:buNone/>
            </a:pPr>
            <a:r>
              <a:rPr lang="en-US" sz="1300" dirty="0">
                <a:solidFill>
                  <a:schemeClr val="bg1"/>
                </a:solidFill>
              </a:rPr>
              <a:t>adjusted vs total profit at the current slider setting (read from chart)</a:t>
            </a:r>
            <a:endParaRPr lang="en-US" sz="1300" dirty="0"/>
          </a:p>
        </p:txBody>
      </p:sp>
      <p:sp>
        <p:nvSpPr>
          <p:cNvPr id="11" name="stat-card"/>
          <p:cNvSpPr/>
          <p:nvPr/>
        </p:nvSpPr>
        <p:spPr>
          <a:xfrm>
            <a:off x="8138160" y="3337560"/>
            <a:ext cx="3502152" cy="1325880"/>
          </a:xfrm>
          <a:prstGeom prst="roundRect">
            <a:avLst>
              <a:gd name="adj" fmla="val 8276"/>
            </a:avLst>
          </a:prstGeom>
          <a:solidFill>
            <a:schemeClr val="bg2"/>
          </a:solidFill>
          <a:ln/>
        </p:spPr>
      </p:sp>
      <p:sp>
        <p:nvSpPr>
          <p:cNvPr id="12" name="Text 9"/>
          <p:cNvSpPr txBox="1"/>
          <p:nvPr/>
        </p:nvSpPr>
        <p:spPr>
          <a:xfrm>
            <a:off x="8366760" y="3502152"/>
            <a:ext cx="3044952" cy="596646"/>
          </a:xfrm>
          <a:prstGeom prst="rect">
            <a:avLst/>
          </a:prstGeom>
          <a:noFill/>
          <a:ln/>
        </p:spPr>
        <p:txBody>
          <a:bodyPr wrap="square" lIns="0" tIns="0" rIns="0" bIns="0" rtlCol="0" anchor="ctr"/>
          <a:lstStyle/>
          <a:p>
            <a:pPr indent="0" marL="0">
              <a:buNone/>
            </a:pPr>
            <a:r>
              <a:rPr lang="en-US" sz="3000" b="1" dirty="0">
                <a:solidFill>
                  <a:schemeClr val="accent1"/>
                </a:solidFill>
              </a:rPr>
              <a:t>~5%</a:t>
            </a:r>
            <a:endParaRPr lang="en-US" sz="3000" dirty="0"/>
          </a:p>
        </p:txBody>
      </p:sp>
      <p:sp>
        <p:nvSpPr>
          <p:cNvPr id="13" name="Text 10"/>
          <p:cNvSpPr txBox="1"/>
          <p:nvPr/>
        </p:nvSpPr>
        <p:spPr>
          <a:xfrm>
            <a:off x="8366760" y="4117086"/>
            <a:ext cx="3044952" cy="454914"/>
          </a:xfrm>
          <a:prstGeom prst="rect">
            <a:avLst/>
          </a:prstGeom>
          <a:noFill/>
          <a:ln/>
        </p:spPr>
        <p:txBody>
          <a:bodyPr wrap="square" lIns="0" tIns="0" rIns="0" bIns="0" rtlCol="0" anchor="t"/>
          <a:lstStyle/>
          <a:p>
            <a:pPr indent="0" marL="0">
              <a:buNone/>
            </a:pPr>
            <a:r>
              <a:rPr lang="en-US" sz="1400" dirty="0">
                <a:solidFill>
                  <a:schemeClr val="tx1"/>
                </a:solidFill>
              </a:rPr>
              <a:t>return-rate peak in early 2022, vs ~1–2% typical</a:t>
            </a:r>
            <a:endParaRPr lang="en-US" sz="1400" dirty="0"/>
          </a:p>
        </p:txBody>
      </p:sp>
      <p:sp>
        <p:nvSpPr>
          <p:cNvPr id="14" name="stat-card"/>
          <p:cNvSpPr/>
          <p:nvPr/>
        </p:nvSpPr>
        <p:spPr>
          <a:xfrm>
            <a:off x="8138160" y="4892040"/>
            <a:ext cx="3502152" cy="1325880"/>
          </a:xfrm>
          <a:prstGeom prst="roundRect">
            <a:avLst>
              <a:gd name="adj" fmla="val 8276"/>
            </a:avLst>
          </a:prstGeom>
          <a:solidFill>
            <a:schemeClr val="bg2"/>
          </a:solidFill>
          <a:ln/>
        </p:spPr>
      </p:sp>
      <p:sp>
        <p:nvSpPr>
          <p:cNvPr id="15" name="Text 12"/>
          <p:cNvSpPr txBox="1"/>
          <p:nvPr/>
        </p:nvSpPr>
        <p:spPr>
          <a:xfrm>
            <a:off x="8366760" y="5056632"/>
            <a:ext cx="3044952" cy="596646"/>
          </a:xfrm>
          <a:prstGeom prst="rect">
            <a:avLst/>
          </a:prstGeom>
          <a:noFill/>
          <a:ln/>
        </p:spPr>
        <p:txBody>
          <a:bodyPr wrap="square" lIns="0" tIns="0" rIns="0" bIns="0" rtlCol="0" anchor="ctr"/>
          <a:lstStyle/>
          <a:p>
            <a:pPr indent="0" marL="0">
              <a:buNone/>
            </a:pPr>
            <a:r>
              <a:rPr lang="en-US" sz="2800" b="1" dirty="0">
                <a:solidFill>
                  <a:schemeClr val="accent1"/>
                </a:solidFill>
              </a:rPr>
              <a:t>Jul 2021</a:t>
            </a:r>
            <a:endParaRPr lang="en-US" sz="2800" dirty="0"/>
          </a:p>
        </p:txBody>
      </p:sp>
      <p:sp>
        <p:nvSpPr>
          <p:cNvPr id="16" name="Text 13"/>
          <p:cNvSpPr txBox="1"/>
          <p:nvPr/>
        </p:nvSpPr>
        <p:spPr>
          <a:xfrm>
            <a:off x="8366760" y="5671566"/>
            <a:ext cx="3044952" cy="454914"/>
          </a:xfrm>
          <a:prstGeom prst="rect">
            <a:avLst/>
          </a:prstGeom>
          <a:noFill/>
          <a:ln/>
        </p:spPr>
        <p:txBody>
          <a:bodyPr wrap="square" lIns="0" tIns="0" rIns="0" bIns="0" rtlCol="0" anchor="t"/>
          <a:lstStyle/>
          <a:p>
            <a:pPr indent="0" marL="0">
              <a:buNone/>
            </a:pPr>
            <a:r>
              <a:rPr lang="en-US" sz="1400" dirty="0">
                <a:solidFill>
                  <a:schemeClr val="tx1"/>
                </a:solidFill>
              </a:rPr>
              <a:t>first month of Road Tire Tube data in these charts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Revenue per customer fell about 74%</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Growth came from adding customers: spend per customer dropped in two steps, mid-2020 and mid-2021</a:t>
            </a:r>
            <a:endParaRPr lang="en-US" sz="1800" dirty="0"/>
          </a:p>
        </p:txBody>
      </p:sp>
      <p:graphicFrame>
        <p:nvGraphicFramePr>
          <p:cNvPr id="4" name="Chart 0" descr=""/>
          <p:cNvGraphicFramePr/>
          <p:nvPr/>
        </p:nvGraphicFramePr>
        <p:xfrm>
          <a:off x="548640" y="1783080"/>
          <a:ext cx="731520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100" dirty="0">
                <a:solidFill>
                  <a:schemeClr val="tx1"/>
                </a:solidFill>
              </a:rPr>
              <a:t>Values read from the dashboard line chart at roughly quarterly points; approximate.</a:t>
            </a:r>
            <a:endParaRPr lang="en-US" sz="1100" dirty="0"/>
          </a:p>
        </p:txBody>
      </p:sp>
      <p:sp>
        <p:nvSpPr>
          <p:cNvPr id="6" name="stat-card"/>
          <p:cNvSpPr/>
          <p:nvPr/>
        </p:nvSpPr>
        <p:spPr>
          <a:xfrm>
            <a:off x="8183880" y="1783080"/>
            <a:ext cx="3456432" cy="1325880"/>
          </a:xfrm>
          <a:prstGeom prst="roundRect">
            <a:avLst>
              <a:gd name="adj" fmla="val 8276"/>
            </a:avLst>
          </a:prstGeom>
          <a:solidFill>
            <a:schemeClr val="accent5"/>
          </a:solidFill>
          <a:ln/>
        </p:spPr>
      </p:sp>
      <p:sp>
        <p:nvSpPr>
          <p:cNvPr id="7" name="Text 4"/>
          <p:cNvSpPr txBox="1"/>
          <p:nvPr/>
        </p:nvSpPr>
        <p:spPr>
          <a:xfrm>
            <a:off x="8412480" y="1947672"/>
            <a:ext cx="2999232" cy="596646"/>
          </a:xfrm>
          <a:prstGeom prst="rect">
            <a:avLst/>
          </a:prstGeom>
          <a:noFill/>
          <a:ln/>
        </p:spPr>
        <p:txBody>
          <a:bodyPr wrap="square" lIns="0" tIns="0" rIns="0" bIns="0" rtlCol="0" anchor="ctr"/>
          <a:lstStyle/>
          <a:p>
            <a:pPr indent="0" marL="0">
              <a:buNone/>
            </a:pPr>
            <a:r>
              <a:rPr lang="en-US" sz="3200" b="1" dirty="0">
                <a:solidFill>
                  <a:schemeClr val="accent2"/>
                </a:solidFill>
              </a:rPr>
              <a:t>$1,431</a:t>
            </a:r>
            <a:endParaRPr lang="en-US" sz="3200" dirty="0"/>
          </a:p>
        </p:txBody>
      </p:sp>
      <p:sp>
        <p:nvSpPr>
          <p:cNvPr id="8" name="Text 5"/>
          <p:cNvSpPr txBox="1"/>
          <p:nvPr/>
        </p:nvSpPr>
        <p:spPr>
          <a:xfrm>
            <a:off x="8412480" y="2562606"/>
            <a:ext cx="2999232" cy="454914"/>
          </a:xfrm>
          <a:prstGeom prst="rect">
            <a:avLst/>
          </a:prstGeom>
          <a:noFill/>
          <a:ln/>
        </p:spPr>
        <p:txBody>
          <a:bodyPr wrap="square" lIns="0" tIns="0" rIns="0" bIns="0" rtlCol="0" anchor="t"/>
          <a:lstStyle/>
          <a:p>
            <a:pPr indent="0" marL="0">
              <a:buNone/>
            </a:pPr>
            <a:r>
              <a:rPr lang="en-US" sz="1400" dirty="0">
                <a:solidFill>
                  <a:schemeClr val="bg1"/>
                </a:solidFill>
              </a:rPr>
              <a:t>overall revenue per customer (17.4K customers)</a:t>
            </a:r>
            <a:endParaRPr lang="en-US" sz="1400" dirty="0"/>
          </a:p>
        </p:txBody>
      </p:sp>
      <p:sp>
        <p:nvSpPr>
          <p:cNvPr id="9" name="stat-card"/>
          <p:cNvSpPr/>
          <p:nvPr/>
        </p:nvSpPr>
        <p:spPr>
          <a:xfrm>
            <a:off x="8183880" y="3337560"/>
            <a:ext cx="3456432" cy="1325880"/>
          </a:xfrm>
          <a:prstGeom prst="roundRect">
            <a:avLst>
              <a:gd name="adj" fmla="val 8276"/>
            </a:avLst>
          </a:prstGeom>
          <a:solidFill>
            <a:schemeClr val="bg2"/>
          </a:solidFill>
          <a:ln/>
        </p:spPr>
      </p:sp>
      <p:sp>
        <p:nvSpPr>
          <p:cNvPr id="10" name="Text 7"/>
          <p:cNvSpPr txBox="1"/>
          <p:nvPr/>
        </p:nvSpPr>
        <p:spPr>
          <a:xfrm>
            <a:off x="8412480" y="3502152"/>
            <a:ext cx="2999232" cy="596646"/>
          </a:xfrm>
          <a:prstGeom prst="rect">
            <a:avLst/>
          </a:prstGeom>
          <a:noFill/>
          <a:ln/>
        </p:spPr>
        <p:txBody>
          <a:bodyPr wrap="square" lIns="0" tIns="0" rIns="0" bIns="0" rtlCol="0" anchor="ctr"/>
          <a:lstStyle/>
          <a:p>
            <a:pPr indent="0" marL="0">
              <a:buNone/>
            </a:pPr>
            <a:r>
              <a:rPr lang="en-US" sz="2400" b="1" dirty="0">
                <a:solidFill>
                  <a:schemeClr val="accent1"/>
                </a:solidFill>
              </a:rPr>
              <a:t>~$3.2K → ~$0.85K</a:t>
            </a:r>
            <a:endParaRPr lang="en-US" sz="2400" dirty="0"/>
          </a:p>
        </p:txBody>
      </p:sp>
      <p:sp>
        <p:nvSpPr>
          <p:cNvPr id="11" name="Text 8"/>
          <p:cNvSpPr txBox="1"/>
          <p:nvPr/>
        </p:nvSpPr>
        <p:spPr>
          <a:xfrm>
            <a:off x="8412480" y="4117086"/>
            <a:ext cx="2999232" cy="454914"/>
          </a:xfrm>
          <a:prstGeom prst="rect">
            <a:avLst/>
          </a:prstGeom>
          <a:noFill/>
          <a:ln/>
        </p:spPr>
        <p:txBody>
          <a:bodyPr wrap="square" lIns="0" tIns="0" rIns="0" bIns="0" rtlCol="0" anchor="t"/>
          <a:lstStyle/>
          <a:p>
            <a:pPr indent="0" marL="0">
              <a:buNone/>
            </a:pPr>
            <a:r>
              <a:rPr lang="en-US" sz="1400" dirty="0">
                <a:solidFill>
                  <a:schemeClr val="tx1"/>
                </a:solidFill>
              </a:rPr>
              <a:t>Jan 2020 to Jun 2022</a:t>
            </a:r>
            <a:endParaRPr lang="en-US" sz="1400" dirty="0"/>
          </a:p>
        </p:txBody>
      </p:sp>
      <p:sp>
        <p:nvSpPr>
          <p:cNvPr id="12" name="hypothesis-card"/>
          <p:cNvSpPr/>
          <p:nvPr/>
        </p:nvSpPr>
        <p:spPr>
          <a:xfrm>
            <a:off x="8183880" y="4892040"/>
            <a:ext cx="3456432" cy="1325880"/>
          </a:xfrm>
          <a:prstGeom prst="roundRect">
            <a:avLst>
              <a:gd name="adj" fmla="val 8276"/>
            </a:avLst>
          </a:prstGeom>
          <a:solidFill>
            <a:schemeClr val="bg2"/>
          </a:solidFill>
          <a:ln/>
        </p:spPr>
      </p:sp>
      <p:sp>
        <p:nvSpPr>
          <p:cNvPr id="13" name="Text 10"/>
          <p:cNvSpPr txBox="1"/>
          <p:nvPr/>
        </p:nvSpPr>
        <p:spPr>
          <a:xfrm>
            <a:off x="8412480" y="4892040"/>
            <a:ext cx="2999232" cy="1325880"/>
          </a:xfrm>
          <a:prstGeom prst="rect">
            <a:avLst/>
          </a:prstGeom>
          <a:noFill/>
          <a:ln/>
        </p:spPr>
        <p:txBody>
          <a:bodyPr wrap="square" lIns="0" tIns="0" rIns="0" bIns="0" rtlCol="0" anchor="ctr"/>
          <a:lstStyle/>
          <a:p>
            <a:pPr indent="0" marL="0">
              <a:buNone/>
            </a:pPr>
            <a:r>
              <a:rPr lang="en-US" sz="1400" b="1" dirty="0">
                <a:solidFill>
                  <a:schemeClr val="accent1"/>
                </a:solidFill>
              </a:rPr>
              <a:t>Likely cause: </a:t>
            </a:r>
            <a:pPr indent="0" marL="0">
              <a:buNone/>
            </a:pPr>
            <a:r>
              <a:rPr lang="en-US" sz="1400" dirty="0">
                <a:solidFill>
                  <a:schemeClr val="tx1"/>
                </a:solidFill>
              </a:rPr>
              <a:t>new-customer surges. Confirm with the data engineers.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High-income customers are under-penetrated</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High income is only 11% of orders, and Professionals lead the occupation mix</a:t>
            </a:r>
            <a:endParaRPr lang="en-US" sz="1800" dirty="0"/>
          </a:p>
        </p:txBody>
      </p:sp>
      <p:graphicFrame>
        <p:nvGraphicFramePr>
          <p:cNvPr id="4" name="Chart 0" descr=""/>
          <p:cNvGraphicFramePr/>
          <p:nvPr/>
        </p:nvGraphicFramePr>
        <p:xfrm>
          <a:off x="548640" y="1783080"/>
          <a:ext cx="539496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45352" y="1783080"/>
          <a:ext cx="5394960" cy="3657600"/>
        </p:xfrm>
        <a:graphic xmlns:a="http://schemas.openxmlformats.org/drawingml/2006/main">
          <a:graphicData uri="http://schemas.openxmlformats.org/drawingml/2006/chart">
            <c:chart xmlns:c="http://schemas.openxmlformats.org/drawingml/2006/chart" r:id="rId2"/>
          </a:graphicData>
        </a:graphic>
      </p:graphicFrame>
      <p:sp>
        <p:nvSpPr>
          <p:cNvPr id="6" name="callout-card"/>
          <p:cNvSpPr/>
          <p:nvPr/>
        </p:nvSpPr>
        <p:spPr>
          <a:xfrm>
            <a:off x="548640" y="5577840"/>
            <a:ext cx="11091672" cy="640080"/>
          </a:xfrm>
          <a:prstGeom prst="roundRect">
            <a:avLst>
              <a:gd name="adj" fmla="val 17143"/>
            </a:avLst>
          </a:prstGeom>
          <a:solidFill>
            <a:schemeClr val="bg2"/>
          </a:solidFill>
          <a:ln/>
        </p:spPr>
      </p:sp>
      <p:sp>
        <p:nvSpPr>
          <p:cNvPr id="7" name="Text 3"/>
          <p:cNvSpPr txBox="1"/>
          <p:nvPr/>
        </p:nvSpPr>
        <p:spPr>
          <a:xfrm>
            <a:off x="777240" y="5577840"/>
            <a:ext cx="10634472" cy="640080"/>
          </a:xfrm>
          <a:prstGeom prst="rect">
            <a:avLst/>
          </a:prstGeom>
          <a:noFill/>
          <a:ln/>
        </p:spPr>
        <p:txBody>
          <a:bodyPr wrap="square" lIns="0" tIns="0" rIns="0" bIns="0" rtlCol="0" anchor="ctr"/>
          <a:lstStyle/>
          <a:p>
            <a:pPr indent="0" marL="0">
              <a:buNone/>
            </a:pPr>
            <a:r>
              <a:rPr lang="en-US" sz="1500" b="1" dirty="0">
                <a:solidFill>
                  <a:schemeClr val="accent1"/>
                </a:solidFill>
              </a:rPr>
              <a:t>Implication: </a:t>
            </a:r>
            <a:pPr indent="0" marL="0">
              <a:buNone/>
            </a:pPr>
            <a:r>
              <a:rPr lang="en-US" sz="1500" dirty="0">
                <a:solidFill>
                  <a:schemeClr val="tx1"/>
                </a:solidFill>
              </a:rPr>
              <a:t>premium bikes and apparel are a natural lever for the high-income segment, which today buys the least.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Frequent buyers are not valuable buyers</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Top customers by orders spend ~$65 an order; the top customer by revenue spends ~$2,068</a:t>
            </a:r>
            <a:endParaRPr lang="en-US" sz="1800" dirty="0"/>
          </a:p>
        </p:txBody>
      </p:sp>
      <p:graphicFrame>
        <p:nvGraphicFramePr>
          <p:cNvPr id="4" name="Chart 0" descr=""/>
          <p:cNvGraphicFramePr/>
          <p:nvPr/>
        </p:nvGraphicFramePr>
        <p:xfrm>
          <a:off x="548640" y="178308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5" name="stat-card"/>
          <p:cNvSpPr/>
          <p:nvPr/>
        </p:nvSpPr>
        <p:spPr>
          <a:xfrm>
            <a:off x="8138160" y="1783080"/>
            <a:ext cx="3502152" cy="1325880"/>
          </a:xfrm>
          <a:prstGeom prst="roundRect">
            <a:avLst>
              <a:gd name="adj" fmla="val 8276"/>
            </a:avLst>
          </a:prstGeom>
          <a:solidFill>
            <a:schemeClr val="accent5"/>
          </a:solidFill>
          <a:ln/>
        </p:spPr>
      </p:sp>
      <p:sp>
        <p:nvSpPr>
          <p:cNvPr id="6" name="Text 3"/>
          <p:cNvSpPr txBox="1"/>
          <p:nvPr/>
        </p:nvSpPr>
        <p:spPr>
          <a:xfrm>
            <a:off x="8366760" y="1947672"/>
            <a:ext cx="3044952" cy="596646"/>
          </a:xfrm>
          <a:prstGeom prst="rect">
            <a:avLst/>
          </a:prstGeom>
          <a:noFill/>
          <a:ln/>
        </p:spPr>
        <p:txBody>
          <a:bodyPr wrap="square" lIns="0" tIns="0" rIns="0" bIns="0" rtlCol="0" anchor="ctr"/>
          <a:lstStyle/>
          <a:p>
            <a:pPr indent="0" marL="0">
              <a:buNone/>
            </a:pPr>
            <a:r>
              <a:rPr lang="en-US" sz="3200" b="1" dirty="0">
                <a:solidFill>
                  <a:schemeClr val="accent2"/>
                </a:solidFill>
              </a:rPr>
              <a:t>2.5%</a:t>
            </a:r>
            <a:endParaRPr lang="en-US" sz="3200" dirty="0"/>
          </a:p>
        </p:txBody>
      </p:sp>
      <p:sp>
        <p:nvSpPr>
          <p:cNvPr id="7" name="Text 4"/>
          <p:cNvSpPr txBox="1"/>
          <p:nvPr/>
        </p:nvSpPr>
        <p:spPr>
          <a:xfrm>
            <a:off x="8366760" y="2562606"/>
            <a:ext cx="3044952" cy="454914"/>
          </a:xfrm>
          <a:prstGeom prst="rect">
            <a:avLst/>
          </a:prstGeom>
          <a:noFill/>
          <a:ln/>
        </p:spPr>
        <p:txBody>
          <a:bodyPr wrap="square" lIns="0" tIns="0" rIns="0" bIns="0" rtlCol="0" anchor="t"/>
          <a:lstStyle/>
          <a:p>
            <a:pPr indent="0" marL="0">
              <a:buNone/>
            </a:pPr>
            <a:r>
              <a:rPr lang="en-US" sz="1300" dirty="0">
                <a:solidFill>
                  <a:schemeClr val="bg1"/>
                </a:solidFill>
              </a:rPr>
              <a:t>of revenue from the top 100 customers ($615K of $24.9M)</a:t>
            </a:r>
            <a:endParaRPr lang="en-US" sz="1300" dirty="0"/>
          </a:p>
        </p:txBody>
      </p:sp>
      <p:sp>
        <p:nvSpPr>
          <p:cNvPr id="8" name="stat-card"/>
          <p:cNvSpPr/>
          <p:nvPr/>
        </p:nvSpPr>
        <p:spPr>
          <a:xfrm>
            <a:off x="8138160" y="3337560"/>
            <a:ext cx="3502152" cy="1325880"/>
          </a:xfrm>
          <a:prstGeom prst="roundRect">
            <a:avLst>
              <a:gd name="adj" fmla="val 8276"/>
            </a:avLst>
          </a:prstGeom>
          <a:solidFill>
            <a:schemeClr val="bg2"/>
          </a:solidFill>
          <a:ln/>
        </p:spPr>
      </p:sp>
      <p:sp>
        <p:nvSpPr>
          <p:cNvPr id="9" name="Text 6"/>
          <p:cNvSpPr txBox="1"/>
          <p:nvPr/>
        </p:nvSpPr>
        <p:spPr>
          <a:xfrm>
            <a:off x="8366760" y="3502152"/>
            <a:ext cx="3044952" cy="596646"/>
          </a:xfrm>
          <a:prstGeom prst="rect">
            <a:avLst/>
          </a:prstGeom>
          <a:noFill/>
          <a:ln/>
        </p:spPr>
        <p:txBody>
          <a:bodyPr wrap="square" lIns="0" tIns="0" rIns="0" bIns="0" rtlCol="0" anchor="ctr"/>
          <a:lstStyle/>
          <a:p>
            <a:pPr indent="0" marL="0">
              <a:buNone/>
            </a:pPr>
            <a:r>
              <a:rPr lang="en-US" sz="3200" b="1" dirty="0">
                <a:solidFill>
                  <a:schemeClr val="accent1"/>
                </a:solidFill>
              </a:rPr>
              <a:t>$12,408</a:t>
            </a:r>
            <a:endParaRPr lang="en-US" sz="3200" dirty="0"/>
          </a:p>
        </p:txBody>
      </p:sp>
      <p:sp>
        <p:nvSpPr>
          <p:cNvPr id="10" name="Text 7"/>
          <p:cNvSpPr txBox="1"/>
          <p:nvPr/>
        </p:nvSpPr>
        <p:spPr>
          <a:xfrm>
            <a:off x="8366760" y="4117086"/>
            <a:ext cx="3044952" cy="454914"/>
          </a:xfrm>
          <a:prstGeom prst="rect">
            <a:avLst/>
          </a:prstGeom>
          <a:noFill/>
          <a:ln/>
        </p:spPr>
        <p:txBody>
          <a:bodyPr wrap="square" lIns="0" tIns="0" rIns="0" bIns="0" rtlCol="0" anchor="t"/>
          <a:lstStyle/>
          <a:p>
            <a:pPr indent="0" marL="0">
              <a:buNone/>
            </a:pPr>
            <a:r>
              <a:rPr lang="en-US" sz="1400" dirty="0">
                <a:solidFill>
                  <a:schemeClr val="tx1"/>
                </a:solidFill>
              </a:rPr>
              <a:t>Mr. Maurice Shan: top by revenue, on just 6 orders</a:t>
            </a:r>
            <a:endParaRPr lang="en-US" sz="1400" dirty="0"/>
          </a:p>
        </p:txBody>
      </p:sp>
      <p:sp>
        <p:nvSpPr>
          <p:cNvPr id="11" name="note-card"/>
          <p:cNvSpPr/>
          <p:nvPr/>
        </p:nvSpPr>
        <p:spPr>
          <a:xfrm>
            <a:off x="8138160" y="4892040"/>
            <a:ext cx="3502152" cy="1325880"/>
          </a:xfrm>
          <a:prstGeom prst="roundRect">
            <a:avLst>
              <a:gd name="adj" fmla="val 8276"/>
            </a:avLst>
          </a:prstGeom>
          <a:solidFill>
            <a:schemeClr val="bg2"/>
          </a:solidFill>
          <a:ln/>
        </p:spPr>
      </p:sp>
      <p:sp>
        <p:nvSpPr>
          <p:cNvPr id="12" name="Text 9"/>
          <p:cNvSpPr txBox="1"/>
          <p:nvPr/>
        </p:nvSpPr>
        <p:spPr>
          <a:xfrm>
            <a:off x="8366760" y="4892040"/>
            <a:ext cx="3044952" cy="1325880"/>
          </a:xfrm>
          <a:prstGeom prst="rect">
            <a:avLst/>
          </a:prstGeom>
          <a:noFill/>
          <a:ln/>
        </p:spPr>
        <p:txBody>
          <a:bodyPr wrap="square" lIns="0" tIns="0" rIns="0" bIns="0" rtlCol="0" anchor="ctr"/>
          <a:lstStyle/>
          <a:p>
            <a:pPr indent="0" marL="0">
              <a:buNone/>
            </a:pPr>
            <a:r>
              <a:rPr lang="en-US" sz="1200" dirty="0">
                <a:solidFill>
                  <a:schemeClr val="tx1"/>
                </a:solidFill>
              </a:rPr>
              <a:t>Frequent-buyer figure: top-10 customers by orders, revenue ÷ orders (~$1.5–1.8K over 24–26 orders). Average order = $24.9M ÷ 25.2K.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Recommendations</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Four moves to grow value per customer, cut returns and protect the margin</a:t>
            </a:r>
            <a:endParaRPr lang="en-US" sz="1800" dirty="0"/>
          </a:p>
        </p:txBody>
      </p:sp>
      <p:sp>
        <p:nvSpPr>
          <p:cNvPr id="4" name="rec-card"/>
          <p:cNvSpPr/>
          <p:nvPr/>
        </p:nvSpPr>
        <p:spPr>
          <a:xfrm>
            <a:off x="548640" y="1783080"/>
            <a:ext cx="2601468" cy="3611880"/>
          </a:xfrm>
          <a:prstGeom prst="roundRect">
            <a:avLst>
              <a:gd name="adj" fmla="val 4218"/>
            </a:avLst>
          </a:prstGeom>
          <a:solidFill>
            <a:schemeClr val="bg2"/>
          </a:solidFill>
          <a:ln/>
        </p:spPr>
      </p:sp>
      <p:sp>
        <p:nvSpPr>
          <p:cNvPr id="5" name="badge"/>
          <p:cNvSpPr/>
          <p:nvPr/>
        </p:nvSpPr>
        <p:spPr>
          <a:xfrm>
            <a:off x="777240" y="1965960"/>
            <a:ext cx="502920" cy="502920"/>
          </a:xfrm>
          <a:prstGeom prst="ellipse">
            <a:avLst/>
          </a:prstGeom>
          <a:solidFill>
            <a:schemeClr val="accent1"/>
          </a:solidFill>
          <a:ln/>
        </p:spPr>
      </p:sp>
      <p:sp>
        <p:nvSpPr>
          <p:cNvPr id="6" name="Text 4"/>
          <p:cNvSpPr txBox="1"/>
          <p:nvPr/>
        </p:nvSpPr>
        <p:spPr>
          <a:xfrm>
            <a:off x="777240"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777240" y="2651760"/>
            <a:ext cx="2144268" cy="685800"/>
          </a:xfrm>
          <a:prstGeom prst="rect">
            <a:avLst/>
          </a:prstGeom>
          <a:noFill/>
          <a:ln/>
        </p:spPr>
        <p:txBody>
          <a:bodyPr wrap="square" lIns="0" tIns="0" rIns="0" bIns="0" rtlCol="0" anchor="t"/>
          <a:lstStyle/>
          <a:p>
            <a:pPr indent="0" marL="0">
              <a:buNone/>
            </a:pPr>
            <a:r>
              <a:rPr lang="en-US" sz="1900" b="1" dirty="0">
                <a:solidFill>
                  <a:schemeClr val="accent1"/>
                </a:solidFill>
              </a:rPr>
              <a:t>Grow basket value</a:t>
            </a:r>
            <a:endParaRPr lang="en-US" sz="1900" dirty="0"/>
          </a:p>
        </p:txBody>
      </p:sp>
      <p:sp>
        <p:nvSpPr>
          <p:cNvPr id="8" name="Text 6"/>
          <p:cNvSpPr txBox="1"/>
          <p:nvPr/>
        </p:nvSpPr>
        <p:spPr>
          <a:xfrm>
            <a:off x="777240" y="3429000"/>
            <a:ext cx="2144268" cy="1828800"/>
          </a:xfrm>
          <a:prstGeom prst="rect">
            <a:avLst/>
          </a:prstGeom>
          <a:noFill/>
          <a:ln/>
        </p:spPr>
        <p:txBody>
          <a:bodyPr wrap="square" lIns="0" tIns="0" rIns="0" bIns="0" rtlCol="0" anchor="t"/>
          <a:lstStyle/>
          <a:p>
            <a:pPr indent="0" marL="0">
              <a:buNone/>
            </a:pPr>
            <a:r>
              <a:rPr lang="en-US" sz="1400" dirty="0">
                <a:solidFill>
                  <a:schemeClr val="tx1"/>
                </a:solidFill>
              </a:rPr>
              <a:t>Bundle accessories with bikes and apparel, and cross-sell at checkout. Target high-income customers with premium ranges.</a:t>
            </a:r>
            <a:endParaRPr lang="en-US" sz="1400" dirty="0"/>
          </a:p>
        </p:txBody>
      </p:sp>
      <p:sp>
        <p:nvSpPr>
          <p:cNvPr id="9" name="rec-card"/>
          <p:cNvSpPr/>
          <p:nvPr/>
        </p:nvSpPr>
        <p:spPr>
          <a:xfrm>
            <a:off x="3378708" y="1783080"/>
            <a:ext cx="2601468" cy="3611880"/>
          </a:xfrm>
          <a:prstGeom prst="roundRect">
            <a:avLst>
              <a:gd name="adj" fmla="val 4218"/>
            </a:avLst>
          </a:prstGeom>
          <a:solidFill>
            <a:schemeClr val="bg2"/>
          </a:solidFill>
          <a:ln/>
        </p:spPr>
      </p:sp>
      <p:sp>
        <p:nvSpPr>
          <p:cNvPr id="10" name="badge"/>
          <p:cNvSpPr/>
          <p:nvPr/>
        </p:nvSpPr>
        <p:spPr>
          <a:xfrm>
            <a:off x="3607308" y="1965960"/>
            <a:ext cx="502920" cy="502920"/>
          </a:xfrm>
          <a:prstGeom prst="ellipse">
            <a:avLst/>
          </a:prstGeom>
          <a:solidFill>
            <a:schemeClr val="accent1"/>
          </a:solidFill>
          <a:ln/>
        </p:spPr>
      </p:sp>
      <p:sp>
        <p:nvSpPr>
          <p:cNvPr id="11" name="Text 9"/>
          <p:cNvSpPr txBox="1"/>
          <p:nvPr/>
        </p:nvSpPr>
        <p:spPr>
          <a:xfrm>
            <a:off x="3607308"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3607308" y="2651760"/>
            <a:ext cx="2144268" cy="685800"/>
          </a:xfrm>
          <a:prstGeom prst="rect">
            <a:avLst/>
          </a:prstGeom>
          <a:noFill/>
          <a:ln/>
        </p:spPr>
        <p:txBody>
          <a:bodyPr wrap="square" lIns="0" tIns="0" rIns="0" bIns="0" rtlCol="0" anchor="t"/>
          <a:lstStyle/>
          <a:p>
            <a:pPr indent="0" marL="0">
              <a:buNone/>
            </a:pPr>
            <a:r>
              <a:rPr lang="en-US" sz="1900" b="1" dirty="0">
                <a:solidFill>
                  <a:schemeClr val="accent1"/>
                </a:solidFill>
              </a:rPr>
              <a:t>Fix returns at the source</a:t>
            </a:r>
            <a:endParaRPr lang="en-US" sz="1900" dirty="0"/>
          </a:p>
        </p:txBody>
      </p:sp>
      <p:sp>
        <p:nvSpPr>
          <p:cNvPr id="13" name="Text 11"/>
          <p:cNvSpPr txBox="1"/>
          <p:nvPr/>
        </p:nvSpPr>
        <p:spPr>
          <a:xfrm>
            <a:off x="3607308" y="3429000"/>
            <a:ext cx="2144268" cy="1828800"/>
          </a:xfrm>
          <a:prstGeom prst="rect">
            <a:avLst/>
          </a:prstGeom>
          <a:noFill/>
          <a:ln/>
        </p:spPr>
        <p:txBody>
          <a:bodyPr wrap="square" lIns="0" tIns="0" rIns="0" bIns="0" rtlCol="0" anchor="t"/>
          <a:lstStyle/>
          <a:p>
            <a:pPr indent="0" marL="0">
              <a:buNone/>
            </a:pPr>
            <a:r>
              <a:rPr lang="en-US" sz="1400" dirty="0">
                <a:solidFill>
                  <a:schemeClr val="tx1"/>
                </a:solidFill>
              </a:rPr>
              <a:t>Investigate Sport-100 helmet fit, quality and sizing guidance, and review shorts. Aim to bring helmets to the 2.2% average.</a:t>
            </a:r>
            <a:endParaRPr lang="en-US" sz="1400" dirty="0"/>
          </a:p>
        </p:txBody>
      </p:sp>
      <p:sp>
        <p:nvSpPr>
          <p:cNvPr id="14" name="rec-card"/>
          <p:cNvSpPr/>
          <p:nvPr/>
        </p:nvSpPr>
        <p:spPr>
          <a:xfrm>
            <a:off x="6208776" y="1783080"/>
            <a:ext cx="2601468" cy="3611880"/>
          </a:xfrm>
          <a:prstGeom prst="roundRect">
            <a:avLst>
              <a:gd name="adj" fmla="val 4218"/>
            </a:avLst>
          </a:prstGeom>
          <a:solidFill>
            <a:schemeClr val="bg2"/>
          </a:solidFill>
          <a:ln/>
        </p:spPr>
      </p:sp>
      <p:sp>
        <p:nvSpPr>
          <p:cNvPr id="15" name="badge"/>
          <p:cNvSpPr/>
          <p:nvPr/>
        </p:nvSpPr>
        <p:spPr>
          <a:xfrm>
            <a:off x="6437376" y="1965960"/>
            <a:ext cx="502920" cy="502920"/>
          </a:xfrm>
          <a:prstGeom prst="ellipse">
            <a:avLst/>
          </a:prstGeom>
          <a:solidFill>
            <a:schemeClr val="accent1"/>
          </a:solidFill>
          <a:ln/>
        </p:spPr>
      </p:sp>
      <p:sp>
        <p:nvSpPr>
          <p:cNvPr id="16" name="Text 14"/>
          <p:cNvSpPr txBox="1"/>
          <p:nvPr/>
        </p:nvSpPr>
        <p:spPr>
          <a:xfrm>
            <a:off x="6437376"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6437376" y="2651760"/>
            <a:ext cx="2144268" cy="685800"/>
          </a:xfrm>
          <a:prstGeom prst="rect">
            <a:avLst/>
          </a:prstGeom>
          <a:noFill/>
          <a:ln/>
        </p:spPr>
        <p:txBody>
          <a:bodyPr wrap="square" lIns="0" tIns="0" rIns="0" bIns="0" rtlCol="0" anchor="t"/>
          <a:lstStyle/>
          <a:p>
            <a:pPr indent="0" marL="0">
              <a:buNone/>
            </a:pPr>
            <a:r>
              <a:rPr lang="en-US" sz="1900" b="1" dirty="0">
                <a:solidFill>
                  <a:schemeClr val="accent1"/>
                </a:solidFill>
              </a:rPr>
              <a:t>Segment by value</a:t>
            </a:r>
            <a:endParaRPr lang="en-US" sz="1900" dirty="0"/>
          </a:p>
        </p:txBody>
      </p:sp>
      <p:sp>
        <p:nvSpPr>
          <p:cNvPr id="18" name="Text 16"/>
          <p:cNvSpPr txBox="1"/>
          <p:nvPr/>
        </p:nvSpPr>
        <p:spPr>
          <a:xfrm>
            <a:off x="6437376" y="3429000"/>
            <a:ext cx="2144268" cy="1828800"/>
          </a:xfrm>
          <a:prstGeom prst="rect">
            <a:avLst/>
          </a:prstGeom>
          <a:noFill/>
          <a:ln/>
        </p:spPr>
        <p:txBody>
          <a:bodyPr wrap="square" lIns="0" tIns="0" rIns="0" bIns="0" rtlCol="0" anchor="t"/>
          <a:lstStyle/>
          <a:p>
            <a:pPr indent="0" marL="0">
              <a:buNone/>
            </a:pPr>
            <a:r>
              <a:rPr lang="en-US" sz="1400" dirty="0">
                <a:solidFill>
                  <a:schemeClr val="tx1"/>
                </a:solidFill>
              </a:rPr>
              <a:t>Move from frequency to value segments. Run loyalty and upsell for frequent low-spend buyers, and a VIP track for high-value ones.</a:t>
            </a:r>
            <a:endParaRPr lang="en-US" sz="1400" dirty="0"/>
          </a:p>
        </p:txBody>
      </p:sp>
      <p:sp>
        <p:nvSpPr>
          <p:cNvPr id="19" name="rec-card"/>
          <p:cNvSpPr/>
          <p:nvPr/>
        </p:nvSpPr>
        <p:spPr>
          <a:xfrm>
            <a:off x="9038844" y="1783080"/>
            <a:ext cx="2601468" cy="3611880"/>
          </a:xfrm>
          <a:prstGeom prst="roundRect">
            <a:avLst>
              <a:gd name="adj" fmla="val 4218"/>
            </a:avLst>
          </a:prstGeom>
          <a:solidFill>
            <a:schemeClr val="bg2"/>
          </a:solidFill>
          <a:ln/>
        </p:spPr>
      </p:sp>
      <p:sp>
        <p:nvSpPr>
          <p:cNvPr id="20" name="badge"/>
          <p:cNvSpPr/>
          <p:nvPr/>
        </p:nvSpPr>
        <p:spPr>
          <a:xfrm>
            <a:off x="9267444" y="1965960"/>
            <a:ext cx="502920" cy="502920"/>
          </a:xfrm>
          <a:prstGeom prst="ellipse">
            <a:avLst/>
          </a:prstGeom>
          <a:solidFill>
            <a:schemeClr val="accent1"/>
          </a:solidFill>
          <a:ln/>
        </p:spPr>
      </p:sp>
      <p:sp>
        <p:nvSpPr>
          <p:cNvPr id="21" name="Text 19"/>
          <p:cNvSpPr txBox="1"/>
          <p:nvPr/>
        </p:nvSpPr>
        <p:spPr>
          <a:xfrm>
            <a:off x="9267444"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20"/>
          <p:cNvSpPr txBox="1"/>
          <p:nvPr/>
        </p:nvSpPr>
        <p:spPr>
          <a:xfrm>
            <a:off x="9267444" y="2651760"/>
            <a:ext cx="2144268" cy="685800"/>
          </a:xfrm>
          <a:prstGeom prst="rect">
            <a:avLst/>
          </a:prstGeom>
          <a:noFill/>
          <a:ln/>
        </p:spPr>
        <p:txBody>
          <a:bodyPr wrap="square" lIns="0" tIns="0" rIns="0" bIns="0" rtlCol="0" anchor="t"/>
          <a:lstStyle/>
          <a:p>
            <a:pPr indent="0" marL="0">
              <a:buNone/>
            </a:pPr>
            <a:r>
              <a:rPr lang="en-US" sz="1900" b="1" dirty="0">
                <a:solidFill>
                  <a:schemeClr val="accent1"/>
                </a:solidFill>
              </a:rPr>
              <a:t>Test pricing and markets</a:t>
            </a:r>
            <a:endParaRPr lang="en-US" sz="1900" dirty="0"/>
          </a:p>
        </p:txBody>
      </p:sp>
      <p:sp>
        <p:nvSpPr>
          <p:cNvPr id="23" name="Text 21"/>
          <p:cNvSpPr txBox="1"/>
          <p:nvPr/>
        </p:nvSpPr>
        <p:spPr>
          <a:xfrm>
            <a:off x="9267444" y="3429000"/>
            <a:ext cx="2144268" cy="1828800"/>
          </a:xfrm>
          <a:prstGeom prst="rect">
            <a:avLst/>
          </a:prstGeom>
          <a:noFill/>
          <a:ln/>
        </p:spPr>
        <p:txBody>
          <a:bodyPr wrap="square" lIns="0" tIns="0" rIns="0" bIns="0" rtlCol="0" anchor="t"/>
          <a:lstStyle/>
          <a:p>
            <a:pPr indent="0" marL="0">
              <a:buNone/>
            </a:pPr>
            <a:r>
              <a:rPr lang="en-US" sz="1400" dirty="0">
                <a:solidFill>
                  <a:schemeClr val="tx1"/>
                </a:solidFill>
              </a:rPr>
              <a:t>Validate the Road Tire Tube price what-if with a controlled test. Pilot a European growth push once the map metric is confirmed.</a:t>
            </a:r>
            <a:endParaRPr lang="en-US" sz="1400" dirty="0"/>
          </a:p>
        </p:txBody>
      </p:sp>
      <p:sp>
        <p:nvSpPr>
          <p:cNvPr id="24" name="callout-card"/>
          <p:cNvSpPr/>
          <p:nvPr/>
        </p:nvSpPr>
        <p:spPr>
          <a:xfrm>
            <a:off x="548640" y="5577840"/>
            <a:ext cx="11091672" cy="640080"/>
          </a:xfrm>
          <a:prstGeom prst="roundRect">
            <a:avLst>
              <a:gd name="adj" fmla="val 17143"/>
            </a:avLst>
          </a:prstGeom>
          <a:solidFill>
            <a:schemeClr val="bg2"/>
          </a:solidFill>
          <a:ln/>
        </p:spPr>
      </p:sp>
      <p:sp>
        <p:nvSpPr>
          <p:cNvPr id="25" name="Text 23"/>
          <p:cNvSpPr txBox="1"/>
          <p:nvPr/>
        </p:nvSpPr>
        <p:spPr>
          <a:xfrm>
            <a:off x="777240" y="5577840"/>
            <a:ext cx="10634472" cy="640080"/>
          </a:xfrm>
          <a:prstGeom prst="rect">
            <a:avLst/>
          </a:prstGeom>
          <a:noFill/>
          <a:ln/>
        </p:spPr>
        <p:txBody>
          <a:bodyPr wrap="square" lIns="0" tIns="0" rIns="0" bIns="0" rtlCol="0" anchor="ctr"/>
          <a:lstStyle/>
          <a:p>
            <a:pPr indent="0" marL="0">
              <a:buNone/>
            </a:pPr>
            <a:r>
              <a:rPr lang="en-US" sz="1500" b="1" dirty="0">
                <a:solidFill>
                  <a:schemeClr val="accent1"/>
                </a:solidFill>
              </a:rPr>
              <a:t>Suggested order: </a:t>
            </a:r>
            <a:pPr indent="0" marL="0">
              <a:buNone/>
            </a:pPr>
            <a:r>
              <a:rPr lang="en-US" sz="1500" dirty="0">
                <a:solidFill>
                  <a:schemeClr val="tx1"/>
                </a:solidFill>
              </a:rPr>
              <a:t>returns first (fastest margin win), then value segmentation, then pricing and market pilots.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accent1"/>
                </a:solidFill>
              </a:rPr>
              <a:t>Roadmap and success metrics</a:t>
            </a:r>
            <a:endParaRPr lang="en-US" sz="3400" dirty="0"/>
          </a:p>
        </p:txBody>
      </p:sp>
      <p:sp>
        <p:nvSpPr>
          <p:cNvPr id="3" name="takeaway"/>
          <p:cNvSpPr txBox="1"/>
          <p:nvPr/>
        </p:nvSpPr>
        <p:spPr>
          <a:xfrm>
            <a:off x="548640" y="1143000"/>
            <a:ext cx="11091672" cy="457200"/>
          </a:xfrm>
          <a:prstGeom prst="rect">
            <a:avLst/>
          </a:prstGeom>
          <a:noFill/>
          <a:ln/>
        </p:spPr>
        <p:txBody>
          <a:bodyPr wrap="square" lIns="0" tIns="0" rIns="0" bIns="0" rtlCol="0" anchor="t"/>
          <a:lstStyle/>
          <a:p>
            <a:pPr indent="0" marL="0">
              <a:buNone/>
            </a:pPr>
            <a:r>
              <a:rPr lang="en-US" sz="1800" dirty="0">
                <a:solidFill>
                  <a:schemeClr val="tx1"/>
                </a:solidFill>
              </a:rPr>
              <a:t>Quick wins in 30 days, structural changes by day 90</a:t>
            </a:r>
            <a:endParaRPr lang="en-US" sz="1800" dirty="0"/>
          </a:p>
        </p:txBody>
      </p:sp>
      <p:sp>
        <p:nvSpPr>
          <p:cNvPr id="4" name="road-card"/>
          <p:cNvSpPr/>
          <p:nvPr/>
        </p:nvSpPr>
        <p:spPr>
          <a:xfrm>
            <a:off x="548640" y="1783080"/>
            <a:ext cx="3544824" cy="2103120"/>
          </a:xfrm>
          <a:prstGeom prst="roundRect">
            <a:avLst>
              <a:gd name="adj" fmla="val 5217"/>
            </a:avLst>
          </a:prstGeom>
          <a:solidFill>
            <a:schemeClr val="bg2"/>
          </a:solidFill>
          <a:ln/>
        </p:spPr>
      </p:sp>
      <p:sp>
        <p:nvSpPr>
          <p:cNvPr id="5" name="badge"/>
          <p:cNvSpPr/>
          <p:nvPr/>
        </p:nvSpPr>
        <p:spPr>
          <a:xfrm>
            <a:off x="777240" y="1965960"/>
            <a:ext cx="457200" cy="457200"/>
          </a:xfrm>
          <a:prstGeom prst="ellipse">
            <a:avLst/>
          </a:prstGeom>
          <a:solidFill>
            <a:schemeClr val="accent1"/>
          </a:solidFill>
          <a:ln/>
        </p:spPr>
      </p:sp>
      <p:sp>
        <p:nvSpPr>
          <p:cNvPr id="6" name="Text 4"/>
          <p:cNvSpPr txBox="1"/>
          <p:nvPr/>
        </p:nvSpPr>
        <p:spPr>
          <a:xfrm>
            <a:off x="777240" y="1965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417320" y="1965960"/>
            <a:ext cx="2447544" cy="457200"/>
          </a:xfrm>
          <a:prstGeom prst="rect">
            <a:avLst/>
          </a:prstGeom>
          <a:noFill/>
          <a:ln/>
        </p:spPr>
        <p:txBody>
          <a:bodyPr wrap="square" lIns="0" tIns="0" rIns="0" bIns="0" rtlCol="0" anchor="ctr"/>
          <a:lstStyle/>
          <a:p>
            <a:pPr indent="0" marL="0">
              <a:buNone/>
            </a:pPr>
            <a:r>
              <a:rPr lang="en-US" sz="2000" b="1" dirty="0">
                <a:solidFill>
                  <a:schemeClr val="accent1"/>
                </a:solidFill>
              </a:rPr>
              <a:t>Days 1–30</a:t>
            </a:r>
            <a:endParaRPr lang="en-US" sz="2000" dirty="0"/>
          </a:p>
        </p:txBody>
      </p:sp>
      <p:sp>
        <p:nvSpPr>
          <p:cNvPr id="8" name="Text 6"/>
          <p:cNvSpPr txBox="1"/>
          <p:nvPr/>
        </p:nvSpPr>
        <p:spPr>
          <a:xfrm>
            <a:off x="777240" y="2606040"/>
            <a:ext cx="3087624" cy="1188720"/>
          </a:xfrm>
          <a:prstGeom prst="rect">
            <a:avLst/>
          </a:prstGeom>
          <a:noFill/>
          <a:ln/>
        </p:spPr>
        <p:txBody>
          <a:bodyPr wrap="square" lIns="0" tIns="0" rIns="0" bIns="0" rtlCol="0" anchor="t"/>
          <a:lstStyle/>
          <a:p>
            <a:pPr indent="0" marL="0">
              <a:buNone/>
            </a:pPr>
            <a:r>
              <a:rPr lang="en-US" sz="1400" dirty="0">
                <a:solidFill>
                  <a:schemeClr val="tx1"/>
                </a:solidFill>
              </a:rPr>
              <a:t>Fix the Returns variance formula, confirm map and what-if definitions, and root-cause helmet returns.</a:t>
            </a:r>
            <a:endParaRPr lang="en-US" sz="1400" dirty="0"/>
          </a:p>
        </p:txBody>
      </p:sp>
      <p:sp>
        <p:nvSpPr>
          <p:cNvPr id="9" name="road-card"/>
          <p:cNvSpPr/>
          <p:nvPr/>
        </p:nvSpPr>
        <p:spPr>
          <a:xfrm>
            <a:off x="4322064" y="1783080"/>
            <a:ext cx="3544824" cy="2103120"/>
          </a:xfrm>
          <a:prstGeom prst="roundRect">
            <a:avLst>
              <a:gd name="adj" fmla="val 5217"/>
            </a:avLst>
          </a:prstGeom>
          <a:solidFill>
            <a:schemeClr val="bg2"/>
          </a:solidFill>
          <a:ln/>
        </p:spPr>
      </p:sp>
      <p:sp>
        <p:nvSpPr>
          <p:cNvPr id="10" name="badge"/>
          <p:cNvSpPr/>
          <p:nvPr/>
        </p:nvSpPr>
        <p:spPr>
          <a:xfrm>
            <a:off x="4550664" y="1965960"/>
            <a:ext cx="457200" cy="457200"/>
          </a:xfrm>
          <a:prstGeom prst="ellipse">
            <a:avLst/>
          </a:prstGeom>
          <a:solidFill>
            <a:schemeClr val="accent1"/>
          </a:solidFill>
          <a:ln/>
        </p:spPr>
      </p:sp>
      <p:sp>
        <p:nvSpPr>
          <p:cNvPr id="11" name="Text 9"/>
          <p:cNvSpPr txBox="1"/>
          <p:nvPr/>
        </p:nvSpPr>
        <p:spPr>
          <a:xfrm>
            <a:off x="4550664" y="1965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5190744" y="1965960"/>
            <a:ext cx="2447544" cy="457200"/>
          </a:xfrm>
          <a:prstGeom prst="rect">
            <a:avLst/>
          </a:prstGeom>
          <a:noFill/>
          <a:ln/>
        </p:spPr>
        <p:txBody>
          <a:bodyPr wrap="square" lIns="0" tIns="0" rIns="0" bIns="0" rtlCol="0" anchor="ctr"/>
          <a:lstStyle/>
          <a:p>
            <a:pPr indent="0" marL="0">
              <a:buNone/>
            </a:pPr>
            <a:r>
              <a:rPr lang="en-US" sz="2000" b="1" dirty="0">
                <a:solidFill>
                  <a:schemeClr val="accent1"/>
                </a:solidFill>
              </a:rPr>
              <a:t>Days 31–60</a:t>
            </a:r>
            <a:endParaRPr lang="en-US" sz="2000" dirty="0"/>
          </a:p>
        </p:txBody>
      </p:sp>
      <p:sp>
        <p:nvSpPr>
          <p:cNvPr id="13" name="Text 11"/>
          <p:cNvSpPr txBox="1"/>
          <p:nvPr/>
        </p:nvSpPr>
        <p:spPr>
          <a:xfrm>
            <a:off x="4550664" y="2606040"/>
            <a:ext cx="3087624" cy="1188720"/>
          </a:xfrm>
          <a:prstGeom prst="rect">
            <a:avLst/>
          </a:prstGeom>
          <a:noFill/>
          <a:ln/>
        </p:spPr>
        <p:txBody>
          <a:bodyPr wrap="square" lIns="0" tIns="0" rIns="0" bIns="0" rtlCol="0" anchor="t"/>
          <a:lstStyle/>
          <a:p>
            <a:pPr indent="0" marL="0">
              <a:buNone/>
            </a:pPr>
            <a:r>
              <a:rPr lang="en-US" sz="1400" dirty="0">
                <a:solidFill>
                  <a:schemeClr val="tx1"/>
                </a:solidFill>
              </a:rPr>
              <a:t>Launch accessory bundles and checkout cross-sell. Build value-based customer segments.</a:t>
            </a:r>
            <a:endParaRPr lang="en-US" sz="1400" dirty="0"/>
          </a:p>
        </p:txBody>
      </p:sp>
      <p:sp>
        <p:nvSpPr>
          <p:cNvPr id="14" name="road-card"/>
          <p:cNvSpPr/>
          <p:nvPr/>
        </p:nvSpPr>
        <p:spPr>
          <a:xfrm>
            <a:off x="8095488" y="1783080"/>
            <a:ext cx="3544824" cy="2103120"/>
          </a:xfrm>
          <a:prstGeom prst="roundRect">
            <a:avLst>
              <a:gd name="adj" fmla="val 5217"/>
            </a:avLst>
          </a:prstGeom>
          <a:solidFill>
            <a:schemeClr val="bg2"/>
          </a:solidFill>
          <a:ln/>
        </p:spPr>
      </p:sp>
      <p:sp>
        <p:nvSpPr>
          <p:cNvPr id="15" name="badge"/>
          <p:cNvSpPr/>
          <p:nvPr/>
        </p:nvSpPr>
        <p:spPr>
          <a:xfrm>
            <a:off x="8324088" y="1965960"/>
            <a:ext cx="457200" cy="457200"/>
          </a:xfrm>
          <a:prstGeom prst="ellipse">
            <a:avLst/>
          </a:prstGeom>
          <a:solidFill>
            <a:schemeClr val="accent1"/>
          </a:solidFill>
          <a:ln/>
        </p:spPr>
      </p:sp>
      <p:sp>
        <p:nvSpPr>
          <p:cNvPr id="16" name="Text 14"/>
          <p:cNvSpPr txBox="1"/>
          <p:nvPr/>
        </p:nvSpPr>
        <p:spPr>
          <a:xfrm>
            <a:off x="8324088" y="1965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8964168" y="1965960"/>
            <a:ext cx="2447544" cy="457200"/>
          </a:xfrm>
          <a:prstGeom prst="rect">
            <a:avLst/>
          </a:prstGeom>
          <a:noFill/>
          <a:ln/>
        </p:spPr>
        <p:txBody>
          <a:bodyPr wrap="square" lIns="0" tIns="0" rIns="0" bIns="0" rtlCol="0" anchor="ctr"/>
          <a:lstStyle/>
          <a:p>
            <a:pPr indent="0" marL="0">
              <a:buNone/>
            </a:pPr>
            <a:r>
              <a:rPr lang="en-US" sz="2000" b="1" dirty="0">
                <a:solidFill>
                  <a:schemeClr val="accent1"/>
                </a:solidFill>
              </a:rPr>
              <a:t>Days 61–90</a:t>
            </a:r>
            <a:endParaRPr lang="en-US" sz="2000" dirty="0"/>
          </a:p>
        </p:txBody>
      </p:sp>
      <p:sp>
        <p:nvSpPr>
          <p:cNvPr id="18" name="Text 16"/>
          <p:cNvSpPr txBox="1"/>
          <p:nvPr/>
        </p:nvSpPr>
        <p:spPr>
          <a:xfrm>
            <a:off x="8324088" y="2606040"/>
            <a:ext cx="3087624" cy="1188720"/>
          </a:xfrm>
          <a:prstGeom prst="rect">
            <a:avLst/>
          </a:prstGeom>
          <a:noFill/>
          <a:ln/>
        </p:spPr>
        <p:txBody>
          <a:bodyPr wrap="square" lIns="0" tIns="0" rIns="0" bIns="0" rtlCol="0" anchor="t"/>
          <a:lstStyle/>
          <a:p>
            <a:pPr indent="0" marL="0">
              <a:buNone/>
            </a:pPr>
            <a:r>
              <a:rPr lang="en-US" sz="1400" dirty="0">
                <a:solidFill>
                  <a:schemeClr val="tx1"/>
                </a:solidFill>
              </a:rPr>
              <a:t>Pilot the pricing test and a European campaign. Review results and scale what works.</a:t>
            </a:r>
            <a:endParaRPr lang="en-US" sz="1400" dirty="0"/>
          </a:p>
        </p:txBody>
      </p:sp>
      <p:sp>
        <p:nvSpPr>
          <p:cNvPr id="19" name="Text 17"/>
          <p:cNvSpPr txBox="1"/>
          <p:nvPr/>
        </p:nvSpPr>
        <p:spPr>
          <a:xfrm>
            <a:off x="548640" y="4114800"/>
            <a:ext cx="11091672" cy="320040"/>
          </a:xfrm>
          <a:prstGeom prst="rect">
            <a:avLst/>
          </a:prstGeom>
          <a:noFill/>
          <a:ln/>
        </p:spPr>
        <p:txBody>
          <a:bodyPr wrap="square" lIns="0" tIns="0" rIns="0" bIns="0" rtlCol="0" anchor="t"/>
          <a:lstStyle/>
          <a:p>
            <a:pPr indent="0" marL="0">
              <a:buNone/>
            </a:pPr>
            <a:r>
              <a:rPr lang="en-US" sz="1600" b="1" dirty="0">
                <a:solidFill>
                  <a:schemeClr val="accent1"/>
                </a:solidFill>
              </a:rPr>
              <a:t>Proposed targets (to be validated with stakeholders)</a:t>
            </a:r>
            <a:endParaRPr lang="en-US" sz="1600" dirty="0"/>
          </a:p>
        </p:txBody>
      </p:sp>
      <p:sp>
        <p:nvSpPr>
          <p:cNvPr id="20" name="stat-card"/>
          <p:cNvSpPr/>
          <p:nvPr/>
        </p:nvSpPr>
        <p:spPr>
          <a:xfrm>
            <a:off x="548640" y="4526280"/>
            <a:ext cx="2601468" cy="1691640"/>
          </a:xfrm>
          <a:prstGeom prst="roundRect">
            <a:avLst>
              <a:gd name="adj" fmla="val 6486"/>
            </a:avLst>
          </a:prstGeom>
          <a:solidFill>
            <a:schemeClr val="accent5"/>
          </a:solidFill>
          <a:ln/>
        </p:spPr>
      </p:sp>
      <p:sp>
        <p:nvSpPr>
          <p:cNvPr id="21" name="Text 19"/>
          <p:cNvSpPr txBox="1"/>
          <p:nvPr/>
        </p:nvSpPr>
        <p:spPr>
          <a:xfrm>
            <a:off x="777240" y="4690872"/>
            <a:ext cx="2144268" cy="761238"/>
          </a:xfrm>
          <a:prstGeom prst="rect">
            <a:avLst/>
          </a:prstGeom>
          <a:noFill/>
          <a:ln/>
        </p:spPr>
        <p:txBody>
          <a:bodyPr wrap="square" lIns="0" tIns="0" rIns="0" bIns="0" rtlCol="0" anchor="ctr"/>
          <a:lstStyle/>
          <a:p>
            <a:pPr indent="0" marL="0">
              <a:buNone/>
            </a:pPr>
            <a:r>
              <a:rPr lang="en-US" sz="2600" b="1" dirty="0">
                <a:solidFill>
                  <a:schemeClr val="accent2"/>
                </a:solidFill>
              </a:rPr>
              <a:t>2.2% → 2.0%</a:t>
            </a:r>
            <a:endParaRPr lang="en-US" sz="2600" dirty="0"/>
          </a:p>
        </p:txBody>
      </p:sp>
      <p:sp>
        <p:nvSpPr>
          <p:cNvPr id="22" name="Text 20"/>
          <p:cNvSpPr txBox="1"/>
          <p:nvPr/>
        </p:nvSpPr>
        <p:spPr>
          <a:xfrm>
            <a:off x="777240" y="5470398"/>
            <a:ext cx="2144268" cy="656082"/>
          </a:xfrm>
          <a:prstGeom prst="rect">
            <a:avLst/>
          </a:prstGeom>
          <a:noFill/>
          <a:ln/>
        </p:spPr>
        <p:txBody>
          <a:bodyPr wrap="square" lIns="0" tIns="0" rIns="0" bIns="0" rtlCol="0" anchor="t"/>
          <a:lstStyle/>
          <a:p>
            <a:pPr indent="0" marL="0">
              <a:buNone/>
            </a:pPr>
            <a:r>
              <a:rPr lang="en-US" sz="1400" dirty="0">
                <a:solidFill>
                  <a:schemeClr val="bg1"/>
                </a:solidFill>
              </a:rPr>
              <a:t>Company return rate</a:t>
            </a:r>
            <a:endParaRPr lang="en-US" sz="1400" dirty="0"/>
          </a:p>
        </p:txBody>
      </p:sp>
      <p:sp>
        <p:nvSpPr>
          <p:cNvPr id="23" name="stat-card"/>
          <p:cNvSpPr/>
          <p:nvPr/>
        </p:nvSpPr>
        <p:spPr>
          <a:xfrm>
            <a:off x="3378708" y="4526280"/>
            <a:ext cx="2601468" cy="1691640"/>
          </a:xfrm>
          <a:prstGeom prst="roundRect">
            <a:avLst>
              <a:gd name="adj" fmla="val 6486"/>
            </a:avLst>
          </a:prstGeom>
          <a:solidFill>
            <a:schemeClr val="bg2"/>
          </a:solidFill>
          <a:ln/>
        </p:spPr>
      </p:sp>
      <p:sp>
        <p:nvSpPr>
          <p:cNvPr id="24" name="Text 22"/>
          <p:cNvSpPr txBox="1"/>
          <p:nvPr/>
        </p:nvSpPr>
        <p:spPr>
          <a:xfrm>
            <a:off x="3607308" y="4690872"/>
            <a:ext cx="2144268" cy="761238"/>
          </a:xfrm>
          <a:prstGeom prst="rect">
            <a:avLst/>
          </a:prstGeom>
          <a:noFill/>
          <a:ln/>
        </p:spPr>
        <p:txBody>
          <a:bodyPr wrap="square" lIns="0" tIns="0" rIns="0" bIns="0" rtlCol="0" anchor="ctr"/>
          <a:lstStyle/>
          <a:p>
            <a:pPr indent="0" marL="0">
              <a:buNone/>
            </a:pPr>
            <a:r>
              <a:rPr lang="en-US" sz="2600" b="1" dirty="0">
                <a:solidFill>
                  <a:schemeClr val="accent1"/>
                </a:solidFill>
              </a:rPr>
              <a:t>3.3% → 2.5%</a:t>
            </a:r>
            <a:endParaRPr lang="en-US" sz="2600" dirty="0"/>
          </a:p>
        </p:txBody>
      </p:sp>
      <p:sp>
        <p:nvSpPr>
          <p:cNvPr id="25" name="Text 23"/>
          <p:cNvSpPr txBox="1"/>
          <p:nvPr/>
        </p:nvSpPr>
        <p:spPr>
          <a:xfrm>
            <a:off x="3607308" y="5470398"/>
            <a:ext cx="2144268" cy="656082"/>
          </a:xfrm>
          <a:prstGeom prst="rect">
            <a:avLst/>
          </a:prstGeom>
          <a:noFill/>
          <a:ln/>
        </p:spPr>
        <p:txBody>
          <a:bodyPr wrap="square" lIns="0" tIns="0" rIns="0" bIns="0" rtlCol="0" anchor="t"/>
          <a:lstStyle/>
          <a:p>
            <a:pPr indent="0" marL="0">
              <a:buNone/>
            </a:pPr>
            <a:r>
              <a:rPr lang="en-US" sz="1400" dirty="0">
                <a:solidFill>
                  <a:schemeClr val="tx1"/>
                </a:solidFill>
              </a:rPr>
              <a:t>Sport-100 Helmet, Red return rate</a:t>
            </a:r>
            <a:endParaRPr lang="en-US" sz="1400" dirty="0"/>
          </a:p>
        </p:txBody>
      </p:sp>
      <p:sp>
        <p:nvSpPr>
          <p:cNvPr id="26" name="stat-card"/>
          <p:cNvSpPr/>
          <p:nvPr/>
        </p:nvSpPr>
        <p:spPr>
          <a:xfrm>
            <a:off x="6208776" y="4526280"/>
            <a:ext cx="2601468" cy="1691640"/>
          </a:xfrm>
          <a:prstGeom prst="roundRect">
            <a:avLst>
              <a:gd name="adj" fmla="val 6486"/>
            </a:avLst>
          </a:prstGeom>
          <a:solidFill>
            <a:schemeClr val="accent5"/>
          </a:solidFill>
          <a:ln/>
        </p:spPr>
      </p:sp>
      <p:sp>
        <p:nvSpPr>
          <p:cNvPr id="27" name="Text 25"/>
          <p:cNvSpPr txBox="1"/>
          <p:nvPr/>
        </p:nvSpPr>
        <p:spPr>
          <a:xfrm>
            <a:off x="6437376" y="4690872"/>
            <a:ext cx="2144268" cy="761238"/>
          </a:xfrm>
          <a:prstGeom prst="rect">
            <a:avLst/>
          </a:prstGeom>
          <a:noFill/>
          <a:ln/>
        </p:spPr>
        <p:txBody>
          <a:bodyPr wrap="square" lIns="0" tIns="0" rIns="0" bIns="0" rtlCol="0" anchor="ctr"/>
          <a:lstStyle/>
          <a:p>
            <a:pPr indent="0" marL="0">
              <a:buNone/>
            </a:pPr>
            <a:r>
              <a:rPr lang="en-US" sz="2600" b="1" dirty="0">
                <a:solidFill>
                  <a:schemeClr val="accent2"/>
                </a:solidFill>
              </a:rPr>
              <a:t>$853 → $900</a:t>
            </a:r>
            <a:endParaRPr lang="en-US" sz="2600" dirty="0"/>
          </a:p>
        </p:txBody>
      </p:sp>
      <p:sp>
        <p:nvSpPr>
          <p:cNvPr id="28" name="Text 26"/>
          <p:cNvSpPr txBox="1"/>
          <p:nvPr/>
        </p:nvSpPr>
        <p:spPr>
          <a:xfrm>
            <a:off x="6437376" y="5470398"/>
            <a:ext cx="2144268" cy="656082"/>
          </a:xfrm>
          <a:prstGeom prst="rect">
            <a:avLst/>
          </a:prstGeom>
          <a:noFill/>
          <a:ln/>
        </p:spPr>
        <p:txBody>
          <a:bodyPr wrap="square" lIns="0" tIns="0" rIns="0" bIns="0" rtlCol="0" anchor="t"/>
          <a:lstStyle/>
          <a:p>
            <a:pPr indent="0" marL="0">
              <a:buNone/>
            </a:pPr>
            <a:r>
              <a:rPr lang="en-US" sz="1400" dirty="0">
                <a:solidFill>
                  <a:schemeClr val="bg1"/>
                </a:solidFill>
              </a:rPr>
              <a:t>Revenue per order</a:t>
            </a:r>
            <a:endParaRPr lang="en-US" sz="1400" dirty="0"/>
          </a:p>
        </p:txBody>
      </p:sp>
      <p:sp>
        <p:nvSpPr>
          <p:cNvPr id="29" name="stat-card"/>
          <p:cNvSpPr/>
          <p:nvPr/>
        </p:nvSpPr>
        <p:spPr>
          <a:xfrm>
            <a:off x="9038844" y="4526280"/>
            <a:ext cx="2601468" cy="1691640"/>
          </a:xfrm>
          <a:prstGeom prst="roundRect">
            <a:avLst>
              <a:gd name="adj" fmla="val 6486"/>
            </a:avLst>
          </a:prstGeom>
          <a:solidFill>
            <a:schemeClr val="bg2"/>
          </a:solidFill>
          <a:ln/>
        </p:spPr>
      </p:sp>
      <p:sp>
        <p:nvSpPr>
          <p:cNvPr id="30" name="Text 28"/>
          <p:cNvSpPr txBox="1"/>
          <p:nvPr/>
        </p:nvSpPr>
        <p:spPr>
          <a:xfrm>
            <a:off x="9267444" y="4690872"/>
            <a:ext cx="2144268" cy="761238"/>
          </a:xfrm>
          <a:prstGeom prst="rect">
            <a:avLst/>
          </a:prstGeom>
          <a:noFill/>
          <a:ln/>
        </p:spPr>
        <p:txBody>
          <a:bodyPr wrap="square" lIns="0" tIns="0" rIns="0" bIns="0" rtlCol="0" anchor="ctr"/>
          <a:lstStyle/>
          <a:p>
            <a:pPr indent="0" marL="0">
              <a:buNone/>
            </a:pPr>
            <a:r>
              <a:rPr lang="en-US" sz="2600" b="1" dirty="0">
                <a:solidFill>
                  <a:schemeClr val="accent1"/>
                </a:solidFill>
              </a:rPr>
              <a:t>91% → 100%</a:t>
            </a:r>
            <a:endParaRPr lang="en-US" sz="2600" dirty="0"/>
          </a:p>
        </p:txBody>
      </p:sp>
      <p:sp>
        <p:nvSpPr>
          <p:cNvPr id="31" name="Text 29"/>
          <p:cNvSpPr txBox="1"/>
          <p:nvPr/>
        </p:nvSpPr>
        <p:spPr>
          <a:xfrm>
            <a:off x="9267444" y="5470398"/>
            <a:ext cx="2144268" cy="656082"/>
          </a:xfrm>
          <a:prstGeom prst="rect">
            <a:avLst/>
          </a:prstGeom>
          <a:noFill/>
          <a:ln/>
        </p:spPr>
        <p:txBody>
          <a:bodyPr wrap="square" lIns="0" tIns="0" rIns="0" bIns="0" rtlCol="0" anchor="t"/>
          <a:lstStyle/>
          <a:p>
            <a:pPr indent="0" marL="0">
              <a:buNone/>
            </a:pPr>
            <a:r>
              <a:rPr lang="en-US" sz="1400" dirty="0">
                <a:solidFill>
                  <a:schemeClr val="tx1"/>
                </a:solidFill>
              </a:rPr>
              <a:t>Road Tire Tube orders vs target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400" b="1" dirty="0">
                <a:solidFill>
                  <a:schemeClr val="bg1"/>
                </a:solidFill>
              </a:rPr>
              <a:t>Key takeaways</a:t>
            </a:r>
            <a:endParaRPr lang="en-US" sz="3400" dirty="0"/>
          </a:p>
        </p:txBody>
      </p:sp>
      <p:sp>
        <p:nvSpPr>
          <p:cNvPr id="3" name="badge"/>
          <p:cNvSpPr/>
          <p:nvPr/>
        </p:nvSpPr>
        <p:spPr>
          <a:xfrm>
            <a:off x="548640" y="1600200"/>
            <a:ext cx="640080" cy="640080"/>
          </a:xfrm>
          <a:prstGeom prst="ellipse">
            <a:avLst/>
          </a:prstGeom>
          <a:solidFill>
            <a:schemeClr val="accent1"/>
          </a:solidFill>
          <a:ln/>
        </p:spPr>
      </p:sp>
      <p:sp>
        <p:nvSpPr>
          <p:cNvPr id="4" name="Text 2"/>
          <p:cNvSpPr txBox="1"/>
          <p:nvPr/>
        </p:nvSpPr>
        <p:spPr>
          <a:xfrm>
            <a:off x="548640" y="16002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463040" y="1508760"/>
            <a:ext cx="10058400" cy="457200"/>
          </a:xfrm>
          <a:prstGeom prst="rect">
            <a:avLst/>
          </a:prstGeom>
          <a:noFill/>
          <a:ln/>
        </p:spPr>
        <p:txBody>
          <a:bodyPr wrap="square" lIns="0" tIns="0" rIns="0" bIns="0" rtlCol="0" anchor="ctr"/>
          <a:lstStyle/>
          <a:p>
            <a:pPr indent="0" marL="0">
              <a:buNone/>
            </a:pPr>
            <a:r>
              <a:rPr lang="en-US" sz="2400" b="1" dirty="0">
                <a:solidFill>
                  <a:schemeClr val="bg1"/>
                </a:solidFill>
              </a:rPr>
              <a:t>Growth is real, but it is customer-led</a:t>
            </a:r>
            <a:endParaRPr lang="en-US" sz="2400" dirty="0"/>
          </a:p>
        </p:txBody>
      </p:sp>
      <p:sp>
        <p:nvSpPr>
          <p:cNvPr id="6" name="Text 4"/>
          <p:cNvSpPr txBox="1"/>
          <p:nvPr/>
        </p:nvSpPr>
        <p:spPr>
          <a:xfrm>
            <a:off x="1463040" y="2011680"/>
            <a:ext cx="10058400" cy="457200"/>
          </a:xfrm>
          <a:prstGeom prst="rect">
            <a:avLst/>
          </a:prstGeom>
          <a:noFill/>
          <a:ln/>
        </p:spPr>
        <p:txBody>
          <a:bodyPr wrap="square" lIns="0" tIns="0" rIns="0" bIns="0" rtlCol="0" anchor="t"/>
          <a:lstStyle/>
          <a:p>
            <a:pPr indent="0" marL="0">
              <a:buNone/>
            </a:pPr>
            <a:r>
              <a:rPr lang="en-US" sz="1800" dirty="0">
                <a:solidFill>
                  <a:schemeClr val="accent2"/>
                </a:solidFill>
              </a:rPr>
              <a:t>Revenue tripled while revenue per customer fell ~74%.</a:t>
            </a:r>
            <a:endParaRPr lang="en-US" sz="1800" dirty="0"/>
          </a:p>
        </p:txBody>
      </p:sp>
      <p:sp>
        <p:nvSpPr>
          <p:cNvPr id="7" name="badge"/>
          <p:cNvSpPr/>
          <p:nvPr/>
        </p:nvSpPr>
        <p:spPr>
          <a:xfrm>
            <a:off x="548640" y="2834640"/>
            <a:ext cx="640080" cy="640080"/>
          </a:xfrm>
          <a:prstGeom prst="ellipse">
            <a:avLst/>
          </a:prstGeom>
          <a:solidFill>
            <a:schemeClr val="accent1"/>
          </a:solidFill>
          <a:ln/>
        </p:spPr>
      </p:sp>
      <p:sp>
        <p:nvSpPr>
          <p:cNvPr id="8" name="Text 6"/>
          <p:cNvSpPr txBox="1"/>
          <p:nvPr/>
        </p:nvSpPr>
        <p:spPr>
          <a:xfrm>
            <a:off x="548640" y="28346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463040" y="2743200"/>
            <a:ext cx="10058400" cy="457200"/>
          </a:xfrm>
          <a:prstGeom prst="rect">
            <a:avLst/>
          </a:prstGeom>
          <a:noFill/>
          <a:ln/>
        </p:spPr>
        <p:txBody>
          <a:bodyPr wrap="square" lIns="0" tIns="0" rIns="0" bIns="0" rtlCol="0" anchor="ctr"/>
          <a:lstStyle/>
          <a:p>
            <a:pPr indent="0" marL="0">
              <a:buNone/>
            </a:pPr>
            <a:r>
              <a:rPr lang="en-US" sz="2400" b="1" dirty="0">
                <a:solidFill>
                  <a:schemeClr val="bg1"/>
                </a:solidFill>
              </a:rPr>
              <a:t>Volume and value are different products</a:t>
            </a:r>
            <a:endParaRPr lang="en-US" sz="2400" dirty="0"/>
          </a:p>
        </p:txBody>
      </p:sp>
      <p:sp>
        <p:nvSpPr>
          <p:cNvPr id="10" name="Text 8"/>
          <p:cNvSpPr txBox="1"/>
          <p:nvPr/>
        </p:nvSpPr>
        <p:spPr>
          <a:xfrm>
            <a:off x="1463040" y="3246120"/>
            <a:ext cx="10058400" cy="457200"/>
          </a:xfrm>
          <a:prstGeom prst="rect">
            <a:avLst/>
          </a:prstGeom>
          <a:noFill/>
          <a:ln/>
        </p:spPr>
        <p:txBody>
          <a:bodyPr wrap="square" lIns="0" tIns="0" rIns="0" bIns="0" rtlCol="0" anchor="t"/>
          <a:lstStyle/>
          <a:p>
            <a:pPr indent="0" marL="0">
              <a:buNone/>
            </a:pPr>
            <a:r>
              <a:rPr lang="en-US" sz="1800" dirty="0">
                <a:solidFill>
                  <a:schemeClr val="accent2"/>
                </a:solidFill>
              </a:rPr>
              <a:t>Top sellers by orders add under 2% of revenue; helmets return above average.</a:t>
            </a:r>
            <a:endParaRPr lang="en-US" sz="1800" dirty="0"/>
          </a:p>
        </p:txBody>
      </p:sp>
      <p:sp>
        <p:nvSpPr>
          <p:cNvPr id="11" name="badge"/>
          <p:cNvSpPr/>
          <p:nvPr/>
        </p:nvSpPr>
        <p:spPr>
          <a:xfrm>
            <a:off x="548640" y="4069080"/>
            <a:ext cx="640080" cy="640080"/>
          </a:xfrm>
          <a:prstGeom prst="ellipse">
            <a:avLst/>
          </a:prstGeom>
          <a:solidFill>
            <a:schemeClr val="accent1"/>
          </a:solidFill>
          <a:ln/>
        </p:spPr>
      </p:sp>
      <p:sp>
        <p:nvSpPr>
          <p:cNvPr id="12" name="Text 10"/>
          <p:cNvSpPr txBox="1"/>
          <p:nvPr/>
        </p:nvSpPr>
        <p:spPr>
          <a:xfrm>
            <a:off x="548640" y="4069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463040" y="3977640"/>
            <a:ext cx="10058400" cy="457200"/>
          </a:xfrm>
          <a:prstGeom prst="rect">
            <a:avLst/>
          </a:prstGeom>
          <a:noFill/>
          <a:ln/>
        </p:spPr>
        <p:txBody>
          <a:bodyPr wrap="square" lIns="0" tIns="0" rIns="0" bIns="0" rtlCol="0" anchor="ctr"/>
          <a:lstStyle/>
          <a:p>
            <a:pPr indent="0" marL="0">
              <a:buNone/>
            </a:pPr>
            <a:r>
              <a:rPr lang="en-US" sz="2400" b="1" dirty="0">
                <a:solidFill>
                  <a:schemeClr val="bg1"/>
                </a:solidFill>
              </a:rPr>
              <a:t>Value, not frequency, should guide customers</a:t>
            </a:r>
            <a:endParaRPr lang="en-US" sz="2400" dirty="0"/>
          </a:p>
        </p:txBody>
      </p:sp>
      <p:sp>
        <p:nvSpPr>
          <p:cNvPr id="14" name="Text 12"/>
          <p:cNvSpPr txBox="1"/>
          <p:nvPr/>
        </p:nvSpPr>
        <p:spPr>
          <a:xfrm>
            <a:off x="1463040" y="4480560"/>
            <a:ext cx="10058400" cy="457200"/>
          </a:xfrm>
          <a:prstGeom prst="rect">
            <a:avLst/>
          </a:prstGeom>
          <a:noFill/>
          <a:ln/>
        </p:spPr>
        <p:txBody>
          <a:bodyPr wrap="square" lIns="0" tIns="0" rIns="0" bIns="0" rtlCol="0" anchor="t"/>
          <a:lstStyle/>
          <a:p>
            <a:pPr indent="0" marL="0">
              <a:buNone/>
            </a:pPr>
            <a:r>
              <a:rPr lang="en-US" sz="1800" dirty="0">
                <a:solidFill>
                  <a:schemeClr val="accent2"/>
                </a:solidFill>
              </a:rPr>
              <a:t>Top-frequency buyers spend ~$65 an order; high-income customers are under-served.</a:t>
            </a:r>
            <a:endParaRPr lang="en-US" sz="1800" dirty="0"/>
          </a:p>
        </p:txBody>
      </p:sp>
      <p:sp>
        <p:nvSpPr>
          <p:cNvPr id="15" name="analyst-card"/>
          <p:cNvSpPr/>
          <p:nvPr/>
        </p:nvSpPr>
        <p:spPr>
          <a:xfrm>
            <a:off x="548640" y="5257800"/>
            <a:ext cx="11091672" cy="1005840"/>
          </a:xfrm>
          <a:prstGeom prst="roundRect">
            <a:avLst>
              <a:gd name="adj" fmla="val 10909"/>
            </a:avLst>
          </a:prstGeom>
          <a:solidFill>
            <a:schemeClr val="accent1"/>
          </a:solidFill>
          <a:ln/>
        </p:spPr>
      </p:sp>
      <p:sp>
        <p:nvSpPr>
          <p:cNvPr id="16" name="Text 14"/>
          <p:cNvSpPr txBox="1"/>
          <p:nvPr/>
        </p:nvSpPr>
        <p:spPr>
          <a:xfrm>
            <a:off x="868680" y="5349240"/>
            <a:ext cx="3657600" cy="274320"/>
          </a:xfrm>
          <a:prstGeom prst="rect">
            <a:avLst/>
          </a:prstGeom>
          <a:noFill/>
          <a:ln/>
        </p:spPr>
        <p:txBody>
          <a:bodyPr wrap="square" lIns="0" tIns="0" rIns="0" bIns="0" rtlCol="0" anchor="t"/>
          <a:lstStyle/>
          <a:p>
            <a:pPr indent="0" marL="0">
              <a:buNone/>
            </a:pPr>
            <a:r>
              <a:rPr lang="en-US" sz="1200" dirty="0">
                <a:solidFill>
                  <a:schemeClr val="accent3"/>
                </a:solidFill>
              </a:rPr>
              <a:t>Prepared by</a:t>
            </a:r>
            <a:endParaRPr lang="en-US" sz="1200" dirty="0"/>
          </a:p>
        </p:txBody>
      </p:sp>
      <p:sp>
        <p:nvSpPr>
          <p:cNvPr id="17" name="Text 15"/>
          <p:cNvSpPr txBox="1"/>
          <p:nvPr/>
        </p:nvSpPr>
        <p:spPr>
          <a:xfrm>
            <a:off x="868680" y="5623560"/>
            <a:ext cx="6400800" cy="457200"/>
          </a:xfrm>
          <a:prstGeom prst="rect">
            <a:avLst/>
          </a:prstGeom>
          <a:noFill/>
          <a:ln/>
        </p:spPr>
        <p:txBody>
          <a:bodyPr wrap="square" lIns="0" tIns="0" rIns="0" bIns="0" rtlCol="0" anchor="t"/>
          <a:lstStyle/>
          <a:p>
            <a:pPr indent="0" marL="0">
              <a:buNone/>
            </a:pPr>
            <a:r>
              <a:rPr lang="en-US" sz="2400" b="1" dirty="0">
                <a:solidFill>
                  <a:schemeClr val="bg1"/>
                </a:solidFill>
              </a:rPr>
              <a:t>Iheanyi Okwara</a:t>
            </a:r>
            <a:endParaRPr lang="en-US" sz="2400" dirty="0"/>
          </a:p>
        </p:txBody>
      </p:sp>
      <p:sp>
        <p:nvSpPr>
          <p:cNvPr id="18" name="Text 16"/>
          <p:cNvSpPr txBox="1"/>
          <p:nvPr/>
        </p:nvSpPr>
        <p:spPr>
          <a:xfrm>
            <a:off x="6400800" y="5440680"/>
            <a:ext cx="5029200" cy="731520"/>
          </a:xfrm>
          <a:prstGeom prst="rect">
            <a:avLst/>
          </a:prstGeom>
          <a:noFill/>
          <a:ln/>
        </p:spPr>
        <p:txBody>
          <a:bodyPr wrap="square" lIns="0" tIns="0" rIns="0" bIns="0" rtlCol="0" anchor="ctr"/>
          <a:lstStyle/>
          <a:p>
            <a:pPr algn="r" indent="0" marL="0">
              <a:buNone/>
            </a:pPr>
            <a:r>
              <a:rPr lang="en-US" sz="1400" dirty="0">
                <a:solidFill>
                  <a:schemeClr val="bg1"/>
                </a:solidFill>
              </a:rPr>
              <a:t>Data Analyst</a:t>
            </a:r>
            <a:endParaRPr lang="en-US" sz="1400" dirty="0"/>
          </a:p>
          <a:p>
            <a:pPr algn="r" indent="0" marL="0">
              <a:buNone/>
            </a:pPr>
            <a:r>
              <a:rPr lang="en-US" sz="1400" dirty="0">
                <a:solidFill>
                  <a:schemeClr val="bg1"/>
                </a:solidFill>
              </a:rPr>
              <a:t>AdventureWorks Performance Analytics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ventureWorks Teal">
  <a:themeElements>
    <a:clrScheme name="AdventureWorks Teal">
      <a:dk1>
        <a:srgbClr val="1F1F1F"/>
      </a:dk1>
      <a:lt1>
        <a:srgbClr val="FFFFFF"/>
      </a:lt1>
      <a:dk2>
        <a:srgbClr val="2F3033"/>
      </a:dk2>
      <a:lt2>
        <a:srgbClr val="E6F5F4"/>
      </a:lt2>
      <a:accent1>
        <a:srgbClr val="0E7C7B"/>
      </a:accent1>
      <a:accent2>
        <a:srgbClr val="2EE6D6"/>
      </a:accent2>
      <a:accent3>
        <a:srgbClr val="8FD9D4"/>
      </a:accent3>
      <a:accent4>
        <a:srgbClr val="D64550"/>
      </a:accent4>
      <a:accent5>
        <a:srgbClr val="262626"/>
      </a:accent5>
      <a:accent6>
        <a:srgbClr val="1E90FF"/>
      </a:accent6>
      <a:hlink>
        <a:srgbClr val="0E7C7B"/>
      </a:hlink>
      <a:folHlink>
        <a:srgbClr val="2F3033"/>
      </a:folHlink>
    </a:clrScheme>
    <a:fontScheme name="AdventureWorks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AdventureWorks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AdventureWorks Performance Analytics</dc:title>
  <dc:subject>PptxGenJS Presentation</dc:subject>
  <dc:creator>Iheanyi Okwara</dc:creator>
  <cp:lastModifiedBy>Iheanyi Okwara</cp:lastModifiedBy>
  <cp:revision>1</cp:revision>
  <dcterms:created xsi:type="dcterms:W3CDTF">2026-10-12T09:12:32Z</dcterms:created>
  <dcterms:modified xsi:type="dcterms:W3CDTF">2026-10-12T09:12:32Z</dcterms:modified>
</cp:coreProperties>
</file>