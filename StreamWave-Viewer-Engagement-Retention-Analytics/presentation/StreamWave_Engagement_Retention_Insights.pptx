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4165CCF-2E94-9B8F-F3DC-9C20EBB74B51}">
          <p14:sldIdLst>
            <p14:sldId id="256"/>
            <p14:sldId id="257"/>
          </p14:sldIdLst>
        </p14:section>
        <p14:section name="Business problems" id="{16D67F9C-8A55-28D2-0473-C5A0011BD376}">
          <p14:sldIdLst>
            <p14:sldId id="258"/>
          </p14:sldIdLst>
        </p14:section>
        <p14:section name="Insights" id="{A21B6E96-64B6-E49B-598C-5B175B7F9272}">
          <p14:sldIdLst>
            <p14:sldId id="259"/>
            <p14:sldId id="260"/>
            <p14:sldId id="261"/>
            <p14:sldId id="262"/>
            <p14:sldId id="263"/>
            <p14:sldId id="264"/>
            <p14:sldId id="265"/>
            <p14:sldId id="266"/>
          </p14:sldIdLst>
        </p14:section>
        <p14:section name="Recommendations" id="{64498B87-2DAC-C74A-A194-0C6E92869DBB}">
          <p14:sldIdLst>
            <p14:sldId id="267"/>
            <p14:sldId id="268"/>
          </p14:sldIdLst>
        </p14:section>
        <p14:section name="Close" id="{17AE55C3-4F40-7A91-4505-7DE7883F17AF}">
          <p14:sldIdLst>
            <p14:sldId id="26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2B1A26"/>
                </a:solidFill>
                <a:latin typeface="+mn-lt"/>
                <a:ea typeface="+mn-ea"/>
                <a:cs typeface="+mn-cs"/>
              </a:defRPr>
            </a:pPr>
            <a:r>
              <a:rPr sz="1400" b="0" i="0" u="none" strike="noStrike">
                <a:solidFill>
                  <a:srgbClr val="2B1A26"/>
                </a:solidFill>
                <a:latin typeface="+mn-lt"/>
              </a:rPr>
              <a:t>Viewing sessions by genre (thousands)</a:t>
            </a:r>
            <a:endParaRPr sz="1400" b="0" i="0" u="none" strike="noStrike">
              <a:solidFill>
                <a:srgbClr val="2B1A26"/>
              </a:solidFill>
              <a:latin typeface="+mn-lt"/>
            </a:endParaRPr>
          </a:p>
        </c:rich>
      </c:tx>
      <c:layout/>
      <c:overlay val="0"/>
    </c:title>
    <c:autoTitleDeleted val="0"/>
    <c:plotArea>
      <c:layout/>
      <c:barChart>
        <c:barDir val="bar"/>
        <c:grouping val="clustered"/>
        <c:varyColors val="0"/>
        <c:ser>
          <c:idx val="0"/>
          <c:order val="0"/>
          <c:tx>
            <c:strRef>
              <c:f>Sheet1!$B$1</c:f>
              <c:strCache>
                <c:ptCount val="1"/>
                <c:pt idx="0">
                  <c:v>Sessions (K)</c:v>
                </c:pt>
              </c:strCache>
            </c:strRef>
          </c:tx>
          <c:spPr>
            <a:solidFill>
              <a:srgbClr val="7A2560"/>
            </a:solidFill>
            <a:effectLst/>
          </c:spPr>
          <c:invertIfNegative val="0"/>
          <c:dLbls>
            <c:numFmt formatCode="0.0&quot;K&quot;"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2B1A26"/>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Sheet1!$A$2:$A$10</c:f>
              <c:strCache>
                <c:ptCount val="9"/>
                <c:pt idx="0">
                  <c:v>Drama</c:v>
                </c:pt>
                <c:pt idx="1">
                  <c:v>Comedy</c:v>
                </c:pt>
                <c:pt idx="2">
                  <c:v>Documentary</c:v>
                </c:pt>
                <c:pt idx="3">
                  <c:v>Sci-Fi</c:v>
                </c:pt>
                <c:pt idx="4">
                  <c:v>Action</c:v>
                </c:pt>
                <c:pt idx="5">
                  <c:v>Kids</c:v>
                </c:pt>
                <c:pt idx="6">
                  <c:v>Horror</c:v>
                </c:pt>
                <c:pt idx="7">
                  <c:v>Musical</c:v>
                </c:pt>
                <c:pt idx="8">
                  <c:v>Biography</c:v>
                </c:pt>
              </c:strCache>
            </c:strRef>
          </c:cat>
          <c:val>
            <c:numRef>
              <c:f>Sheet1!$B$2:$B$10</c:f>
              <c:numCache>
                <c:formatCode>General</c:formatCode>
                <c:ptCount val="9"/>
                <c:pt idx="0">
                  <c:v>13.3</c:v>
                </c:pt>
                <c:pt idx="1">
                  <c:v>12.8</c:v>
                </c:pt>
                <c:pt idx="2">
                  <c:v>10.3</c:v>
                </c:pt>
                <c:pt idx="3">
                  <c:v>8.7</c:v>
                </c:pt>
                <c:pt idx="4">
                  <c:v>7.8</c:v>
                </c:pt>
                <c:pt idx="5">
                  <c:v>6.7</c:v>
                </c:pt>
                <c:pt idx="6">
                  <c:v>0.3</c:v>
                </c:pt>
                <c:pt idx="7">
                  <c:v>0.1</c:v>
                </c:pt>
                <c:pt idx="8">
                  <c:v>0</c:v>
                </c:pt>
              </c:numCache>
            </c:numRef>
          </c:val>
        </c:ser>
        <c:dLbls>
          <c:showLegendKey val="0"/>
          <c:showVal val="1"/>
          <c:showCatName val="0"/>
          <c:showSerName val="0"/>
          <c:showPercent val="0"/>
          <c:showBubbleSize val="0"/>
        </c:dLbls>
        <c:gapWidth val="40"/>
        <c:overlap val="0"/>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300" b="0" i="0" u="none" strike="noStrike" kern="1200" baseline="0">
                <a:solidFill>
                  <a:srgbClr val="4A3A45"/>
                </a:solidFill>
                <a:latin typeface="+mn-lt"/>
                <a:ea typeface="+mn-ea"/>
                <a:cs typeface="+mn-cs"/>
              </a:defRPr>
            </a:pPr>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txPr>
          <a:bodyPr rot="-60000000" spcFirstLastPara="0" vertOverflow="ellipsis" vert="horz" wrap="square" anchor="ctr" anchorCtr="1"/>
          <a:lstStyle/>
          <a:p>
            <a:pPr>
              <a:defRPr lang="en-US" sz="1200" b="0" i="0" u="none" strike="noStrike" kern="1200" baseline="0">
                <a:solidFill>
                  <a:srgbClr val="4A3A45"/>
                </a:solidFill>
                <a:latin typeface="+mn-lt"/>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62631fad-51ce-4637-98da-a7768af9b886}"/>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2B1A26"/>
                </a:solidFill>
                <a:latin typeface="+mn-lt"/>
                <a:ea typeface="+mn-ea"/>
                <a:cs typeface="+mn-cs"/>
              </a:defRPr>
            </a:pPr>
            <a:r>
              <a:rPr sz="1400" b="0" i="0" u="none" strike="noStrike">
                <a:solidFill>
                  <a:srgbClr val="2B1A26"/>
                </a:solidFill>
                <a:latin typeface="+mn-lt"/>
              </a:rPr>
              <a:t>Top 10 most watched content (sessions)</a:t>
            </a:r>
            <a:endParaRPr sz="1400" b="0" i="0" u="none" strike="noStrike">
              <a:solidFill>
                <a:srgbClr val="2B1A26"/>
              </a:solidFill>
              <a:latin typeface="+mn-lt"/>
            </a:endParaRPr>
          </a:p>
        </c:rich>
      </c:tx>
      <c:layout/>
      <c:overlay val="0"/>
    </c:title>
    <c:autoTitleDeleted val="0"/>
    <c:plotArea>
      <c:layout/>
      <c:barChart>
        <c:barDir val="bar"/>
        <c:grouping val="clustered"/>
        <c:varyColors val="0"/>
        <c:ser>
          <c:idx val="0"/>
          <c:order val="0"/>
          <c:tx>
            <c:strRef>
              <c:f>Sheet1!$B$1</c:f>
              <c:strCache>
                <c:ptCount val="1"/>
                <c:pt idx="0">
                  <c:v>Sessions</c:v>
                </c:pt>
              </c:strCache>
            </c:strRef>
          </c:tx>
          <c:spPr>
            <a:solidFill>
              <a:srgbClr val="C4458F"/>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2B1A26"/>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Sheet1!$A$2:$A$11</c:f>
              <c:strCache>
                <c:ptCount val="10"/>
                <c:pt idx="0">
                  <c:v>Mean Girls</c:v>
                </c:pt>
                <c:pt idx="1">
                  <c:v>Promising Young Woman</c:v>
                </c:pt>
                <c:pt idx="2">
                  <c:v>Kandahar</c:v>
                </c:pt>
                <c:pt idx="3">
                  <c:v>Jurassic World Dominion</c:v>
                </c:pt>
                <c:pt idx="4">
                  <c:v>Murder Mystery 2</c:v>
                </c:pt>
                <c:pt idx="5">
                  <c:v>Minari</c:v>
                </c:pt>
                <c:pt idx="6">
                  <c:v>Holy Spider</c:v>
                </c:pt>
                <c:pt idx="7">
                  <c:v>The Iron Claw</c:v>
                </c:pt>
                <c:pt idx="8">
                  <c:v>Plane</c:v>
                </c:pt>
                <c:pt idx="9">
                  <c:v>The People We Hate at the Wedding</c:v>
                </c:pt>
              </c:strCache>
            </c:strRef>
          </c:cat>
          <c:val>
            <c:numRef>
              <c:f>Sheet1!$B$2:$B$11</c:f>
              <c:numCache>
                <c:formatCode>General</c:formatCode>
                <c:ptCount val="10"/>
                <c:pt idx="0">
                  <c:v>209</c:v>
                </c:pt>
                <c:pt idx="1">
                  <c:v>206</c:v>
                </c:pt>
                <c:pt idx="2">
                  <c:v>204</c:v>
                </c:pt>
                <c:pt idx="3">
                  <c:v>202</c:v>
                </c:pt>
                <c:pt idx="4">
                  <c:v>196</c:v>
                </c:pt>
                <c:pt idx="5">
                  <c:v>195</c:v>
                </c:pt>
                <c:pt idx="6">
                  <c:v>193</c:v>
                </c:pt>
                <c:pt idx="7">
                  <c:v>191</c:v>
                </c:pt>
                <c:pt idx="8">
                  <c:v>190</c:v>
                </c:pt>
                <c:pt idx="9">
                  <c:v>190</c:v>
                </c:pt>
              </c:numCache>
            </c:numRef>
          </c:val>
        </c:ser>
        <c:dLbls>
          <c:showLegendKey val="0"/>
          <c:showVal val="1"/>
          <c:showCatName val="0"/>
          <c:showSerName val="0"/>
          <c:showPercent val="0"/>
          <c:showBubbleSize val="0"/>
        </c:dLbls>
        <c:gapWidth val="35"/>
        <c:overlap val="0"/>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4A3A45"/>
                </a:solidFill>
                <a:latin typeface="+mn-lt"/>
                <a:ea typeface="+mn-ea"/>
                <a:cs typeface="+mn-cs"/>
              </a:defRPr>
            </a:pPr>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txPr>
          <a:bodyPr rot="-60000000" spcFirstLastPara="0" vertOverflow="ellipsis" vert="horz" wrap="square" anchor="ctr" anchorCtr="1"/>
          <a:lstStyle/>
          <a:p>
            <a:pPr>
              <a:defRPr lang="en-US" sz="1200" b="0" i="0" u="none" strike="noStrike" kern="1200" baseline="0">
                <a:solidFill>
                  <a:srgbClr val="4A3A45"/>
                </a:solidFill>
                <a:latin typeface="+mn-lt"/>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b78989e6-b3fb-4fa2-9545-83be87d39c0b}"/>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2B1A26"/>
                </a:solidFill>
                <a:latin typeface="+mn-lt"/>
                <a:ea typeface="+mn-ea"/>
                <a:cs typeface="+mn-cs"/>
              </a:defRPr>
            </a:pPr>
            <a:r>
              <a:rPr sz="1400" b="0" i="0" u="none" strike="noStrike">
                <a:solidFill>
                  <a:srgbClr val="2B1A26"/>
                </a:solidFill>
                <a:latin typeface="+mn-lt"/>
              </a:rPr>
              <a:t>Completion rate by genre (%)</a:t>
            </a:r>
            <a:endParaRPr sz="1400" b="0" i="0" u="none" strike="noStrike">
              <a:solidFill>
                <a:srgbClr val="2B1A26"/>
              </a:solidFill>
              <a:latin typeface="+mn-lt"/>
            </a:endParaRPr>
          </a:p>
        </c:rich>
      </c:tx>
      <c:layout/>
      <c:overlay val="0"/>
    </c:title>
    <c:autoTitleDeleted val="0"/>
    <c:plotArea>
      <c:layout/>
      <c:barChart>
        <c:barDir val="col"/>
        <c:grouping val="clustered"/>
        <c:varyColors val="0"/>
        <c:ser>
          <c:idx val="0"/>
          <c:order val="0"/>
          <c:tx>
            <c:strRef>
              <c:f>Sheet1!$B$1</c:f>
              <c:strCache>
                <c:ptCount val="1"/>
                <c:pt idx="0">
                  <c:v>Completion rate (%)</c:v>
                </c:pt>
              </c:strCache>
            </c:strRef>
          </c:tx>
          <c:spPr>
            <a:solidFill>
              <a:srgbClr val="7A2560"/>
            </a:solidFill>
            <a:effectLst/>
          </c:spPr>
          <c:invertIfNegative val="0"/>
          <c:dLbls>
            <c:numFmt formatCode="0.0&quot;%&quot;"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2B1A26"/>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Sheet1!$A$2:$A$9</c:f>
              <c:strCache>
                <c:ptCount val="8"/>
                <c:pt idx="0">
                  <c:v>Comedy</c:v>
                </c:pt>
                <c:pt idx="1">
                  <c:v>Drama</c:v>
                </c:pt>
                <c:pt idx="2">
                  <c:v>Sci-Fi</c:v>
                </c:pt>
                <c:pt idx="3">
                  <c:v>Kids</c:v>
                </c:pt>
                <c:pt idx="4">
                  <c:v>Musical</c:v>
                </c:pt>
                <c:pt idx="5">
                  <c:v>Action</c:v>
                </c:pt>
                <c:pt idx="6">
                  <c:v>Documentary</c:v>
                </c:pt>
                <c:pt idx="7">
                  <c:v>Horror</c:v>
                </c:pt>
              </c:strCache>
            </c:strRef>
          </c:cat>
          <c:val>
            <c:numRef>
              <c:f>Sheet1!$B$2:$B$9</c:f>
              <c:numCache>
                <c:formatCode>General</c:formatCode>
                <c:ptCount val="8"/>
                <c:pt idx="0">
                  <c:v>44.94</c:v>
                </c:pt>
                <c:pt idx="1">
                  <c:v>43.84</c:v>
                </c:pt>
                <c:pt idx="2">
                  <c:v>41.53</c:v>
                </c:pt>
                <c:pt idx="3">
                  <c:v>38.62</c:v>
                </c:pt>
                <c:pt idx="4">
                  <c:v>35.48</c:v>
                </c:pt>
                <c:pt idx="5">
                  <c:v>34.15</c:v>
                </c:pt>
                <c:pt idx="6">
                  <c:v>32.72</c:v>
                </c:pt>
                <c:pt idx="7">
                  <c:v>25</c:v>
                </c:pt>
              </c:numCache>
            </c:numRef>
          </c:val>
        </c:ser>
        <c:dLbls>
          <c:showLegendKey val="0"/>
          <c:showVal val="1"/>
          <c:showCatName val="0"/>
          <c:showSerName val="0"/>
          <c:showPercent val="0"/>
          <c:showBubbleSize val="0"/>
        </c:dLbls>
        <c:gapWidth val="4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4A3A45"/>
                </a:solidFill>
                <a:latin typeface="+mn-lt"/>
                <a:ea typeface="+mn-ea"/>
                <a:cs typeface="+mn-cs"/>
              </a:defRPr>
            </a:pPr>
          </a:p>
        </c:txPr>
        <c:crossAx val="2094734552"/>
        <c:crosses val="autoZero"/>
        <c:auto val="1"/>
        <c:lblAlgn val="ctr"/>
        <c:lblOffset val="100"/>
        <c:noMultiLvlLbl val="1"/>
      </c:catAx>
      <c:valAx>
        <c:axId val="2094734552"/>
        <c:scaling>
          <c:orientation val="minMax"/>
          <c:max val="55"/>
          <c:min val="0"/>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4A3A45"/>
                </a:solidFill>
                <a:latin typeface="+mn-lt"/>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7766fd61-6730-4ee8-9855-1c83b5def88c}"/>
      </c:ext>
    </c:extLst>
  </c:chart>
  <c:spPr>
    <a:no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2B1A26"/>
                </a:solidFill>
                <a:latin typeface="+mn-lt"/>
                <a:ea typeface="+mn-ea"/>
                <a:cs typeface="+mn-cs"/>
              </a:defRPr>
            </a:pPr>
            <a:r>
              <a:rPr sz="1400" b="0" i="0" u="none" strike="noStrike">
                <a:solidFill>
                  <a:srgbClr val="2B1A26"/>
                </a:solidFill>
                <a:latin typeface="+mn-lt"/>
              </a:rPr>
              <a:t>Users by age group</a:t>
            </a:r>
            <a:endParaRPr sz="1400" b="0" i="0" u="none" strike="noStrike">
              <a:solidFill>
                <a:srgbClr val="2B1A26"/>
              </a:solidFill>
              <a:latin typeface="+mn-lt"/>
            </a:endParaRPr>
          </a:p>
        </c:rich>
      </c:tx>
      <c:layout/>
      <c:overlay val="0"/>
    </c:title>
    <c:autoTitleDeleted val="0"/>
    <c:plotArea>
      <c:layout/>
      <c:barChart>
        <c:barDir val="col"/>
        <c:grouping val="clustered"/>
        <c:varyColors val="0"/>
        <c:ser>
          <c:idx val="0"/>
          <c:order val="0"/>
          <c:tx>
            <c:strRef>
              <c:f>Sheet1!$B$1</c:f>
              <c:strCache>
                <c:ptCount val="1"/>
                <c:pt idx="0">
                  <c:v>Users</c:v>
                </c:pt>
              </c:strCache>
            </c:strRef>
          </c:tx>
          <c:spPr>
            <a:solidFill>
              <a:srgbClr val="C4458F"/>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300" b="0" i="0" u="none" strike="noStrike" kern="1200" baseline="0">
                    <a:solidFill>
                      <a:srgbClr val="2B1A26"/>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18–24</c:v>
                </c:pt>
                <c:pt idx="1">
                  <c:v>25–34</c:v>
                </c:pt>
                <c:pt idx="2">
                  <c:v>35–44</c:v>
                </c:pt>
                <c:pt idx="3">
                  <c:v>45–54</c:v>
                </c:pt>
                <c:pt idx="4">
                  <c:v>55+</c:v>
                </c:pt>
              </c:strCache>
            </c:strRef>
          </c:cat>
          <c:val>
            <c:numRef>
              <c:f>Sheet1!$B$2:$B$6</c:f>
              <c:numCache>
                <c:formatCode>General</c:formatCode>
                <c:ptCount val="5"/>
                <c:pt idx="0">
                  <c:v>205</c:v>
                </c:pt>
                <c:pt idx="1">
                  <c:v>301</c:v>
                </c:pt>
                <c:pt idx="2">
                  <c:v>316</c:v>
                </c:pt>
                <c:pt idx="3">
                  <c:v>130</c:v>
                </c:pt>
                <c:pt idx="4">
                  <c:v>48</c:v>
                </c:pt>
              </c:numCache>
            </c:numRef>
          </c:val>
        </c:ser>
        <c:dLbls>
          <c:showLegendKey val="0"/>
          <c:showVal val="1"/>
          <c:showCatName val="0"/>
          <c:showSerName val="0"/>
          <c:showPercent val="0"/>
          <c:showBubbleSize val="0"/>
        </c:dLbls>
        <c:gapWidth val="4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300" b="0" i="0" u="none" strike="noStrike" kern="1200" baseline="0">
                <a:solidFill>
                  <a:srgbClr val="4A3A45"/>
                </a:solidFill>
                <a:latin typeface="+mn-lt"/>
                <a:ea typeface="+mn-ea"/>
                <a:cs typeface="+mn-cs"/>
              </a:defRPr>
            </a:pPr>
          </a:p>
        </c:txPr>
        <c:crossAx val="2094734552"/>
        <c:crosses val="autoZero"/>
        <c:auto val="1"/>
        <c:lblAlgn val="ctr"/>
        <c:lblOffset val="100"/>
        <c:noMultiLvlLbl val="1"/>
      </c:catAx>
      <c:valAx>
        <c:axId val="2094734552"/>
        <c:scaling>
          <c:orientation val="minMax"/>
          <c:max val="360"/>
          <c:min val="0"/>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4A3A45"/>
                </a:solidFill>
                <a:latin typeface="+mn-lt"/>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db2c4f22-b900-4ebc-8b5b-c60d799d237a}"/>
      </c:ext>
    </c:extLst>
  </c:chart>
  <c:spPr>
    <a:noFill/>
    <a:ln>
      <a:noFill/>
    </a:ln>
    <a:effectLst/>
  </c:spPr>
  <c:txPr>
    <a:bodyPr/>
    <a:lstStyle/>
    <a:p>
      <a:pPr>
        <a:defRPr lang="en-US"/>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2B1A26"/>
                </a:solidFill>
                <a:latin typeface="+mn-lt"/>
                <a:ea typeface="+mn-ea"/>
                <a:cs typeface="+mn-cs"/>
              </a:defRPr>
            </a:pPr>
            <a:r>
              <a:rPr sz="1400" b="0" i="0" u="none" strike="noStrike">
                <a:solidFill>
                  <a:srgbClr val="2B1A26"/>
                </a:solidFill>
                <a:latin typeface="+mn-lt"/>
              </a:rPr>
              <a:t>Average viewing sessions per user, by tier</a:t>
            </a:r>
            <a:endParaRPr sz="1400" b="0" i="0" u="none" strike="noStrike">
              <a:solidFill>
                <a:srgbClr val="2B1A26"/>
              </a:solidFill>
              <a:latin typeface="+mn-lt"/>
            </a:endParaRPr>
          </a:p>
        </c:rich>
      </c:tx>
      <c:layout/>
      <c:overlay val="0"/>
    </c:title>
    <c:autoTitleDeleted val="0"/>
    <c:plotArea>
      <c:layout/>
      <c:barChart>
        <c:barDir val="col"/>
        <c:grouping val="clustered"/>
        <c:varyColors val="0"/>
        <c:ser>
          <c:idx val="0"/>
          <c:order val="0"/>
          <c:tx>
            <c:strRef>
              <c:f>Sheet1!$B$1</c:f>
              <c:strCache>
                <c:ptCount val="1"/>
                <c:pt idx="0">
                  <c:v>Avg sessions</c:v>
                </c:pt>
              </c:strCache>
            </c:strRef>
          </c:tx>
          <c:spPr>
            <a:solidFill>
              <a:srgbClr val="7A2560"/>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400" b="0" i="0" u="none" strike="noStrike" kern="1200" baseline="0">
                    <a:solidFill>
                      <a:srgbClr val="2B1A26"/>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Standard</c:v>
                </c:pt>
                <c:pt idx="1">
                  <c:v>Basic</c:v>
                </c:pt>
                <c:pt idx="2">
                  <c:v>Premium</c:v>
                </c:pt>
              </c:strCache>
            </c:strRef>
          </c:cat>
          <c:val>
            <c:numRef>
              <c:f>Sheet1!$B$2:$B$4</c:f>
              <c:numCache>
                <c:formatCode>General</c:formatCode>
                <c:ptCount val="3"/>
                <c:pt idx="0">
                  <c:v>61</c:v>
                </c:pt>
                <c:pt idx="1">
                  <c:v>60</c:v>
                </c:pt>
                <c:pt idx="2">
                  <c:v>58</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300" b="0" i="0" u="none" strike="noStrike" kern="1200" baseline="0">
                <a:solidFill>
                  <a:srgbClr val="4A3A45"/>
                </a:solidFill>
                <a:latin typeface="+mn-lt"/>
                <a:ea typeface="+mn-ea"/>
                <a:cs typeface="+mn-cs"/>
              </a:defRPr>
            </a:pPr>
          </a:p>
        </c:txPr>
        <c:crossAx val="2094734552"/>
        <c:crosses val="autoZero"/>
        <c:auto val="1"/>
        <c:lblAlgn val="ctr"/>
        <c:lblOffset val="100"/>
        <c:noMultiLvlLbl val="1"/>
      </c:catAx>
      <c:valAx>
        <c:axId val="2094734552"/>
        <c:scaling>
          <c:orientation val="minMax"/>
          <c:max val="72"/>
          <c:min val="0"/>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4A3A45"/>
                </a:solidFill>
                <a:latin typeface="+mn-lt"/>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467faf46-d2f6-43de-95d3-2d5cdd86a8ca}"/>
      </c:ext>
    </c:extLst>
  </c:chart>
  <c:spPr>
    <a:noFill/>
    <a:ln>
      <a:noFill/>
    </a:ln>
    <a:effectLst/>
  </c:spPr>
  <c:txPr>
    <a:bodyPr/>
    <a:lstStyle/>
    <a:p>
      <a:pPr>
        <a:defRPr lang="en-US"/>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2B1A26"/>
                </a:solidFill>
                <a:latin typeface="+mn-lt"/>
                <a:ea typeface="+mn-ea"/>
                <a:cs typeface="+mn-cs"/>
              </a:defRPr>
            </a:pPr>
            <a:r>
              <a:rPr sz="1400" b="0" i="0" u="none" strike="noStrike">
                <a:solidFill>
                  <a:srgbClr val="2B1A26"/>
                </a:solidFill>
                <a:latin typeface="+mn-lt"/>
              </a:rPr>
              <a:t>Subscription tier mix (1,000 users)</a:t>
            </a:r>
            <a:endParaRPr sz="1400" b="0" i="0" u="none" strike="noStrike">
              <a:solidFill>
                <a:srgbClr val="2B1A26"/>
              </a:solidFill>
              <a:latin typeface="+mn-lt"/>
            </a:endParaRPr>
          </a:p>
        </c:rich>
      </c:tx>
      <c:layout/>
      <c:overlay val="0"/>
    </c:title>
    <c:autoTitleDeleted val="0"/>
    <c:plotArea>
      <c:layout/>
      <c:doughnutChart>
        <c:varyColors val="1"/>
        <c:ser>
          <c:idx val="0"/>
          <c:order val="0"/>
          <c:tx>
            <c:strRef>
              <c:f>Sheet1!$B$1</c:f>
              <c:strCache>
                <c:ptCount val="1"/>
                <c:pt idx="0">
                  <c:v>Users</c:v>
                </c:pt>
              </c:strCache>
            </c:strRef>
          </c:tx>
          <c:spPr>
            <a:solidFill>
              <a:schemeClr val="accent1"/>
            </a:solidFill>
            <a:ln w="9525" cap="flat">
              <a:solidFill>
                <a:srgbClr val="F9F9F9"/>
              </a:solidFill>
              <a:prstDash val="solid"/>
              <a:round/>
            </a:ln>
            <a:effectLst/>
          </c:spPr>
          <c:explosion val="0"/>
          <c:dPt>
            <c:idx val="0"/>
            <c:bubble3D val="0"/>
            <c:spPr>
              <a:solidFill>
                <a:srgbClr val="C4458F"/>
              </a:solidFill>
              <a:ln w="12700" cap="flat">
                <a:solidFill>
                  <a:srgbClr val="FFFFFF"/>
                </a:solidFill>
                <a:prstDash val="solid"/>
                <a:round/>
              </a:ln>
              <a:effectLst/>
            </c:spPr>
          </c:dPt>
          <c:dPt>
            <c:idx val="1"/>
            <c:bubble3D val="0"/>
            <c:spPr>
              <a:solidFill>
                <a:srgbClr val="7A2560"/>
              </a:solidFill>
              <a:ln w="12700" cap="flat">
                <a:solidFill>
                  <a:srgbClr val="FFFFFF"/>
                </a:solidFill>
                <a:prstDash val="solid"/>
                <a:round/>
              </a:ln>
              <a:effectLst/>
            </c:spPr>
          </c:dPt>
          <c:dPt>
            <c:idx val="2"/>
            <c:bubble3D val="0"/>
            <c:spPr>
              <a:solidFill>
                <a:srgbClr val="E58BBB"/>
              </a:solidFill>
              <a:ln w="12700" cap="flat">
                <a:solidFill>
                  <a:srgbClr val="FFFFFF"/>
                </a:solidFill>
                <a:prstDash val="solid"/>
                <a:round/>
              </a:ln>
              <a:effectLst/>
            </c:spPr>
          </c:dPt>
          <c:dLbls>
            <c:dLbl>
              <c:idx val="0"/>
              <c:layout/>
              <c:numFmt formatCode="0%" sourceLinked="0"/>
              <c:spPr>
                <a:noFill/>
                <a:ln>
                  <a:noFill/>
                </a:ln>
                <a:effectLst/>
              </c:spPr>
              <c:txPr>
                <a:bodyPr rot="0" spcFirstLastPara="0" vertOverflow="ellipsis" vert="horz" wrap="square" lIns="38100" tIns="19050" rIns="38100" bIns="19050" anchor="ctr" anchorCtr="1"/>
                <a:lstStyle/>
                <a:p>
                  <a:pPr>
                    <a:defRPr lang="en-US" sz="1300" b="0" i="0" u="none" strike="noStrike" kern="1200" baseline="0">
                      <a:solidFill>
                        <a:srgbClr val="FFFFFF"/>
                      </a:solidFill>
                      <a:latin typeface="+mn-lt"/>
                      <a:ea typeface="+mn-ea"/>
                      <a:cs typeface="+mn-cs"/>
                    </a:defRPr>
                  </a:pPr>
                </a:p>
              </c:txPr>
              <c:showLegendKey val="0"/>
              <c:showVal val="0"/>
              <c:showCatName val="0"/>
              <c:showSerName val="0"/>
              <c:showPercent val="1"/>
              <c:showBubbleSize val="0"/>
              <c:extLst>
                <c:ext xmlns:c15="http://schemas.microsoft.com/office/drawing/2012/chart" uri="{CE6537A1-D6FC-4f65-9D91-7224C49458BB}"/>
              </c:extLst>
            </c:dLbl>
            <c:dLbl>
              <c:idx val="1"/>
              <c:layout/>
              <c:numFmt formatCode="0%" sourceLinked="0"/>
              <c:spPr>
                <a:noFill/>
                <a:ln>
                  <a:noFill/>
                </a:ln>
                <a:effectLst/>
              </c:spPr>
              <c:txPr>
                <a:bodyPr rot="0" spcFirstLastPara="0" vertOverflow="ellipsis" vert="horz" wrap="square" lIns="38100" tIns="19050" rIns="38100" bIns="19050" anchor="ctr" anchorCtr="1"/>
                <a:lstStyle/>
                <a:p>
                  <a:pPr>
                    <a:defRPr lang="en-US" sz="1300" b="0" i="0" u="none" strike="noStrike" kern="1200" baseline="0">
                      <a:solidFill>
                        <a:srgbClr val="FFFFFF"/>
                      </a:solidFill>
                      <a:latin typeface="+mn-lt"/>
                      <a:ea typeface="+mn-ea"/>
                      <a:cs typeface="+mn-cs"/>
                    </a:defRPr>
                  </a:pPr>
                </a:p>
              </c:txPr>
              <c:showLegendKey val="0"/>
              <c:showVal val="0"/>
              <c:showCatName val="0"/>
              <c:showSerName val="0"/>
              <c:showPercent val="1"/>
              <c:showBubbleSize val="0"/>
              <c:extLst>
                <c:ext xmlns:c15="http://schemas.microsoft.com/office/drawing/2012/chart" uri="{CE6537A1-D6FC-4f65-9D91-7224C49458BB}"/>
              </c:extLst>
            </c:dLbl>
            <c:dLbl>
              <c:idx val="2"/>
              <c:layout/>
              <c:numFmt formatCode="0%" sourceLinked="0"/>
              <c:spPr>
                <a:noFill/>
                <a:ln>
                  <a:noFill/>
                </a:ln>
                <a:effectLst/>
              </c:spPr>
              <c:txPr>
                <a:bodyPr rot="0" spcFirstLastPara="0" vertOverflow="ellipsis" vert="horz" wrap="square" lIns="38100" tIns="19050" rIns="38100" bIns="19050" anchor="ctr" anchorCtr="1"/>
                <a:lstStyle/>
                <a:p>
                  <a:pPr>
                    <a:defRPr lang="en-US" sz="1300" b="0" i="0" u="none" strike="noStrike" kern="1200" baseline="0">
                      <a:solidFill>
                        <a:srgbClr val="FFFFFF"/>
                      </a:solidFill>
                      <a:latin typeface="+mn-lt"/>
                      <a:ea typeface="+mn-ea"/>
                      <a:cs typeface="+mn-cs"/>
                    </a:defRPr>
                  </a:pPr>
                </a:p>
              </c:txPr>
              <c:showLegendKey val="0"/>
              <c:showVal val="0"/>
              <c:showCatName val="0"/>
              <c:showSerName val="0"/>
              <c:showPercent val="1"/>
              <c:showBubbleSize val="0"/>
              <c:extLst>
                <c:ext xmlns:c15="http://schemas.microsoft.com/office/drawing/2012/chart" uri="{CE6537A1-D6FC-4f65-9D91-7224C49458BB}"/>
              </c:extLst>
            </c:dLbl>
            <c:numFmt formatCode="0%"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rgbClr val="000000"/>
                    </a:solidFill>
                    <a:latin typeface="Arial" panose="020B0604020202020204"/>
                    <a:ea typeface="+mn-ea"/>
                    <a:cs typeface="+mn-cs"/>
                  </a:defRPr>
                </a:pPr>
              </a:p>
            </c:txPr>
            <c:showLegendKey val="0"/>
            <c:showVal val="0"/>
            <c:showCatName val="1"/>
            <c:showSerName val="0"/>
            <c:showPercent val="1"/>
            <c:showBubbleSize val="0"/>
            <c:showLeaderLines val="0"/>
            <c:extLst>
              <c:ext xmlns:c15="http://schemas.microsoft.com/office/drawing/2012/chart" uri="{CE6537A1-D6FC-4f65-9D91-7224C49458BB}">
                <c15:layout/>
                <c15:showLeaderLines val="0"/>
                <c15:leaderLines/>
              </c:ext>
            </c:extLst>
          </c:dLbls>
          <c:cat>
            <c:strRef>
              <c:f>Sheet1!$A$2:$A$4</c:f>
              <c:strCache>
                <c:ptCount val="3"/>
                <c:pt idx="0">
                  <c:v>Standard</c:v>
                </c:pt>
                <c:pt idx="1">
                  <c:v>Basic</c:v>
                </c:pt>
                <c:pt idx="2">
                  <c:v>Premium</c:v>
                </c:pt>
              </c:strCache>
            </c:strRef>
          </c:cat>
          <c:val>
            <c:numRef>
              <c:f>Sheet1!$B$2:$B$4</c:f>
              <c:numCache>
                <c:formatCode>General</c:formatCode>
                <c:ptCount val="3"/>
                <c:pt idx="0">
                  <c:v>444</c:v>
                </c:pt>
                <c:pt idx="1">
                  <c:v>302</c:v>
                </c:pt>
                <c:pt idx="2">
                  <c:v>254</c:v>
                </c:pt>
              </c:numCache>
            </c:numRef>
          </c:val>
        </c:ser>
        <c:dLbls>
          <c:showLegendKey val="0"/>
          <c:showVal val="0"/>
          <c:showCatName val="1"/>
          <c:showSerName val="0"/>
          <c:showPercent val="1"/>
          <c:showBubbleSize val="0"/>
          <c:showLeaderLines val="1"/>
        </c:dLbls>
        <c:firstSliceAng val="0"/>
        <c:holeSize val="55"/>
      </c:doughnutChart>
      <c:spPr>
        <a:noFill/>
        <a:ln>
          <a:noFill/>
        </a:ln>
        <a:effectLst/>
      </c:spPr>
    </c:plotArea>
    <c:legend>
      <c:legendPos val="r"/>
      <c:layout/>
      <c:overlay val="0"/>
      <c:txPr>
        <a:bodyPr rot="0" spcFirstLastPara="0" vertOverflow="ellipsis" vert="horz" wrap="square" anchor="ctr" anchorCtr="1"/>
        <a:lstStyle/>
        <a:p>
          <a:pPr>
            <a:defRPr lang="en-US" sz="1300" b="0" i="0" u="none" strike="noStrike" kern="1200" baseline="0">
              <a:solidFill>
                <a:schemeClr val="tx1"/>
              </a:solidFill>
              <a:latin typeface="+mn-lt"/>
              <a:ea typeface="+mn-ea"/>
              <a:cs typeface="+mn-lt"/>
            </a:defRPr>
          </a:pPr>
        </a:p>
      </c:txPr>
    </c:legend>
    <c:plotVisOnly val="1"/>
    <c:dispBlanksAs val="span"/>
    <c:showDLblsOverMax val="0"/>
    <c:extLst>
      <c:ext uri="{0b15fc19-7d7d-44ad-8c2d-2c3a37ce22c3}">
        <chartProps xmlns="https://web.wps.cn/et/2018/main" chartId="{257e132f-1fc8-4d4b-bcee-8c44c99a43dd}"/>
      </c:ext>
    </c:extLst>
  </c:chart>
  <c:spPr>
    <a:noFill/>
    <a:ln>
      <a:noFill/>
    </a:ln>
    <a:effectLst/>
  </c:spPr>
  <c:txPr>
    <a:bodyPr/>
    <a:lstStyle/>
    <a:p>
      <a:pPr>
        <a:defRPr lang="en-US"/>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2B1A26"/>
                </a:solidFill>
                <a:latin typeface="+mn-lt"/>
                <a:ea typeface="+mn-ea"/>
                <a:cs typeface="+mn-cs"/>
              </a:defRPr>
            </a:pPr>
            <a:r>
              <a:rPr sz="1400" b="0" i="0" u="none" strike="noStrike">
                <a:solidFill>
                  <a:srgbClr val="2B1A26"/>
                </a:solidFill>
                <a:latin typeface="+mn-lt"/>
              </a:rPr>
              <a:t>Monthly cancellations (users)</a:t>
            </a:r>
            <a:endParaRPr sz="1400" b="0" i="0" u="none" strike="noStrike">
              <a:solidFill>
                <a:srgbClr val="2B1A26"/>
              </a:solidFill>
              <a:latin typeface="+mn-lt"/>
            </a:endParaRPr>
          </a:p>
        </c:rich>
      </c:tx>
      <c:layout/>
      <c:overlay val="0"/>
    </c:title>
    <c:autoTitleDeleted val="0"/>
    <c:plotArea>
      <c:layout/>
      <c:lineChart>
        <c:grouping val="none"/>
        <c:varyColors val="0"/>
        <c:ser>
          <c:idx val="0"/>
          <c:order val="0"/>
          <c:tx>
            <c:strRef>
              <c:f>Sheet1!$B$1</c:f>
              <c:strCache>
                <c:ptCount val="1"/>
                <c:pt idx="0">
                  <c:v>Cancellations</c:v>
                </c:pt>
              </c:strCache>
            </c:strRef>
          </c:tx>
          <c:spPr>
            <a:ln w="38100" cap="flat" cmpd="sng" algn="ctr">
              <a:solidFill>
                <a:srgbClr val="C4458F"/>
              </a:solidFill>
              <a:prstDash val="solid"/>
              <a:round/>
            </a:ln>
            <a:effectLst/>
          </c:spPr>
          <c:marker>
            <c:symbol val="circle"/>
            <c:size val="8"/>
            <c:spPr>
              <a:solidFill>
                <a:srgbClr val="C4458F"/>
              </a:solidFill>
              <a:ln w="9525" cap="flat" cmpd="sng" algn="ctr">
                <a:solidFill>
                  <a:srgbClr val="C4458F"/>
                </a:solidFill>
                <a:prstDash val="solid"/>
                <a:round/>
              </a:ln>
              <a:effectLst/>
            </c:spPr>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mn-lt"/>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Sheet1!$A$2:$A$19</c:f>
              <c:strCache>
                <c:ptCount val="18"/>
                <c:pt idx="0">
                  <c:v>Apr 24</c:v>
                </c:pt>
                <c:pt idx="1">
                  <c:v>May 24</c:v>
                </c:pt>
                <c:pt idx="2">
                  <c:v>Jun 24</c:v>
                </c:pt>
                <c:pt idx="3">
                  <c:v>Jul 24</c:v>
                </c:pt>
                <c:pt idx="4">
                  <c:v>Aug 24</c:v>
                </c:pt>
                <c:pt idx="5">
                  <c:v>Sep 24</c:v>
                </c:pt>
                <c:pt idx="6">
                  <c:v>Oct 24</c:v>
                </c:pt>
                <c:pt idx="7">
                  <c:v>Nov 24</c:v>
                </c:pt>
                <c:pt idx="8">
                  <c:v>Dec 24</c:v>
                </c:pt>
                <c:pt idx="9">
                  <c:v>Jan 25</c:v>
                </c:pt>
                <c:pt idx="10">
                  <c:v>Feb 25</c:v>
                </c:pt>
                <c:pt idx="11">
                  <c:v>Mar 25</c:v>
                </c:pt>
                <c:pt idx="12">
                  <c:v>Apr 25</c:v>
                </c:pt>
                <c:pt idx="13">
                  <c:v>May 25</c:v>
                </c:pt>
                <c:pt idx="14">
                  <c:v>Jun 25</c:v>
                </c:pt>
                <c:pt idx="15">
                  <c:v>Jul 25</c:v>
                </c:pt>
                <c:pt idx="16">
                  <c:v>Aug 25</c:v>
                </c:pt>
                <c:pt idx="17">
                  <c:v>Sep 25</c:v>
                </c:pt>
              </c:strCache>
            </c:strRef>
          </c:cat>
          <c:val>
            <c:numRef>
              <c:f>Sheet1!$B$2:$B$19</c:f>
              <c:numCache>
                <c:formatCode>General</c:formatCode>
                <c:ptCount val="18"/>
                <c:pt idx="0">
                  <c:v>3</c:v>
                </c:pt>
                <c:pt idx="1">
                  <c:v>5</c:v>
                </c:pt>
                <c:pt idx="2">
                  <c:v>5</c:v>
                </c:pt>
                <c:pt idx="3">
                  <c:v>8</c:v>
                </c:pt>
                <c:pt idx="4">
                  <c:v>4</c:v>
                </c:pt>
                <c:pt idx="5">
                  <c:v>5</c:v>
                </c:pt>
                <c:pt idx="6">
                  <c:v>15</c:v>
                </c:pt>
                <c:pt idx="7">
                  <c:v>8</c:v>
                </c:pt>
                <c:pt idx="8">
                  <c:v>12</c:v>
                </c:pt>
                <c:pt idx="9">
                  <c:v>7</c:v>
                </c:pt>
                <c:pt idx="10">
                  <c:v>11</c:v>
                </c:pt>
                <c:pt idx="11">
                  <c:v>7</c:v>
                </c:pt>
                <c:pt idx="12">
                  <c:v>11</c:v>
                </c:pt>
                <c:pt idx="13">
                  <c:v>11</c:v>
                </c:pt>
                <c:pt idx="14">
                  <c:v>7</c:v>
                </c:pt>
                <c:pt idx="15">
                  <c:v>8</c:v>
                </c:pt>
                <c:pt idx="16">
                  <c:v>9</c:v>
                </c:pt>
                <c:pt idx="17">
                  <c:v>7</c:v>
                </c:pt>
              </c:numCache>
            </c:numRef>
          </c:val>
          <c:smooth val="0"/>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16200000" spcFirstLastPara="0" vertOverflow="ellipsis" vert="horz" wrap="square" anchor="ctr" anchorCtr="1"/>
          <a:lstStyle/>
          <a:p>
            <a:pPr>
              <a:defRPr lang="en-US" sz="1000" b="0" i="0" u="none" strike="noStrike" kern="1200" baseline="0">
                <a:solidFill>
                  <a:srgbClr val="4A3A45"/>
                </a:solidFill>
                <a:latin typeface="+mn-lt"/>
                <a:ea typeface="+mn-ea"/>
                <a:cs typeface="+mn-cs"/>
              </a:defRPr>
            </a:pPr>
          </a:p>
        </c:txPr>
        <c:crossAx val="2094734552"/>
        <c:crosses val="autoZero"/>
        <c:auto val="1"/>
        <c:lblAlgn val="ctr"/>
        <c:lblOffset val="100"/>
        <c:noMultiLvlLbl val="1"/>
      </c:catAx>
      <c:valAx>
        <c:axId val="2094734552"/>
        <c:scaling>
          <c:orientation val="minMax"/>
          <c:max val="16"/>
          <c:min val="0"/>
        </c:scaling>
        <c:delete val="0"/>
        <c:axPos val="l"/>
        <c:majorGridlines>
          <c:spPr>
            <a:ln w="9525" cap="flat" cmpd="sng" algn="ctr">
              <a:solidFill>
                <a:srgbClr val="E6D5DF"/>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4A3A45"/>
                </a:solidFill>
                <a:latin typeface="+mn-lt"/>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514da45c-2196-48ea-b640-ab7db4217299}"/>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deck turns the four-page StreamWave dashboard into a story. We start with what the business needs to know, walk through what the data shows about content, audience and retention, and finish with recommendations and a 90-day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numbers frame the business. The first three show scale; the last three (highlighted) are where the opportunity sits: completion, renewal and catalogue utilisation. The rest of the deck explains each column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problem maps to one dashboard page: Content &amp; Genre Performance, Viewer Engagement &amp; Demographics, and Subscription &amp; Retention Analysis. Problem 2 sits across the content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Drama (13.3K) and Comedy (12.8K) lead on sessions, with Documentary third at 10.3K. Together the top three account for about 36.4K of 60K sessions. Drama and Comedy also produce about 44% of the 100K watch hours. Horror, Musical and Biography barely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Utilisation is 65.7%: 500 of 761 titles were watched. Among watched titles, the top ten sit between 190 and 209 sessions, so there are no runaway hits. Average sessions per watched title is 60,000 / 500 = 120. Popularity is broad, which means discovery and curation matter more than a few blockbusters.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numbers that do not fit together: genres average 87-95% of a title watched, but completion is only 39.93%. Either people stop shortly before the end (credits, final episode) or 'completed' is defined strictly, for example 100% watched. Comedy and Drama complete best; Horror (25%), Documentary (32.7%) and Action (34.2%) complete worst. Biography shows 100% but on almost no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table, six metrics. Drama leads sessions and watch hours; Comedy has the best completion at 44.94%; Action leads repeat viewing at 10.08% despite being only fifth on sessions. Documentary is third on sessions but has the second-lowest completion among meaningful genres. Horror, Musical and Biography are too small to draw firm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viewer age is 34.4. The 25-34 and 35-44 groups hold 617 of 1,000 users. 55+ is only 48 users. Country distribution is flat, from 37 users in Colombia to 29 in Ukraine, so there is no single-market dependency. Gender split is 49.3% female, 46.2% male and 3.3% non-binary.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is the largest tier at 44.4%, Basic 30.2%, Premium 25.4%. Average sessions are 61, 60 and 58 respectively. The gap is modest, but the direction is the opposite of what a higher price should produce. Treat it as a signal to investigate, not a proven cause of churn.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Renewal is 85.6% and cancellation 14.4%. Cancelled users averaged 58.43 sessions vs 60.33 for renewed users, 97.70 vs 100.86 watch hours, and essentially identical percentage watched. The 3% gap is too small to build a churn model on. We need non-viewing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Cancellations start in April 2024, about a year after new-subscriber tracking begins, which points to an annual renewal moment. After the October 2024 spike of about 15, the monthly level settles between 7 and 12. Also worth a data check: the new-subscriber line on the executive page appears to stop around autumn 2024 while cancellations continue to autumn 2025, so net growth after that point is not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recommendation traces back to a finding: catalogue concentration and unwatched titles, the completion gap, churn not explained by engagement, and the Premium engagement gap. The growth line covers audience diversification.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proposals to anchor the discussion. Completion and renewal targets depend on the definition check in the first 30 days. The Premium target of 61 sessions simply matches Standard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messages and invite questions. Next step is the 30-day validation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5"/>
          </a:solidFill>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5"/>
          </a:solidFill>
        </p:spPr>
      </p:sp>
      <p:sp>
        <p:nvSpPr>
          <p:cNvPr id="25"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3"/>
                </a:solidFill>
              </a:defRPr>
            </a:lvl1pPr>
          </a:lstStyle>
          <a:p>
            <a:pPr algn="l"/>
            <a:fld id="{F7021451-1387-4CA6-816F-3879F97B5CBC}" type="slidenum">
              <a:rPr lang="en-US" b="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9144000" cy="274320"/>
          </a:xfrm>
          <a:prstGeom prst="rect">
            <a:avLst/>
          </a:prstGeom>
          <a:noFill/>
        </p:spPr>
        <p:txBody>
          <a:bodyPr wrap="square" lIns="0" tIns="0" rIns="0" bIns="0" rtlCol="0" anchor="ctr"/>
          <a:lstStyle/>
          <a:p>
            <a:pPr marL="0" indent="0">
              <a:buNone/>
            </a:pPr>
            <a:r>
              <a:rPr lang="en-US" sz="1000" dirty="0">
                <a:solidFill>
                  <a:schemeClr val="accent1"/>
                </a:solidFill>
              </a:rPr>
              <a:t>StreamWave Viewer Engagement &amp; Retention Analytics   |   Iheanyi Okwara, Data Analyst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1"/>
                </a:solidFill>
              </a:defRPr>
            </a:lvl1pPr>
          </a:lstStyle>
          <a:p>
            <a:pPr algn="l"/>
            <a:fld id="{F7021451-1387-4CA6-816F-3879F97B5CBC}" type="slidenum">
              <a:rPr lang="en-US" b="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9144000" cy="274320"/>
          </a:xfrm>
          <a:prstGeom prst="rect">
            <a:avLst/>
          </a:prstGeom>
          <a:noFill/>
        </p:spPr>
        <p:txBody>
          <a:bodyPr wrap="square" lIns="0" tIns="0" rIns="0" bIns="0" rtlCol="0" anchor="ctr"/>
          <a:lstStyle/>
          <a:p>
            <a:pPr marL="0" indent="0">
              <a:buNone/>
            </a:pPr>
            <a:r>
              <a:rPr lang="en-US" sz="1000" dirty="0">
                <a:solidFill>
                  <a:schemeClr val="accent1"/>
                </a:solidFill>
              </a:rPr>
              <a:t>StreamWave Viewer Engagement &amp; Retention Analytics   |   Iheanyi Okwara, Data Analyst</a:t>
            </a:r>
            <a:endParaRPr lang="en-US" sz="1000" dirty="0"/>
          </a:p>
        </p:txBody>
      </p:sp>
      <p:sp>
        <p:nvSpPr>
          <p:cNvPr id="3" name="Text 1"/>
          <p:cNvSpPr/>
          <p:nvPr>
            <p:ph type="title" idx="101" hasCustomPrompt="1"/>
          </p:nvPr>
        </p:nvSpPr>
        <p:spPr>
          <a:xfrm>
            <a:off x="548640" y="365760"/>
            <a:ext cx="11091672" cy="777240"/>
          </a:xfrm>
          <a:prstGeom prst="rect">
            <a:avLst/>
          </a:prstGeom>
          <a:noFill/>
        </p:spPr>
        <p:txBody>
          <a:bodyPr wrap="square" rtlCol="0"/>
          <a:lstStyle>
            <a:lvl1pPr marL="0" indent="0" algn="l">
              <a:buNone/>
              <a:defRPr lang="en-US" sz="3400" b="1" dirty="0">
                <a:solidFill>
                  <a:schemeClr val="accent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1"/>
                </a:solidFill>
              </a:defRPr>
            </a:lvl1pPr>
          </a:lstStyle>
          <a:p>
            <a:pPr algn="l"/>
            <a:fld id="{F7021451-1387-4CA6-816F-3879F97B5CBC}" type="slidenum">
              <a:rPr lang="en-US" b="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_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5"/>
          </a:solidFill>
        </p:spPr>
      </p:sp>
      <p:sp>
        <p:nvSpPr>
          <p:cNvPr id="3" name="Text 1"/>
          <p:cNvSpPr/>
          <p:nvPr>
            <p:ph type="title" idx="104" hasCustomPrompt="1"/>
          </p:nvPr>
        </p:nvSpPr>
        <p:spPr>
          <a:xfrm>
            <a:off x="731520" y="1417320"/>
            <a:ext cx="7498080" cy="2103120"/>
          </a:xfrm>
          <a:prstGeom prst="rect">
            <a:avLst/>
          </a:prstGeom>
          <a:noFill/>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1"/>
          <p:cNvSpPr/>
          <p:nvPr>
            <p:ph type="body" idx="105" hasCustomPrompt="1"/>
          </p:nvPr>
        </p:nvSpPr>
        <p:spPr>
          <a:xfrm>
            <a:off x="731520" y="3657600"/>
            <a:ext cx="6949440" cy="822960"/>
          </a:xfrm>
          <a:prstGeom prst="rect">
            <a:avLst/>
          </a:prstGeom>
          <a:noFill/>
        </p:spPr>
        <p:txBody>
          <a:bodyPr wrap="square" rtlCol="0"/>
          <a:lstStyle>
            <a:lvl1pPr marL="0" indent="0" algn="l">
              <a:buNone/>
              <a:defRPr lang="en-US" sz="2000" dirty="0">
                <a:solidFill>
                  <a:schemeClr val="accent3"/>
                </a:solidFill>
              </a:defRPr>
            </a:lvl1pPr>
          </a:lstStyle>
          <a:p>
            <a:pPr marL="0" indent="0" algn="l">
              <a:buNone/>
            </a:pPr>
            <a:endParaRPr lang="en-US" sz="20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ARK_CLOS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5"/>
          </a:solidFill>
        </p:spPr>
      </p:sp>
      <p:sp>
        <p:nvSpPr>
          <p:cNvPr id="3" name="Text 1"/>
          <p:cNvSpPr/>
          <p:nvPr>
            <p:ph type="title" idx="101" hasCustomPrompt="1"/>
          </p:nvPr>
        </p:nvSpPr>
        <p:spPr>
          <a:xfrm>
            <a:off x="548640" y="365760"/>
            <a:ext cx="11091672" cy="777240"/>
          </a:xfrm>
          <a:prstGeom prst="rect">
            <a:avLst/>
          </a:prstGeom>
          <a:noFill/>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3"/>
                </a:solidFill>
              </a:defRPr>
            </a:lvl1pPr>
          </a:lstStyle>
          <a:p>
            <a:pPr algn="l"/>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3"/>
                </a:solidFill>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6.xml"/><Relationship Id="rId2" Type="http://schemas.openxmlformats.org/officeDocument/2006/relationships/image" Target="../media/image1.jpe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chart" Target="../charts/char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chart" Target="../charts/chart4.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5.xml"/><Relationship Id="rId2" Type="http://schemas.openxmlformats.org/officeDocument/2006/relationships/chart" Target="../charts/chart6.xml"/><Relationship Id="rId1" Type="http://schemas.openxmlformats.org/officeDocument/2006/relationships/chart" Target="../charts/char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chart" Target="../charts/char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822960"/>
            <a:ext cx="6400800" cy="365760"/>
          </a:xfrm>
          <a:prstGeom prst="rect">
            <a:avLst/>
          </a:prstGeom>
          <a:noFill/>
        </p:spPr>
        <p:txBody>
          <a:bodyPr wrap="square" lIns="0" tIns="0" rIns="0" bIns="0" rtlCol="0" anchor="t"/>
          <a:lstStyle/>
          <a:p>
            <a:pPr marL="0" indent="0">
              <a:buNone/>
            </a:pPr>
            <a:r>
              <a:rPr lang="en-US" sz="1400" b="1" kern="0" spc="400" dirty="0">
                <a:solidFill>
                  <a:schemeClr val="accent3"/>
                </a:solidFill>
              </a:rPr>
              <a:t>DATA ANALYTICS PROJECT</a:t>
            </a:r>
            <a:endParaRPr lang="en-US" sz="1400" dirty="0"/>
          </a:p>
        </p:txBody>
      </p:sp>
      <p:sp>
        <p:nvSpPr>
          <p:cNvPr id="3" name="Text 1"/>
          <p:cNvSpPr/>
          <p:nvPr>
            <p:ph type="title" idx="104" hasCustomPrompt="1"/>
          </p:nvPr>
        </p:nvSpPr>
        <p:spPr>
          <a:xfrm>
            <a:off x="731520" y="1417320"/>
            <a:ext cx="7498080" cy="2103120"/>
          </a:xfrm>
          <a:prstGeom prst="rect">
            <a:avLst/>
          </a:prstGeom>
          <a:noFill/>
        </p:spPr>
        <p:txBody>
          <a:bodyPr wrap="square" lIns="0" tIns="0" rIns="0" bIns="0" rtlCol="0" anchor="t"/>
          <a:lstStyle/>
          <a:p>
            <a:pPr marL="0" indent="0" algn="l">
              <a:buNone/>
            </a:pPr>
            <a:r>
              <a:rPr lang="en-US" sz="4400" b="1" dirty="0">
                <a:solidFill>
                  <a:schemeClr val="bg1"/>
                </a:solidFill>
              </a:rPr>
              <a:t>StreamWave Viewer Engagement &amp; Retention Analytics</a:t>
            </a:r>
            <a:endParaRPr lang="en-US" sz="4400" dirty="0"/>
          </a:p>
        </p:txBody>
      </p:sp>
      <p:sp>
        <p:nvSpPr>
          <p:cNvPr id="4" name="Text 1"/>
          <p:cNvSpPr/>
          <p:nvPr>
            <p:ph type="body" idx="105" hasCustomPrompt="1"/>
          </p:nvPr>
        </p:nvSpPr>
        <p:spPr>
          <a:xfrm>
            <a:off x="731520" y="3657600"/>
            <a:ext cx="6949440" cy="822960"/>
          </a:xfrm>
          <a:prstGeom prst="rect">
            <a:avLst/>
          </a:prstGeom>
          <a:noFill/>
        </p:spPr>
        <p:txBody>
          <a:bodyPr wrap="square" lIns="0" tIns="0" rIns="0" bIns="0" rtlCol="0" anchor="t"/>
          <a:lstStyle/>
          <a:p>
            <a:pPr marL="0" indent="0" algn="l">
              <a:buNone/>
            </a:pPr>
            <a:r>
              <a:rPr lang="en-US" sz="2000" dirty="0">
                <a:solidFill>
                  <a:schemeClr val="accent3"/>
                </a:solidFill>
              </a:rPr>
              <a:t>What our audience watches, why it matters, and how to keep subscribers</a:t>
            </a:r>
            <a:endParaRPr lang="en-US" sz="2000" dirty="0"/>
          </a:p>
        </p:txBody>
      </p:sp>
      <p:sp>
        <p:nvSpPr>
          <p:cNvPr id="5" name="Text 3"/>
          <p:cNvSpPr txBox="1"/>
          <p:nvPr/>
        </p:nvSpPr>
        <p:spPr>
          <a:xfrm>
            <a:off x="731520" y="4892040"/>
            <a:ext cx="3657600" cy="274320"/>
          </a:xfrm>
          <a:prstGeom prst="rect">
            <a:avLst/>
          </a:prstGeom>
          <a:noFill/>
        </p:spPr>
        <p:txBody>
          <a:bodyPr wrap="square" lIns="0" tIns="0" rIns="0" bIns="0" rtlCol="0" anchor="t"/>
          <a:lstStyle/>
          <a:p>
            <a:pPr marL="0" indent="0">
              <a:buNone/>
            </a:pPr>
            <a:r>
              <a:rPr lang="en-US" sz="1200" dirty="0">
                <a:solidFill>
                  <a:schemeClr val="accent3"/>
                </a:solidFill>
              </a:rPr>
              <a:t>Presented by</a:t>
            </a:r>
            <a:endParaRPr lang="en-US" sz="1200" dirty="0"/>
          </a:p>
        </p:txBody>
      </p:sp>
      <p:sp>
        <p:nvSpPr>
          <p:cNvPr id="6" name="analyst-name"/>
          <p:cNvSpPr txBox="1"/>
          <p:nvPr/>
        </p:nvSpPr>
        <p:spPr>
          <a:xfrm>
            <a:off x="731520" y="5166360"/>
            <a:ext cx="6400800" cy="502920"/>
          </a:xfrm>
          <a:prstGeom prst="rect">
            <a:avLst/>
          </a:prstGeom>
          <a:noFill/>
        </p:spPr>
        <p:txBody>
          <a:bodyPr wrap="square" lIns="0" tIns="0" rIns="0" bIns="0" rtlCol="0" anchor="t"/>
          <a:lstStyle/>
          <a:p>
            <a:pPr marL="0" indent="0">
              <a:buNone/>
            </a:pPr>
            <a:r>
              <a:rPr lang="en-GB" altLang="en-US" sz="2800" b="1" dirty="0">
                <a:solidFill>
                  <a:schemeClr val="bg1"/>
                </a:solidFill>
              </a:rPr>
              <a:t>Iheanyi Okwara</a:t>
            </a:r>
            <a:endParaRPr lang="en-GB" altLang="en-US" sz="2800" b="1" dirty="0">
              <a:solidFill>
                <a:schemeClr val="bg1"/>
              </a:solidFill>
            </a:endParaRPr>
          </a:p>
        </p:txBody>
      </p:sp>
      <p:sp>
        <p:nvSpPr>
          <p:cNvPr id="7" name="Text 5"/>
          <p:cNvSpPr txBox="1"/>
          <p:nvPr/>
        </p:nvSpPr>
        <p:spPr>
          <a:xfrm>
            <a:off x="731520" y="5715000"/>
            <a:ext cx="6400800" cy="365760"/>
          </a:xfrm>
          <a:prstGeom prst="rect">
            <a:avLst/>
          </a:prstGeom>
          <a:noFill/>
        </p:spPr>
        <p:txBody>
          <a:bodyPr wrap="square" lIns="0" tIns="0" rIns="0" bIns="0" rtlCol="0" anchor="t"/>
          <a:lstStyle/>
          <a:p>
            <a:pPr marL="0" indent="0">
              <a:buNone/>
            </a:pPr>
            <a:r>
              <a:rPr lang="en-US" sz="1600" dirty="0">
                <a:solidFill>
                  <a:schemeClr val="accent3"/>
                </a:solidFill>
              </a:rPr>
              <a:t>Data Analyst  |  October 2026</a:t>
            </a:r>
            <a:endParaRPr lang="en-US" sz="1600" dirty="0"/>
          </a:p>
        </p:txBody>
      </p:sp>
      <p:pic>
        <p:nvPicPr>
          <p:cNvPr id="9" name="Picture 8" descr="Tablet PCs, documents, business, big data, reports, digital displays, laptops, finance, charts, monitors"/>
          <p:cNvPicPr>
            <a:picLocks noChangeAspect="1"/>
          </p:cNvPicPr>
          <p:nvPr>
            <p:custDataLst>
              <p:tags r:id="rId1"/>
            </p:custDataLst>
          </p:nvPr>
        </p:nvPicPr>
        <p:blipFill>
          <a:blip r:embed="rId2"/>
          <a:stretch>
            <a:fillRect/>
          </a:stretch>
        </p:blipFill>
        <p:spPr>
          <a:xfrm>
            <a:off x="7263130" y="822960"/>
            <a:ext cx="4928235" cy="53873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65760"/>
            <a:ext cx="11091672" cy="777240"/>
          </a:xfrm>
          <a:prstGeom prst="rect">
            <a:avLst/>
          </a:prstGeom>
          <a:noFill/>
        </p:spPr>
        <p:txBody>
          <a:bodyPr wrap="square" lIns="0" tIns="0" rIns="0" bIns="0" rtlCol="0" anchor="ctr"/>
          <a:lstStyle/>
          <a:p>
            <a:pPr marL="0" indent="0" algn="l">
              <a:buNone/>
            </a:pPr>
            <a:r>
              <a:rPr lang="en-US" sz="3400" b="1" dirty="0">
                <a:solidFill>
                  <a:schemeClr val="accent1"/>
                </a:solidFill>
              </a:rPr>
              <a:t>Executive summary</a:t>
            </a:r>
            <a:endParaRPr lang="en-US" sz="3400" dirty="0"/>
          </a:p>
        </p:txBody>
      </p:sp>
      <p:sp>
        <p:nvSpPr>
          <p:cNvPr id="3" name="takeaway"/>
          <p:cNvSpPr txBox="1"/>
          <p:nvPr/>
        </p:nvSpPr>
        <p:spPr>
          <a:xfrm>
            <a:off x="548640" y="1143000"/>
            <a:ext cx="11091672" cy="457200"/>
          </a:xfrm>
          <a:prstGeom prst="rect">
            <a:avLst/>
          </a:prstGeom>
          <a:noFill/>
        </p:spPr>
        <p:txBody>
          <a:bodyPr wrap="square" lIns="0" tIns="0" rIns="0" bIns="0" rtlCol="0" anchor="t"/>
          <a:lstStyle/>
          <a:p>
            <a:pPr marL="0" indent="0">
              <a:buNone/>
            </a:pPr>
            <a:r>
              <a:rPr lang="en-US" sz="1800" dirty="0">
                <a:solidFill>
                  <a:schemeClr val="tx1"/>
                </a:solidFill>
              </a:rPr>
              <a:t>A healthy, global base, but engagement is concentrated and churn isn't explained by viewing</a:t>
            </a:r>
            <a:endParaRPr lang="en-US" sz="1800" dirty="0"/>
          </a:p>
        </p:txBody>
      </p:sp>
      <p:sp>
        <p:nvSpPr>
          <p:cNvPr id="4" name="stat-card"/>
          <p:cNvSpPr/>
          <p:nvPr/>
        </p:nvSpPr>
        <p:spPr>
          <a:xfrm>
            <a:off x="548640" y="1783080"/>
            <a:ext cx="1658112" cy="1417320"/>
          </a:xfrm>
          <a:prstGeom prst="roundRect">
            <a:avLst>
              <a:gd name="adj" fmla="val 7742"/>
            </a:avLst>
          </a:prstGeom>
          <a:solidFill>
            <a:schemeClr val="bg2"/>
          </a:solidFill>
        </p:spPr>
      </p:sp>
      <p:sp>
        <p:nvSpPr>
          <p:cNvPr id="5" name="Text 3"/>
          <p:cNvSpPr txBox="1"/>
          <p:nvPr/>
        </p:nvSpPr>
        <p:spPr>
          <a:xfrm>
            <a:off x="777240" y="1947672"/>
            <a:ext cx="1200912" cy="637794"/>
          </a:xfrm>
          <a:prstGeom prst="rect">
            <a:avLst/>
          </a:prstGeom>
          <a:noFill/>
        </p:spPr>
        <p:txBody>
          <a:bodyPr wrap="square" lIns="0" tIns="0" rIns="0" bIns="0" rtlCol="0" anchor="ctr"/>
          <a:lstStyle/>
          <a:p>
            <a:pPr marL="0" indent="0">
              <a:buNone/>
            </a:pPr>
            <a:r>
              <a:rPr lang="en-US" sz="2800" b="1" dirty="0">
                <a:solidFill>
                  <a:schemeClr val="accent1"/>
                </a:solidFill>
              </a:rPr>
              <a:t>1,000</a:t>
            </a:r>
            <a:endParaRPr lang="en-US" sz="2800" dirty="0"/>
          </a:p>
        </p:txBody>
      </p:sp>
      <p:sp>
        <p:nvSpPr>
          <p:cNvPr id="6" name="Text 4"/>
          <p:cNvSpPr txBox="1"/>
          <p:nvPr/>
        </p:nvSpPr>
        <p:spPr>
          <a:xfrm>
            <a:off x="777240" y="2603754"/>
            <a:ext cx="1200912" cy="505206"/>
          </a:xfrm>
          <a:prstGeom prst="rect">
            <a:avLst/>
          </a:prstGeom>
          <a:noFill/>
        </p:spPr>
        <p:txBody>
          <a:bodyPr wrap="square" lIns="0" tIns="0" rIns="0" bIns="0" rtlCol="0" anchor="t"/>
          <a:lstStyle/>
          <a:p>
            <a:pPr marL="0" indent="0">
              <a:buNone/>
            </a:pPr>
            <a:r>
              <a:rPr lang="en-US" sz="1300" dirty="0">
                <a:solidFill>
                  <a:schemeClr val="tx1"/>
                </a:solidFill>
              </a:rPr>
              <a:t>Registered users</a:t>
            </a:r>
            <a:endParaRPr lang="en-US" sz="1300" dirty="0"/>
          </a:p>
        </p:txBody>
      </p:sp>
      <p:sp>
        <p:nvSpPr>
          <p:cNvPr id="7" name="stat-card"/>
          <p:cNvSpPr/>
          <p:nvPr/>
        </p:nvSpPr>
        <p:spPr>
          <a:xfrm>
            <a:off x="2435352" y="1783080"/>
            <a:ext cx="1658112" cy="1417320"/>
          </a:xfrm>
          <a:prstGeom prst="roundRect">
            <a:avLst>
              <a:gd name="adj" fmla="val 7742"/>
            </a:avLst>
          </a:prstGeom>
          <a:solidFill>
            <a:schemeClr val="bg2"/>
          </a:solidFill>
        </p:spPr>
      </p:sp>
      <p:sp>
        <p:nvSpPr>
          <p:cNvPr id="8" name="Text 6"/>
          <p:cNvSpPr txBox="1"/>
          <p:nvPr/>
        </p:nvSpPr>
        <p:spPr>
          <a:xfrm>
            <a:off x="2663952" y="1947672"/>
            <a:ext cx="1200912" cy="637794"/>
          </a:xfrm>
          <a:prstGeom prst="rect">
            <a:avLst/>
          </a:prstGeom>
          <a:noFill/>
        </p:spPr>
        <p:txBody>
          <a:bodyPr wrap="square" lIns="0" tIns="0" rIns="0" bIns="0" rtlCol="0" anchor="ctr"/>
          <a:lstStyle/>
          <a:p>
            <a:pPr marL="0" indent="0">
              <a:buNone/>
            </a:pPr>
            <a:r>
              <a:rPr lang="en-US" sz="2800" b="1" dirty="0">
                <a:solidFill>
                  <a:schemeClr val="accent1"/>
                </a:solidFill>
              </a:rPr>
              <a:t>60,000</a:t>
            </a:r>
            <a:endParaRPr lang="en-US" sz="2800" dirty="0"/>
          </a:p>
        </p:txBody>
      </p:sp>
      <p:sp>
        <p:nvSpPr>
          <p:cNvPr id="9" name="Text 7"/>
          <p:cNvSpPr txBox="1"/>
          <p:nvPr/>
        </p:nvSpPr>
        <p:spPr>
          <a:xfrm>
            <a:off x="2663952" y="2603754"/>
            <a:ext cx="1200912" cy="505206"/>
          </a:xfrm>
          <a:prstGeom prst="rect">
            <a:avLst/>
          </a:prstGeom>
          <a:noFill/>
        </p:spPr>
        <p:txBody>
          <a:bodyPr wrap="square" lIns="0" tIns="0" rIns="0" bIns="0" rtlCol="0" anchor="t"/>
          <a:lstStyle/>
          <a:p>
            <a:pPr marL="0" indent="0">
              <a:buNone/>
            </a:pPr>
            <a:r>
              <a:rPr lang="en-US" sz="1300" dirty="0">
                <a:solidFill>
                  <a:schemeClr val="tx1"/>
                </a:solidFill>
              </a:rPr>
              <a:t>Viewing sessions</a:t>
            </a:r>
            <a:endParaRPr lang="en-US" sz="1300" dirty="0"/>
          </a:p>
        </p:txBody>
      </p:sp>
      <p:sp>
        <p:nvSpPr>
          <p:cNvPr id="10" name="stat-card"/>
          <p:cNvSpPr/>
          <p:nvPr/>
        </p:nvSpPr>
        <p:spPr>
          <a:xfrm>
            <a:off x="4322064" y="1783080"/>
            <a:ext cx="1658112" cy="1417320"/>
          </a:xfrm>
          <a:prstGeom prst="roundRect">
            <a:avLst>
              <a:gd name="adj" fmla="val 7742"/>
            </a:avLst>
          </a:prstGeom>
          <a:solidFill>
            <a:schemeClr val="bg2"/>
          </a:solidFill>
        </p:spPr>
      </p:sp>
      <p:sp>
        <p:nvSpPr>
          <p:cNvPr id="11" name="Text 9"/>
          <p:cNvSpPr txBox="1"/>
          <p:nvPr/>
        </p:nvSpPr>
        <p:spPr>
          <a:xfrm>
            <a:off x="4550664" y="1947672"/>
            <a:ext cx="1200912" cy="637794"/>
          </a:xfrm>
          <a:prstGeom prst="rect">
            <a:avLst/>
          </a:prstGeom>
          <a:noFill/>
        </p:spPr>
        <p:txBody>
          <a:bodyPr wrap="square" lIns="0" tIns="0" rIns="0" bIns="0" rtlCol="0" anchor="ctr"/>
          <a:lstStyle/>
          <a:p>
            <a:pPr marL="0" indent="0">
              <a:buNone/>
            </a:pPr>
            <a:r>
              <a:rPr lang="en-US" sz="2800" b="1" dirty="0">
                <a:solidFill>
                  <a:schemeClr val="accent1"/>
                </a:solidFill>
              </a:rPr>
              <a:t>100.3K</a:t>
            </a:r>
            <a:endParaRPr lang="en-US" sz="2800" dirty="0"/>
          </a:p>
        </p:txBody>
      </p:sp>
      <p:sp>
        <p:nvSpPr>
          <p:cNvPr id="12" name="Text 10"/>
          <p:cNvSpPr txBox="1"/>
          <p:nvPr/>
        </p:nvSpPr>
        <p:spPr>
          <a:xfrm>
            <a:off x="4550664" y="2603754"/>
            <a:ext cx="1200912" cy="505206"/>
          </a:xfrm>
          <a:prstGeom prst="rect">
            <a:avLst/>
          </a:prstGeom>
          <a:noFill/>
        </p:spPr>
        <p:txBody>
          <a:bodyPr wrap="square" lIns="0" tIns="0" rIns="0" bIns="0" rtlCol="0" anchor="t"/>
          <a:lstStyle/>
          <a:p>
            <a:pPr marL="0" indent="0">
              <a:buNone/>
            </a:pPr>
            <a:r>
              <a:rPr lang="en-US" sz="1300" dirty="0">
                <a:solidFill>
                  <a:schemeClr val="tx1"/>
                </a:solidFill>
              </a:rPr>
              <a:t>Watch hours</a:t>
            </a:r>
            <a:endParaRPr lang="en-US" sz="1300" dirty="0"/>
          </a:p>
        </p:txBody>
      </p:sp>
      <p:sp>
        <p:nvSpPr>
          <p:cNvPr id="13" name="stat-card"/>
          <p:cNvSpPr/>
          <p:nvPr/>
        </p:nvSpPr>
        <p:spPr>
          <a:xfrm>
            <a:off x="6208776" y="1783080"/>
            <a:ext cx="1658112" cy="1417320"/>
          </a:xfrm>
          <a:prstGeom prst="roundRect">
            <a:avLst>
              <a:gd name="adj" fmla="val 7742"/>
            </a:avLst>
          </a:prstGeom>
          <a:solidFill>
            <a:schemeClr val="accent1"/>
          </a:solidFill>
        </p:spPr>
      </p:sp>
      <p:sp>
        <p:nvSpPr>
          <p:cNvPr id="14" name="Text 12"/>
          <p:cNvSpPr txBox="1"/>
          <p:nvPr/>
        </p:nvSpPr>
        <p:spPr>
          <a:xfrm>
            <a:off x="6437376" y="1947672"/>
            <a:ext cx="1200912" cy="637794"/>
          </a:xfrm>
          <a:prstGeom prst="rect">
            <a:avLst/>
          </a:prstGeom>
          <a:noFill/>
        </p:spPr>
        <p:txBody>
          <a:bodyPr wrap="square" lIns="0" tIns="0" rIns="0" bIns="0" rtlCol="0" anchor="ctr"/>
          <a:lstStyle/>
          <a:p>
            <a:pPr marL="0" indent="0">
              <a:buNone/>
            </a:pPr>
            <a:r>
              <a:rPr lang="en-US" sz="2800" b="1" dirty="0">
                <a:solidFill>
                  <a:schemeClr val="bg1"/>
                </a:solidFill>
              </a:rPr>
              <a:t>39.93%</a:t>
            </a:r>
            <a:endParaRPr lang="en-US" sz="2800" dirty="0"/>
          </a:p>
        </p:txBody>
      </p:sp>
      <p:sp>
        <p:nvSpPr>
          <p:cNvPr id="15" name="Text 13"/>
          <p:cNvSpPr txBox="1"/>
          <p:nvPr/>
        </p:nvSpPr>
        <p:spPr>
          <a:xfrm>
            <a:off x="6437376" y="2603754"/>
            <a:ext cx="1200912" cy="505206"/>
          </a:xfrm>
          <a:prstGeom prst="rect">
            <a:avLst/>
          </a:prstGeom>
          <a:noFill/>
        </p:spPr>
        <p:txBody>
          <a:bodyPr wrap="square" lIns="0" tIns="0" rIns="0" bIns="0" rtlCol="0" anchor="t"/>
          <a:lstStyle/>
          <a:p>
            <a:pPr marL="0" indent="0">
              <a:buNone/>
            </a:pPr>
            <a:r>
              <a:rPr lang="en-US" sz="1300" dirty="0">
                <a:solidFill>
                  <a:schemeClr val="bg1"/>
                </a:solidFill>
              </a:rPr>
              <a:t>Completion rate</a:t>
            </a:r>
            <a:endParaRPr lang="en-US" sz="1300" dirty="0"/>
          </a:p>
        </p:txBody>
      </p:sp>
      <p:sp>
        <p:nvSpPr>
          <p:cNvPr id="16" name="stat-card"/>
          <p:cNvSpPr/>
          <p:nvPr/>
        </p:nvSpPr>
        <p:spPr>
          <a:xfrm>
            <a:off x="8095488" y="1783080"/>
            <a:ext cx="1658112" cy="1417320"/>
          </a:xfrm>
          <a:prstGeom prst="roundRect">
            <a:avLst>
              <a:gd name="adj" fmla="val 7742"/>
            </a:avLst>
          </a:prstGeom>
          <a:solidFill>
            <a:schemeClr val="accent1"/>
          </a:solidFill>
        </p:spPr>
      </p:sp>
      <p:sp>
        <p:nvSpPr>
          <p:cNvPr id="17" name="Text 15"/>
          <p:cNvSpPr txBox="1"/>
          <p:nvPr/>
        </p:nvSpPr>
        <p:spPr>
          <a:xfrm>
            <a:off x="8324088" y="1947672"/>
            <a:ext cx="1200912" cy="637794"/>
          </a:xfrm>
          <a:prstGeom prst="rect">
            <a:avLst/>
          </a:prstGeom>
          <a:noFill/>
        </p:spPr>
        <p:txBody>
          <a:bodyPr wrap="square" lIns="0" tIns="0" rIns="0" bIns="0" rtlCol="0" anchor="ctr"/>
          <a:lstStyle/>
          <a:p>
            <a:pPr marL="0" indent="0">
              <a:buNone/>
            </a:pPr>
            <a:r>
              <a:rPr lang="en-US" sz="2800" b="1" dirty="0">
                <a:solidFill>
                  <a:schemeClr val="bg1"/>
                </a:solidFill>
              </a:rPr>
              <a:t>85.6%</a:t>
            </a:r>
            <a:endParaRPr lang="en-US" sz="2800" dirty="0"/>
          </a:p>
        </p:txBody>
      </p:sp>
      <p:sp>
        <p:nvSpPr>
          <p:cNvPr id="18" name="Text 16"/>
          <p:cNvSpPr txBox="1"/>
          <p:nvPr/>
        </p:nvSpPr>
        <p:spPr>
          <a:xfrm>
            <a:off x="8324088" y="2603754"/>
            <a:ext cx="1200912" cy="505206"/>
          </a:xfrm>
          <a:prstGeom prst="rect">
            <a:avLst/>
          </a:prstGeom>
          <a:noFill/>
        </p:spPr>
        <p:txBody>
          <a:bodyPr wrap="square" lIns="0" tIns="0" rIns="0" bIns="0" rtlCol="0" anchor="t"/>
          <a:lstStyle/>
          <a:p>
            <a:pPr marL="0" indent="0">
              <a:buNone/>
            </a:pPr>
            <a:r>
              <a:rPr lang="en-US" sz="1300" dirty="0">
                <a:solidFill>
                  <a:schemeClr val="bg1"/>
                </a:solidFill>
              </a:rPr>
              <a:t>Renewal rate</a:t>
            </a:r>
            <a:endParaRPr lang="en-US" sz="1300" dirty="0"/>
          </a:p>
        </p:txBody>
      </p:sp>
      <p:sp>
        <p:nvSpPr>
          <p:cNvPr id="19" name="stat-card"/>
          <p:cNvSpPr/>
          <p:nvPr/>
        </p:nvSpPr>
        <p:spPr>
          <a:xfrm>
            <a:off x="9982200" y="1783080"/>
            <a:ext cx="1658112" cy="1417320"/>
          </a:xfrm>
          <a:prstGeom prst="roundRect">
            <a:avLst>
              <a:gd name="adj" fmla="val 7742"/>
            </a:avLst>
          </a:prstGeom>
          <a:solidFill>
            <a:schemeClr val="accent1"/>
          </a:solidFill>
        </p:spPr>
      </p:sp>
      <p:sp>
        <p:nvSpPr>
          <p:cNvPr id="20" name="Text 18"/>
          <p:cNvSpPr txBox="1"/>
          <p:nvPr/>
        </p:nvSpPr>
        <p:spPr>
          <a:xfrm>
            <a:off x="10210800" y="1947672"/>
            <a:ext cx="1200912" cy="637794"/>
          </a:xfrm>
          <a:prstGeom prst="rect">
            <a:avLst/>
          </a:prstGeom>
          <a:noFill/>
        </p:spPr>
        <p:txBody>
          <a:bodyPr wrap="square" lIns="0" tIns="0" rIns="0" bIns="0" rtlCol="0" anchor="ctr"/>
          <a:lstStyle/>
          <a:p>
            <a:pPr marL="0" indent="0">
              <a:buNone/>
            </a:pPr>
            <a:r>
              <a:rPr lang="en-US" sz="2800" b="1" dirty="0">
                <a:solidFill>
                  <a:schemeClr val="bg1"/>
                </a:solidFill>
              </a:rPr>
              <a:t>65.7%</a:t>
            </a:r>
            <a:endParaRPr lang="en-US" sz="2800" dirty="0"/>
          </a:p>
        </p:txBody>
      </p:sp>
      <p:sp>
        <p:nvSpPr>
          <p:cNvPr id="21" name="Text 19"/>
          <p:cNvSpPr txBox="1"/>
          <p:nvPr/>
        </p:nvSpPr>
        <p:spPr>
          <a:xfrm>
            <a:off x="10210800" y="2603754"/>
            <a:ext cx="1200912" cy="505206"/>
          </a:xfrm>
          <a:prstGeom prst="rect">
            <a:avLst/>
          </a:prstGeom>
          <a:noFill/>
        </p:spPr>
        <p:txBody>
          <a:bodyPr wrap="square" lIns="0" tIns="0" rIns="0" bIns="0" rtlCol="0" anchor="t"/>
          <a:lstStyle/>
          <a:p>
            <a:pPr marL="0" indent="0">
              <a:buNone/>
            </a:pPr>
            <a:r>
              <a:rPr lang="en-US" sz="1300" dirty="0">
                <a:solidFill>
                  <a:schemeClr val="bg1"/>
                </a:solidFill>
              </a:rPr>
              <a:t>Catalogue utilisation</a:t>
            </a:r>
            <a:endParaRPr lang="en-US" sz="1300" dirty="0"/>
          </a:p>
        </p:txBody>
      </p:sp>
      <p:sp>
        <p:nvSpPr>
          <p:cNvPr id="22" name="summary-card"/>
          <p:cNvSpPr/>
          <p:nvPr/>
        </p:nvSpPr>
        <p:spPr>
          <a:xfrm>
            <a:off x="548640" y="3429000"/>
            <a:ext cx="3544824" cy="2788920"/>
          </a:xfrm>
          <a:prstGeom prst="roundRect">
            <a:avLst>
              <a:gd name="adj" fmla="val 3934"/>
            </a:avLst>
          </a:prstGeom>
          <a:solidFill>
            <a:schemeClr val="bg2"/>
          </a:solidFill>
        </p:spPr>
      </p:sp>
      <p:sp>
        <p:nvSpPr>
          <p:cNvPr id="23" name="Text 21"/>
          <p:cNvSpPr txBox="1"/>
          <p:nvPr/>
        </p:nvSpPr>
        <p:spPr>
          <a:xfrm>
            <a:off x="822960" y="3611880"/>
            <a:ext cx="2996184" cy="411480"/>
          </a:xfrm>
          <a:prstGeom prst="rect">
            <a:avLst/>
          </a:prstGeom>
          <a:noFill/>
        </p:spPr>
        <p:txBody>
          <a:bodyPr wrap="square" lIns="0" tIns="0" rIns="0" bIns="0" rtlCol="0" anchor="t"/>
          <a:lstStyle/>
          <a:p>
            <a:pPr marL="0" indent="0">
              <a:buNone/>
            </a:pPr>
            <a:r>
              <a:rPr lang="en-US" sz="2000" b="1" dirty="0">
                <a:solidFill>
                  <a:schemeClr val="accent1"/>
                </a:solidFill>
              </a:rPr>
              <a:t>What's working</a:t>
            </a:r>
            <a:endParaRPr lang="en-US" sz="2000" dirty="0"/>
          </a:p>
        </p:txBody>
      </p:sp>
      <p:sp>
        <p:nvSpPr>
          <p:cNvPr id="24" name="Text 22"/>
          <p:cNvSpPr txBox="1"/>
          <p:nvPr/>
        </p:nvSpPr>
        <p:spPr>
          <a:xfrm>
            <a:off x="822960" y="4114800"/>
            <a:ext cx="2996184" cy="2011680"/>
          </a:xfrm>
          <a:prstGeom prst="rect">
            <a:avLst/>
          </a:prstGeom>
          <a:noFill/>
        </p:spPr>
        <p:txBody>
          <a:bodyPr wrap="square" lIns="0" tIns="0" rIns="0" bIns="0" rtlCol="0" anchor="t"/>
          <a:lstStyle/>
          <a:p>
            <a:pPr marL="342900" indent="-342900">
              <a:spcAft>
                <a:spcPts val="800"/>
              </a:spcAft>
              <a:buSzPct val="100000"/>
              <a:buChar char="•"/>
            </a:pPr>
            <a:r>
              <a:rPr lang="en-US" sz="1500" dirty="0">
                <a:solidFill>
                  <a:schemeClr val="tx1"/>
                </a:solidFill>
              </a:rPr>
              <a:t>Renewal rate of 85.6% across 1,000 users</a:t>
            </a:r>
            <a:endParaRPr lang="en-US" sz="1500" dirty="0"/>
          </a:p>
          <a:p>
            <a:pPr marL="342900" indent="-342900">
              <a:spcAft>
                <a:spcPts val="800"/>
              </a:spcAft>
              <a:buSzPct val="100000"/>
              <a:buChar char="•"/>
            </a:pPr>
            <a:r>
              <a:rPr lang="en-US" sz="1500" dirty="0">
                <a:solidFill>
                  <a:schemeClr val="tx1"/>
                </a:solidFill>
              </a:rPr>
              <a:t>About 60 sessions per viewer</a:t>
            </a:r>
            <a:endParaRPr lang="en-US" sz="1500" dirty="0"/>
          </a:p>
          <a:p>
            <a:pPr marL="342900" indent="-342900">
              <a:spcAft>
                <a:spcPts val="800"/>
              </a:spcAft>
              <a:buSzPct val="100000"/>
              <a:buChar char="•"/>
            </a:pPr>
            <a:r>
              <a:rPr lang="en-US" sz="1500" dirty="0">
                <a:solidFill>
                  <a:schemeClr val="tx1"/>
                </a:solidFill>
              </a:rPr>
              <a:t>Viewers watch ~88% of a title on average</a:t>
            </a:r>
            <a:endParaRPr lang="en-US" sz="1500" dirty="0"/>
          </a:p>
        </p:txBody>
      </p:sp>
      <p:sp>
        <p:nvSpPr>
          <p:cNvPr id="25" name="summary-card"/>
          <p:cNvSpPr/>
          <p:nvPr/>
        </p:nvSpPr>
        <p:spPr>
          <a:xfrm>
            <a:off x="4322064" y="3429000"/>
            <a:ext cx="3544824" cy="2788920"/>
          </a:xfrm>
          <a:prstGeom prst="roundRect">
            <a:avLst>
              <a:gd name="adj" fmla="val 3934"/>
            </a:avLst>
          </a:prstGeom>
          <a:solidFill>
            <a:schemeClr val="bg2"/>
          </a:solidFill>
        </p:spPr>
      </p:sp>
      <p:sp>
        <p:nvSpPr>
          <p:cNvPr id="26" name="Text 24"/>
          <p:cNvSpPr txBox="1"/>
          <p:nvPr/>
        </p:nvSpPr>
        <p:spPr>
          <a:xfrm>
            <a:off x="4596384" y="3611880"/>
            <a:ext cx="2996184" cy="411480"/>
          </a:xfrm>
          <a:prstGeom prst="rect">
            <a:avLst/>
          </a:prstGeom>
          <a:noFill/>
        </p:spPr>
        <p:txBody>
          <a:bodyPr wrap="square" lIns="0" tIns="0" rIns="0" bIns="0" rtlCol="0" anchor="t"/>
          <a:lstStyle/>
          <a:p>
            <a:pPr marL="0" indent="0">
              <a:buNone/>
            </a:pPr>
            <a:r>
              <a:rPr lang="en-US" sz="2000" b="1" dirty="0">
                <a:solidFill>
                  <a:schemeClr val="accent1"/>
                </a:solidFill>
              </a:rPr>
              <a:t>What's concerning</a:t>
            </a:r>
            <a:endParaRPr lang="en-US" sz="2000" dirty="0"/>
          </a:p>
        </p:txBody>
      </p:sp>
      <p:sp>
        <p:nvSpPr>
          <p:cNvPr id="27" name="Text 25"/>
          <p:cNvSpPr txBox="1"/>
          <p:nvPr/>
        </p:nvSpPr>
        <p:spPr>
          <a:xfrm>
            <a:off x="4596384" y="4114800"/>
            <a:ext cx="2996184" cy="2011680"/>
          </a:xfrm>
          <a:prstGeom prst="rect">
            <a:avLst/>
          </a:prstGeom>
          <a:noFill/>
        </p:spPr>
        <p:txBody>
          <a:bodyPr wrap="square" lIns="0" tIns="0" rIns="0" bIns="0" rtlCol="0" anchor="t"/>
          <a:lstStyle/>
          <a:p>
            <a:pPr marL="342900" indent="-342900">
              <a:spcAft>
                <a:spcPts val="800"/>
              </a:spcAft>
              <a:buSzPct val="100000"/>
              <a:buChar char="•"/>
            </a:pPr>
            <a:r>
              <a:rPr lang="en-US" sz="1500" dirty="0">
                <a:solidFill>
                  <a:schemeClr val="tx1"/>
                </a:solidFill>
              </a:rPr>
              <a:t>3 genres drive 61% of sessions; 261 titles unwatched</a:t>
            </a:r>
            <a:endParaRPr lang="en-US" sz="1500" dirty="0"/>
          </a:p>
          <a:p>
            <a:pPr marL="342900" indent="-342900">
              <a:spcAft>
                <a:spcPts val="800"/>
              </a:spcAft>
              <a:buSzPct val="100000"/>
              <a:buChar char="•"/>
            </a:pPr>
            <a:r>
              <a:rPr lang="en-US" sz="1500" dirty="0">
                <a:solidFill>
                  <a:schemeClr val="tx1"/>
                </a:solidFill>
              </a:rPr>
              <a:t>Only 39.93% of views are completed</a:t>
            </a:r>
            <a:endParaRPr lang="en-US" sz="1500" dirty="0"/>
          </a:p>
          <a:p>
            <a:pPr marL="342900" indent="-342900">
              <a:spcAft>
                <a:spcPts val="800"/>
              </a:spcAft>
              <a:buSzPct val="100000"/>
              <a:buChar char="•"/>
            </a:pPr>
            <a:r>
              <a:rPr lang="en-US" sz="1500" dirty="0">
                <a:solidFill>
                  <a:schemeClr val="tx1"/>
                </a:solidFill>
              </a:rPr>
              <a:t>Cancellers watched nearly as much as renewers</a:t>
            </a:r>
            <a:endParaRPr lang="en-US" sz="1500" dirty="0"/>
          </a:p>
        </p:txBody>
      </p:sp>
      <p:sp>
        <p:nvSpPr>
          <p:cNvPr id="28" name="summary-card"/>
          <p:cNvSpPr/>
          <p:nvPr/>
        </p:nvSpPr>
        <p:spPr>
          <a:xfrm>
            <a:off x="8095488" y="3429000"/>
            <a:ext cx="3544824" cy="2788920"/>
          </a:xfrm>
          <a:prstGeom prst="roundRect">
            <a:avLst>
              <a:gd name="adj" fmla="val 3934"/>
            </a:avLst>
          </a:prstGeom>
          <a:solidFill>
            <a:schemeClr val="bg2"/>
          </a:solidFill>
        </p:spPr>
      </p:sp>
      <p:sp>
        <p:nvSpPr>
          <p:cNvPr id="29" name="Text 27"/>
          <p:cNvSpPr txBox="1"/>
          <p:nvPr/>
        </p:nvSpPr>
        <p:spPr>
          <a:xfrm>
            <a:off x="8369808" y="3611880"/>
            <a:ext cx="2996184" cy="411480"/>
          </a:xfrm>
          <a:prstGeom prst="rect">
            <a:avLst/>
          </a:prstGeom>
          <a:noFill/>
        </p:spPr>
        <p:txBody>
          <a:bodyPr wrap="square" lIns="0" tIns="0" rIns="0" bIns="0" rtlCol="0" anchor="t"/>
          <a:lstStyle/>
          <a:p>
            <a:pPr marL="0" indent="0">
              <a:buNone/>
            </a:pPr>
            <a:r>
              <a:rPr lang="en-US" sz="2000" b="1" dirty="0">
                <a:solidFill>
                  <a:schemeClr val="accent1"/>
                </a:solidFill>
              </a:rPr>
              <a:t>What we recommend</a:t>
            </a:r>
            <a:endParaRPr lang="en-US" sz="2000" dirty="0"/>
          </a:p>
        </p:txBody>
      </p:sp>
      <p:sp>
        <p:nvSpPr>
          <p:cNvPr id="30" name="Text 28"/>
          <p:cNvSpPr txBox="1"/>
          <p:nvPr/>
        </p:nvSpPr>
        <p:spPr>
          <a:xfrm>
            <a:off x="8369808" y="4114800"/>
            <a:ext cx="2996184" cy="2011680"/>
          </a:xfrm>
          <a:prstGeom prst="rect">
            <a:avLst/>
          </a:prstGeom>
          <a:noFill/>
        </p:spPr>
        <p:txBody>
          <a:bodyPr wrap="square" lIns="0" tIns="0" rIns="0" bIns="0" rtlCol="0" anchor="t"/>
          <a:lstStyle/>
          <a:p>
            <a:pPr marL="342900" indent="-342900">
              <a:spcAft>
                <a:spcPts val="800"/>
              </a:spcAft>
              <a:buSzPct val="100000"/>
              <a:buChar char="•"/>
            </a:pPr>
            <a:r>
              <a:rPr lang="en-US" sz="1500" dirty="0">
                <a:solidFill>
                  <a:schemeClr val="tx1"/>
                </a:solidFill>
              </a:rPr>
              <a:t>Curate and rebalance the catalogue</a:t>
            </a:r>
            <a:endParaRPr lang="en-US" sz="1500" dirty="0"/>
          </a:p>
          <a:p>
            <a:pPr marL="342900" indent="-342900">
              <a:spcAft>
                <a:spcPts val="800"/>
              </a:spcAft>
              <a:buSzPct val="100000"/>
              <a:buChar char="•"/>
            </a:pPr>
            <a:r>
              <a:rPr lang="en-US" sz="1500" dirty="0">
                <a:solidFill>
                  <a:schemeClr val="tx1"/>
                </a:solidFill>
              </a:rPr>
              <a:t>Fix the finish line on completion</a:t>
            </a:r>
            <a:endParaRPr lang="en-US" sz="1500" dirty="0"/>
          </a:p>
          <a:p>
            <a:pPr marL="342900" indent="-342900">
              <a:spcAft>
                <a:spcPts val="800"/>
              </a:spcAft>
              <a:buSzPct val="100000"/>
              <a:buChar char="•"/>
            </a:pPr>
            <a:r>
              <a:rPr lang="en-US" sz="1500" dirty="0">
                <a:solidFill>
                  <a:schemeClr val="tx1"/>
                </a:solidFill>
              </a:rPr>
              <a:t>Build a retention playbook beyond engagement</a:t>
            </a:r>
            <a:endParaRPr lang="en-US" sz="1500" dirty="0"/>
          </a:p>
        </p:txBody>
      </p:sp>
      <p:sp>
        <p:nvSpPr>
          <p:cNvPr id="31"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1"/>
                </a:solidFill>
              </a:defRPr>
            </a:lvl1pPr>
          </a:lstStyle>
          <a:p>
            <a:pPr algn="l"/>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65760"/>
            <a:ext cx="11091672" cy="777240"/>
          </a:xfrm>
          <a:prstGeom prst="rect">
            <a:avLst/>
          </a:prstGeom>
          <a:noFill/>
        </p:spPr>
        <p:txBody>
          <a:bodyPr wrap="square" lIns="0" tIns="0" rIns="0" bIns="0" rtlCol="0" anchor="ctr"/>
          <a:lstStyle/>
          <a:p>
            <a:pPr marL="0" indent="0" algn="l">
              <a:buNone/>
            </a:pPr>
            <a:r>
              <a:rPr lang="en-US" sz="3400" b="1" dirty="0">
                <a:solidFill>
                  <a:schemeClr val="accent1"/>
                </a:solidFill>
              </a:rPr>
              <a:t>Four questions leadership needs answered</a:t>
            </a:r>
            <a:endParaRPr lang="en-US" sz="3400" dirty="0"/>
          </a:p>
        </p:txBody>
      </p:sp>
      <p:sp>
        <p:nvSpPr>
          <p:cNvPr id="3" name="takeaway"/>
          <p:cNvSpPr txBox="1"/>
          <p:nvPr/>
        </p:nvSpPr>
        <p:spPr>
          <a:xfrm>
            <a:off x="548640" y="1143000"/>
            <a:ext cx="11091672" cy="457200"/>
          </a:xfrm>
          <a:prstGeom prst="rect">
            <a:avLst/>
          </a:prstGeom>
          <a:noFill/>
        </p:spPr>
        <p:txBody>
          <a:bodyPr wrap="square" lIns="0" tIns="0" rIns="0" bIns="0" rtlCol="0" anchor="t"/>
          <a:lstStyle/>
          <a:p>
            <a:pPr marL="0" indent="0">
              <a:buNone/>
            </a:pPr>
            <a:r>
              <a:rPr lang="en-US" sz="1800" dirty="0">
                <a:solidFill>
                  <a:schemeClr val="tx1"/>
                </a:solidFill>
              </a:rPr>
              <a:t>The dashboard was built to answer these business problems</a:t>
            </a:r>
            <a:endParaRPr lang="en-US" sz="1800" dirty="0"/>
          </a:p>
        </p:txBody>
      </p:sp>
      <p:sp>
        <p:nvSpPr>
          <p:cNvPr id="4" name="problem-card"/>
          <p:cNvSpPr/>
          <p:nvPr/>
        </p:nvSpPr>
        <p:spPr>
          <a:xfrm>
            <a:off x="548640" y="1783080"/>
            <a:ext cx="5440680" cy="2057400"/>
          </a:xfrm>
          <a:prstGeom prst="roundRect">
            <a:avLst>
              <a:gd name="adj" fmla="val 5333"/>
            </a:avLst>
          </a:prstGeom>
          <a:solidFill>
            <a:schemeClr val="bg2"/>
          </a:solidFill>
        </p:spPr>
      </p:sp>
      <p:sp>
        <p:nvSpPr>
          <p:cNvPr id="5" name="badge"/>
          <p:cNvSpPr/>
          <p:nvPr/>
        </p:nvSpPr>
        <p:spPr>
          <a:xfrm>
            <a:off x="822960" y="2057400"/>
            <a:ext cx="502920" cy="502920"/>
          </a:xfrm>
          <a:prstGeom prst="ellipse">
            <a:avLst/>
          </a:prstGeom>
          <a:solidFill>
            <a:schemeClr val="accent1"/>
          </a:solidFill>
        </p:spPr>
      </p:sp>
      <p:sp>
        <p:nvSpPr>
          <p:cNvPr id="6" name="Text 4"/>
          <p:cNvSpPr txBox="1"/>
          <p:nvPr/>
        </p:nvSpPr>
        <p:spPr>
          <a:xfrm>
            <a:off x="822960" y="2057400"/>
            <a:ext cx="502920" cy="502920"/>
          </a:xfrm>
          <a:prstGeom prst="rect">
            <a:avLst/>
          </a:prstGeom>
          <a:noFill/>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5"/>
          <p:cNvSpPr txBox="1"/>
          <p:nvPr/>
        </p:nvSpPr>
        <p:spPr>
          <a:xfrm>
            <a:off x="1554480" y="2057400"/>
            <a:ext cx="4206240" cy="548640"/>
          </a:xfrm>
          <a:prstGeom prst="rect">
            <a:avLst/>
          </a:prstGeom>
          <a:noFill/>
        </p:spPr>
        <p:txBody>
          <a:bodyPr wrap="square" lIns="0" tIns="0" rIns="0" bIns="0" rtlCol="0" anchor="ctr"/>
          <a:lstStyle/>
          <a:p>
            <a:pPr marL="0" indent="0">
              <a:buNone/>
            </a:pPr>
            <a:r>
              <a:rPr lang="en-US" sz="2000" b="1" dirty="0">
                <a:solidFill>
                  <a:schemeClr val="accent1"/>
                </a:solidFill>
              </a:rPr>
              <a:t>Is our catalogue working?</a:t>
            </a:r>
            <a:endParaRPr lang="en-US" sz="2000" dirty="0"/>
          </a:p>
        </p:txBody>
      </p:sp>
      <p:sp>
        <p:nvSpPr>
          <p:cNvPr id="8" name="Text 6"/>
          <p:cNvSpPr txBox="1"/>
          <p:nvPr/>
        </p:nvSpPr>
        <p:spPr>
          <a:xfrm>
            <a:off x="1554480" y="2697480"/>
            <a:ext cx="4206240" cy="1005840"/>
          </a:xfrm>
          <a:prstGeom prst="rect">
            <a:avLst/>
          </a:prstGeom>
          <a:noFill/>
        </p:spPr>
        <p:txBody>
          <a:bodyPr wrap="square" lIns="0" tIns="0" rIns="0" bIns="0" rtlCol="0" anchor="t"/>
          <a:lstStyle/>
          <a:p>
            <a:pPr marL="0" indent="0">
              <a:buNone/>
            </a:pPr>
            <a:r>
              <a:rPr lang="en-US" sz="1600" dirty="0">
                <a:solidFill>
                  <a:schemeClr val="tx1"/>
                </a:solidFill>
              </a:rPr>
              <a:t>761 titles, but only 500 were watched, and three genres take 61% of all sessions.</a:t>
            </a:r>
            <a:endParaRPr lang="en-US" sz="1600" dirty="0"/>
          </a:p>
        </p:txBody>
      </p:sp>
      <p:sp>
        <p:nvSpPr>
          <p:cNvPr id="9" name="problem-card"/>
          <p:cNvSpPr/>
          <p:nvPr/>
        </p:nvSpPr>
        <p:spPr>
          <a:xfrm>
            <a:off x="6199632" y="1783080"/>
            <a:ext cx="5440680" cy="2057400"/>
          </a:xfrm>
          <a:prstGeom prst="roundRect">
            <a:avLst>
              <a:gd name="adj" fmla="val 5333"/>
            </a:avLst>
          </a:prstGeom>
          <a:solidFill>
            <a:schemeClr val="bg2"/>
          </a:solidFill>
        </p:spPr>
      </p:sp>
      <p:sp>
        <p:nvSpPr>
          <p:cNvPr id="10" name="badge"/>
          <p:cNvSpPr/>
          <p:nvPr/>
        </p:nvSpPr>
        <p:spPr>
          <a:xfrm>
            <a:off x="6473952" y="2057400"/>
            <a:ext cx="502920" cy="502920"/>
          </a:xfrm>
          <a:prstGeom prst="ellipse">
            <a:avLst/>
          </a:prstGeom>
          <a:solidFill>
            <a:schemeClr val="accent1"/>
          </a:solidFill>
        </p:spPr>
      </p:sp>
      <p:sp>
        <p:nvSpPr>
          <p:cNvPr id="11" name="Text 9"/>
          <p:cNvSpPr txBox="1"/>
          <p:nvPr/>
        </p:nvSpPr>
        <p:spPr>
          <a:xfrm>
            <a:off x="6473952" y="2057400"/>
            <a:ext cx="502920" cy="502920"/>
          </a:xfrm>
          <a:prstGeom prst="rect">
            <a:avLst/>
          </a:prstGeom>
          <a:noFill/>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7205472" y="2057400"/>
            <a:ext cx="4206240" cy="548640"/>
          </a:xfrm>
          <a:prstGeom prst="rect">
            <a:avLst/>
          </a:prstGeom>
          <a:noFill/>
        </p:spPr>
        <p:txBody>
          <a:bodyPr wrap="square" lIns="0" tIns="0" rIns="0" bIns="0" rtlCol="0" anchor="ctr"/>
          <a:lstStyle/>
          <a:p>
            <a:pPr marL="0" indent="0">
              <a:buNone/>
            </a:pPr>
            <a:r>
              <a:rPr lang="en-US" sz="2000" b="1" dirty="0">
                <a:solidFill>
                  <a:schemeClr val="accent1"/>
                </a:solidFill>
              </a:rPr>
              <a:t>Are viewers finishing what they start?</a:t>
            </a:r>
            <a:endParaRPr lang="en-US" sz="2000" dirty="0"/>
          </a:p>
        </p:txBody>
      </p:sp>
      <p:sp>
        <p:nvSpPr>
          <p:cNvPr id="13" name="Text 11"/>
          <p:cNvSpPr txBox="1"/>
          <p:nvPr/>
        </p:nvSpPr>
        <p:spPr>
          <a:xfrm>
            <a:off x="7205472" y="2697480"/>
            <a:ext cx="4206240" cy="1005840"/>
          </a:xfrm>
          <a:prstGeom prst="rect">
            <a:avLst/>
          </a:prstGeom>
          <a:noFill/>
        </p:spPr>
        <p:txBody>
          <a:bodyPr wrap="square" lIns="0" tIns="0" rIns="0" bIns="0" rtlCol="0" anchor="t"/>
          <a:lstStyle/>
          <a:p>
            <a:pPr marL="0" indent="0">
              <a:buNone/>
            </a:pPr>
            <a:r>
              <a:rPr lang="en-US" sz="1600" dirty="0">
                <a:solidFill>
                  <a:schemeClr val="tx1"/>
                </a:solidFill>
              </a:rPr>
              <a:t>Completion is 39.93%, even though the average title is ~88% watched.</a:t>
            </a:r>
            <a:endParaRPr lang="en-US" sz="1600" dirty="0"/>
          </a:p>
        </p:txBody>
      </p:sp>
      <p:sp>
        <p:nvSpPr>
          <p:cNvPr id="14" name="problem-card"/>
          <p:cNvSpPr/>
          <p:nvPr/>
        </p:nvSpPr>
        <p:spPr>
          <a:xfrm>
            <a:off x="548640" y="4069080"/>
            <a:ext cx="5440680" cy="2057400"/>
          </a:xfrm>
          <a:prstGeom prst="roundRect">
            <a:avLst>
              <a:gd name="adj" fmla="val 5333"/>
            </a:avLst>
          </a:prstGeom>
          <a:solidFill>
            <a:schemeClr val="bg2"/>
          </a:solidFill>
        </p:spPr>
      </p:sp>
      <p:sp>
        <p:nvSpPr>
          <p:cNvPr id="15" name="badge"/>
          <p:cNvSpPr/>
          <p:nvPr/>
        </p:nvSpPr>
        <p:spPr>
          <a:xfrm>
            <a:off x="822960" y="4343400"/>
            <a:ext cx="502920" cy="502920"/>
          </a:xfrm>
          <a:prstGeom prst="ellipse">
            <a:avLst/>
          </a:prstGeom>
          <a:solidFill>
            <a:schemeClr val="accent1"/>
          </a:solidFill>
        </p:spPr>
      </p:sp>
      <p:sp>
        <p:nvSpPr>
          <p:cNvPr id="16" name="Text 14"/>
          <p:cNvSpPr txBox="1"/>
          <p:nvPr/>
        </p:nvSpPr>
        <p:spPr>
          <a:xfrm>
            <a:off x="822960" y="4343400"/>
            <a:ext cx="502920" cy="502920"/>
          </a:xfrm>
          <a:prstGeom prst="rect">
            <a:avLst/>
          </a:prstGeom>
          <a:noFill/>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5"/>
          <p:cNvSpPr txBox="1"/>
          <p:nvPr/>
        </p:nvSpPr>
        <p:spPr>
          <a:xfrm>
            <a:off x="1554480" y="4343400"/>
            <a:ext cx="4206240" cy="548640"/>
          </a:xfrm>
          <a:prstGeom prst="rect">
            <a:avLst/>
          </a:prstGeom>
          <a:noFill/>
        </p:spPr>
        <p:txBody>
          <a:bodyPr wrap="square" lIns="0" tIns="0" rIns="0" bIns="0" rtlCol="0" anchor="ctr"/>
          <a:lstStyle/>
          <a:p>
            <a:pPr marL="0" indent="0">
              <a:buNone/>
            </a:pPr>
            <a:r>
              <a:rPr lang="en-US" sz="2000" b="1" dirty="0">
                <a:solidFill>
                  <a:schemeClr val="accent1"/>
                </a:solidFill>
              </a:rPr>
              <a:t>Who is our audience, and is every tier served?</a:t>
            </a:r>
            <a:endParaRPr lang="en-US" sz="2000" dirty="0"/>
          </a:p>
        </p:txBody>
      </p:sp>
      <p:sp>
        <p:nvSpPr>
          <p:cNvPr id="18" name="Text 16"/>
          <p:cNvSpPr txBox="1"/>
          <p:nvPr/>
        </p:nvSpPr>
        <p:spPr>
          <a:xfrm>
            <a:off x="1554480" y="4983480"/>
            <a:ext cx="4206240" cy="1005840"/>
          </a:xfrm>
          <a:prstGeom prst="rect">
            <a:avLst/>
          </a:prstGeom>
          <a:noFill/>
        </p:spPr>
        <p:txBody>
          <a:bodyPr wrap="square" lIns="0" tIns="0" rIns="0" bIns="0" rtlCol="0" anchor="t"/>
          <a:lstStyle/>
          <a:p>
            <a:pPr marL="0" indent="0">
              <a:buNone/>
            </a:pPr>
            <a:r>
              <a:rPr lang="en-US" sz="1600" dirty="0">
                <a:solidFill>
                  <a:schemeClr val="tx1"/>
                </a:solidFill>
              </a:rPr>
              <a:t>62% of users are aged 25–44, and Premium subscribers log the fewest sessions.</a:t>
            </a:r>
            <a:endParaRPr lang="en-US" sz="1600" dirty="0"/>
          </a:p>
        </p:txBody>
      </p:sp>
      <p:sp>
        <p:nvSpPr>
          <p:cNvPr id="19" name="problem-card"/>
          <p:cNvSpPr/>
          <p:nvPr/>
        </p:nvSpPr>
        <p:spPr>
          <a:xfrm>
            <a:off x="6199632" y="4069080"/>
            <a:ext cx="5440680" cy="2057400"/>
          </a:xfrm>
          <a:prstGeom prst="roundRect">
            <a:avLst>
              <a:gd name="adj" fmla="val 5333"/>
            </a:avLst>
          </a:prstGeom>
          <a:solidFill>
            <a:schemeClr val="bg2"/>
          </a:solidFill>
        </p:spPr>
      </p:sp>
      <p:sp>
        <p:nvSpPr>
          <p:cNvPr id="20" name="badge"/>
          <p:cNvSpPr/>
          <p:nvPr/>
        </p:nvSpPr>
        <p:spPr>
          <a:xfrm>
            <a:off x="6473952" y="4343400"/>
            <a:ext cx="502920" cy="502920"/>
          </a:xfrm>
          <a:prstGeom prst="ellipse">
            <a:avLst/>
          </a:prstGeom>
          <a:solidFill>
            <a:schemeClr val="accent1"/>
          </a:solidFill>
        </p:spPr>
      </p:sp>
      <p:sp>
        <p:nvSpPr>
          <p:cNvPr id="21" name="Text 19"/>
          <p:cNvSpPr txBox="1"/>
          <p:nvPr/>
        </p:nvSpPr>
        <p:spPr>
          <a:xfrm>
            <a:off x="6473952" y="4343400"/>
            <a:ext cx="502920" cy="502920"/>
          </a:xfrm>
          <a:prstGeom prst="rect">
            <a:avLst/>
          </a:prstGeom>
          <a:noFill/>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2" name="Text 20"/>
          <p:cNvSpPr txBox="1"/>
          <p:nvPr/>
        </p:nvSpPr>
        <p:spPr>
          <a:xfrm>
            <a:off x="7205472" y="4343400"/>
            <a:ext cx="4206240" cy="548640"/>
          </a:xfrm>
          <a:prstGeom prst="rect">
            <a:avLst/>
          </a:prstGeom>
          <a:noFill/>
        </p:spPr>
        <p:txBody>
          <a:bodyPr wrap="square" lIns="0" tIns="0" rIns="0" bIns="0" rtlCol="0" anchor="ctr"/>
          <a:lstStyle/>
          <a:p>
            <a:pPr marL="0" indent="0">
              <a:buNone/>
            </a:pPr>
            <a:r>
              <a:rPr lang="en-US" sz="2000" b="1" dirty="0">
                <a:solidFill>
                  <a:schemeClr val="accent1"/>
                </a:solidFill>
              </a:rPr>
              <a:t>Why do subscribers cancel?</a:t>
            </a:r>
            <a:endParaRPr lang="en-US" sz="2000" dirty="0"/>
          </a:p>
        </p:txBody>
      </p:sp>
      <p:sp>
        <p:nvSpPr>
          <p:cNvPr id="23" name="Text 21"/>
          <p:cNvSpPr txBox="1"/>
          <p:nvPr/>
        </p:nvSpPr>
        <p:spPr>
          <a:xfrm>
            <a:off x="7205472" y="4983480"/>
            <a:ext cx="4206240" cy="1005840"/>
          </a:xfrm>
          <a:prstGeom prst="rect">
            <a:avLst/>
          </a:prstGeom>
          <a:noFill/>
        </p:spPr>
        <p:txBody>
          <a:bodyPr wrap="square" lIns="0" tIns="0" rIns="0" bIns="0" rtlCol="0" anchor="t"/>
          <a:lstStyle/>
          <a:p>
            <a:pPr marL="0" indent="0">
              <a:buNone/>
            </a:pPr>
            <a:r>
              <a:rPr lang="en-US" sz="1600" dirty="0">
                <a:solidFill>
                  <a:schemeClr val="tx1"/>
                </a:solidFill>
              </a:rPr>
              <a:t>144 users (14.4%) cancelled, yet their engagement is close to that of renewers.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1"/>
                </a:solidFill>
              </a:defRPr>
            </a:lvl1pPr>
          </a:lstStyle>
          <a:p>
            <a:pPr algn="l"/>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65760"/>
            <a:ext cx="11091672" cy="777240"/>
          </a:xfrm>
          <a:prstGeom prst="rect">
            <a:avLst/>
          </a:prstGeom>
          <a:noFill/>
        </p:spPr>
        <p:txBody>
          <a:bodyPr wrap="square" lIns="0" tIns="0" rIns="0" bIns="0" rtlCol="0" anchor="ctr"/>
          <a:lstStyle/>
          <a:p>
            <a:pPr marL="0" indent="0" algn="l">
              <a:buNone/>
            </a:pPr>
            <a:r>
              <a:rPr lang="en-US" sz="3400" b="1" dirty="0">
                <a:solidFill>
                  <a:schemeClr val="accent1"/>
                </a:solidFill>
              </a:rPr>
              <a:t>Demand is concentrated in three genres</a:t>
            </a:r>
            <a:endParaRPr lang="en-US" sz="3400" dirty="0"/>
          </a:p>
        </p:txBody>
      </p:sp>
      <p:sp>
        <p:nvSpPr>
          <p:cNvPr id="3" name="takeaway"/>
          <p:cNvSpPr txBox="1"/>
          <p:nvPr/>
        </p:nvSpPr>
        <p:spPr>
          <a:xfrm>
            <a:off x="548640" y="1143000"/>
            <a:ext cx="11091672" cy="457200"/>
          </a:xfrm>
          <a:prstGeom prst="rect">
            <a:avLst/>
          </a:prstGeom>
          <a:noFill/>
        </p:spPr>
        <p:txBody>
          <a:bodyPr wrap="square" lIns="0" tIns="0" rIns="0" bIns="0" rtlCol="0" anchor="t"/>
          <a:lstStyle/>
          <a:p>
            <a:pPr marL="0" indent="0">
              <a:buNone/>
            </a:pPr>
            <a:r>
              <a:rPr lang="en-US" sz="1800" dirty="0">
                <a:solidFill>
                  <a:schemeClr val="tx1"/>
                </a:solidFill>
              </a:rPr>
              <a:t>Drama, Comedy and Documentary deliver 61% of sessions; Horror, Musical and Biography are under 1% combined</a:t>
            </a:r>
            <a:endParaRPr lang="en-US" sz="1800" dirty="0"/>
          </a:p>
        </p:txBody>
      </p:sp>
      <p:graphicFrame>
        <p:nvGraphicFramePr>
          <p:cNvPr id="4" name="Chart 0"/>
          <p:cNvGraphicFramePr/>
          <p:nvPr/>
        </p:nvGraphicFramePr>
        <p:xfrm>
          <a:off x="548640" y="1783080"/>
          <a:ext cx="6858000" cy="4434840"/>
        </p:xfrm>
        <a:graphic>
          <a:graphicData uri="http://schemas.openxmlformats.org/drawingml/2006/chart">
            <c:chart xmlns:c="http://schemas.openxmlformats.org/drawingml/2006/chart" xmlns:r="http://schemas.openxmlformats.org/officeDocument/2006/relationships" r:id="rId1"/>
          </a:graphicData>
        </a:graphic>
      </p:graphicFrame>
      <p:sp>
        <p:nvSpPr>
          <p:cNvPr id="5" name="stat-card"/>
          <p:cNvSpPr/>
          <p:nvPr/>
        </p:nvSpPr>
        <p:spPr>
          <a:xfrm>
            <a:off x="7772400" y="1783080"/>
            <a:ext cx="3867912" cy="1325880"/>
          </a:xfrm>
          <a:prstGeom prst="roundRect">
            <a:avLst>
              <a:gd name="adj" fmla="val 8276"/>
            </a:avLst>
          </a:prstGeom>
          <a:solidFill>
            <a:schemeClr val="accent1"/>
          </a:solidFill>
        </p:spPr>
      </p:sp>
      <p:sp>
        <p:nvSpPr>
          <p:cNvPr id="6" name="Text 3"/>
          <p:cNvSpPr txBox="1"/>
          <p:nvPr/>
        </p:nvSpPr>
        <p:spPr>
          <a:xfrm>
            <a:off x="8001000" y="1947672"/>
            <a:ext cx="3410712" cy="596646"/>
          </a:xfrm>
          <a:prstGeom prst="rect">
            <a:avLst/>
          </a:prstGeom>
          <a:noFill/>
        </p:spPr>
        <p:txBody>
          <a:bodyPr wrap="square" lIns="0" tIns="0" rIns="0" bIns="0" rtlCol="0" anchor="ctr"/>
          <a:lstStyle/>
          <a:p>
            <a:pPr marL="0" indent="0">
              <a:buNone/>
            </a:pPr>
            <a:r>
              <a:rPr lang="en-US" sz="3200" b="1" dirty="0">
                <a:solidFill>
                  <a:schemeClr val="bg1"/>
                </a:solidFill>
              </a:rPr>
              <a:t>61%</a:t>
            </a:r>
            <a:endParaRPr lang="en-US" sz="3200" dirty="0"/>
          </a:p>
        </p:txBody>
      </p:sp>
      <p:sp>
        <p:nvSpPr>
          <p:cNvPr id="7" name="Text 4"/>
          <p:cNvSpPr txBox="1"/>
          <p:nvPr/>
        </p:nvSpPr>
        <p:spPr>
          <a:xfrm>
            <a:off x="8001000" y="2562606"/>
            <a:ext cx="3410712" cy="454914"/>
          </a:xfrm>
          <a:prstGeom prst="rect">
            <a:avLst/>
          </a:prstGeom>
          <a:noFill/>
        </p:spPr>
        <p:txBody>
          <a:bodyPr wrap="square" lIns="0" tIns="0" rIns="0" bIns="0" rtlCol="0" anchor="t"/>
          <a:lstStyle/>
          <a:p>
            <a:pPr marL="0" indent="0">
              <a:buNone/>
            </a:pPr>
            <a:r>
              <a:rPr lang="en-US" sz="1400" dirty="0">
                <a:solidFill>
                  <a:schemeClr val="bg1"/>
                </a:solidFill>
              </a:rPr>
              <a:t>of sessions come from Drama, Comedy and Documentary</a:t>
            </a:r>
            <a:endParaRPr lang="en-US" sz="1400" dirty="0"/>
          </a:p>
        </p:txBody>
      </p:sp>
      <p:sp>
        <p:nvSpPr>
          <p:cNvPr id="8" name="stat-card"/>
          <p:cNvSpPr/>
          <p:nvPr/>
        </p:nvSpPr>
        <p:spPr>
          <a:xfrm>
            <a:off x="7772400" y="3337560"/>
            <a:ext cx="3867912" cy="1325880"/>
          </a:xfrm>
          <a:prstGeom prst="roundRect">
            <a:avLst>
              <a:gd name="adj" fmla="val 8276"/>
            </a:avLst>
          </a:prstGeom>
          <a:solidFill>
            <a:schemeClr val="bg2"/>
          </a:solidFill>
        </p:spPr>
      </p:sp>
      <p:sp>
        <p:nvSpPr>
          <p:cNvPr id="9" name="Text 6"/>
          <p:cNvSpPr txBox="1"/>
          <p:nvPr/>
        </p:nvSpPr>
        <p:spPr>
          <a:xfrm>
            <a:off x="8001000" y="3502152"/>
            <a:ext cx="3410712" cy="596646"/>
          </a:xfrm>
          <a:prstGeom prst="rect">
            <a:avLst/>
          </a:prstGeom>
          <a:noFill/>
        </p:spPr>
        <p:txBody>
          <a:bodyPr wrap="square" lIns="0" tIns="0" rIns="0" bIns="0" rtlCol="0" anchor="ctr"/>
          <a:lstStyle/>
          <a:p>
            <a:pPr marL="0" indent="0">
              <a:buNone/>
            </a:pPr>
            <a:r>
              <a:rPr lang="en-US" sz="3200" b="1" dirty="0">
                <a:solidFill>
                  <a:schemeClr val="accent1"/>
                </a:solidFill>
              </a:rPr>
              <a:t>44%</a:t>
            </a:r>
            <a:endParaRPr lang="en-US" sz="3200" dirty="0"/>
          </a:p>
        </p:txBody>
      </p:sp>
      <p:sp>
        <p:nvSpPr>
          <p:cNvPr id="10" name="Text 7"/>
          <p:cNvSpPr txBox="1"/>
          <p:nvPr/>
        </p:nvSpPr>
        <p:spPr>
          <a:xfrm>
            <a:off x="8001000" y="4117086"/>
            <a:ext cx="3410712" cy="454914"/>
          </a:xfrm>
          <a:prstGeom prst="rect">
            <a:avLst/>
          </a:prstGeom>
          <a:noFill/>
        </p:spPr>
        <p:txBody>
          <a:bodyPr wrap="square" lIns="0" tIns="0" rIns="0" bIns="0" rtlCol="0" anchor="t"/>
          <a:lstStyle/>
          <a:p>
            <a:pPr marL="0" indent="0">
              <a:buNone/>
            </a:pPr>
            <a:r>
              <a:rPr lang="en-US" sz="1400" dirty="0">
                <a:solidFill>
                  <a:schemeClr val="tx1"/>
                </a:solidFill>
              </a:rPr>
              <a:t>of watch hours come from Drama and Comedy alone</a:t>
            </a:r>
            <a:endParaRPr lang="en-US" sz="1400" dirty="0"/>
          </a:p>
        </p:txBody>
      </p:sp>
      <p:sp>
        <p:nvSpPr>
          <p:cNvPr id="11" name="stat-card"/>
          <p:cNvSpPr/>
          <p:nvPr/>
        </p:nvSpPr>
        <p:spPr>
          <a:xfrm>
            <a:off x="7772400" y="4892040"/>
            <a:ext cx="3867912" cy="1325880"/>
          </a:xfrm>
          <a:prstGeom prst="roundRect">
            <a:avLst>
              <a:gd name="adj" fmla="val 8276"/>
            </a:avLst>
          </a:prstGeom>
          <a:solidFill>
            <a:schemeClr val="bg2"/>
          </a:solidFill>
        </p:spPr>
      </p:sp>
      <p:sp>
        <p:nvSpPr>
          <p:cNvPr id="12" name="Text 9"/>
          <p:cNvSpPr txBox="1"/>
          <p:nvPr/>
        </p:nvSpPr>
        <p:spPr>
          <a:xfrm>
            <a:off x="8001000" y="5056632"/>
            <a:ext cx="3410712" cy="596646"/>
          </a:xfrm>
          <a:prstGeom prst="rect">
            <a:avLst/>
          </a:prstGeom>
          <a:noFill/>
        </p:spPr>
        <p:txBody>
          <a:bodyPr wrap="square" lIns="0" tIns="0" rIns="0" bIns="0" rtlCol="0" anchor="ctr"/>
          <a:lstStyle/>
          <a:p>
            <a:pPr marL="0" indent="0">
              <a:buNone/>
            </a:pPr>
            <a:r>
              <a:rPr lang="en-US" sz="3200" b="1" dirty="0">
                <a:solidFill>
                  <a:schemeClr val="accent1"/>
                </a:solidFill>
              </a:rPr>
              <a:t>&lt;1%</a:t>
            </a:r>
            <a:endParaRPr lang="en-US" sz="3200" dirty="0"/>
          </a:p>
        </p:txBody>
      </p:sp>
      <p:sp>
        <p:nvSpPr>
          <p:cNvPr id="13" name="Text 10"/>
          <p:cNvSpPr txBox="1"/>
          <p:nvPr/>
        </p:nvSpPr>
        <p:spPr>
          <a:xfrm>
            <a:off x="8001000" y="5671566"/>
            <a:ext cx="3410712" cy="454914"/>
          </a:xfrm>
          <a:prstGeom prst="rect">
            <a:avLst/>
          </a:prstGeom>
          <a:noFill/>
        </p:spPr>
        <p:txBody>
          <a:bodyPr wrap="square" lIns="0" tIns="0" rIns="0" bIns="0" rtlCol="0" anchor="t"/>
          <a:lstStyle/>
          <a:p>
            <a:pPr marL="0" indent="0">
              <a:buNone/>
            </a:pPr>
            <a:r>
              <a:rPr lang="en-US" sz="1400" dirty="0">
                <a:solidFill>
                  <a:schemeClr val="tx1"/>
                </a:solidFill>
              </a:rPr>
              <a:t>of sessions come from Horror, Musical and Biography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1"/>
                </a:solidFill>
              </a:defRPr>
            </a:lvl1pPr>
          </a:lstStyle>
          <a:p>
            <a:pPr algn="l"/>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65760"/>
            <a:ext cx="11091672" cy="777240"/>
          </a:xfrm>
          <a:prstGeom prst="rect">
            <a:avLst/>
          </a:prstGeom>
          <a:noFill/>
        </p:spPr>
        <p:txBody>
          <a:bodyPr wrap="square" lIns="0" tIns="0" rIns="0" bIns="0" rtlCol="0" anchor="ctr"/>
          <a:lstStyle/>
          <a:p>
            <a:pPr marL="0" indent="0" algn="l">
              <a:buNone/>
            </a:pPr>
            <a:r>
              <a:rPr lang="en-US" sz="3400" b="1" dirty="0">
                <a:solidFill>
                  <a:schemeClr val="accent1"/>
                </a:solidFill>
              </a:rPr>
              <a:t>A third of the catalogue goes unwatched</a:t>
            </a:r>
            <a:endParaRPr lang="en-US" sz="3400" dirty="0"/>
          </a:p>
        </p:txBody>
      </p:sp>
      <p:sp>
        <p:nvSpPr>
          <p:cNvPr id="3" name="takeaway"/>
          <p:cNvSpPr txBox="1"/>
          <p:nvPr/>
        </p:nvSpPr>
        <p:spPr>
          <a:xfrm>
            <a:off x="548640" y="1143000"/>
            <a:ext cx="11091672" cy="457200"/>
          </a:xfrm>
          <a:prstGeom prst="rect">
            <a:avLst/>
          </a:prstGeom>
          <a:noFill/>
        </p:spPr>
        <p:txBody>
          <a:bodyPr wrap="square" lIns="0" tIns="0" rIns="0" bIns="0" rtlCol="0" anchor="t"/>
          <a:lstStyle/>
          <a:p>
            <a:pPr marL="0" indent="0">
              <a:buNone/>
            </a:pPr>
            <a:r>
              <a:rPr lang="en-US" sz="1800" dirty="0">
                <a:solidFill>
                  <a:schemeClr val="tx1"/>
                </a:solidFill>
              </a:rPr>
              <a:t>261 of 761 titles had no views, and demand among watched titles is spread remarkably evenly</a:t>
            </a:r>
            <a:endParaRPr lang="en-US" sz="1800" dirty="0"/>
          </a:p>
        </p:txBody>
      </p:sp>
      <p:sp>
        <p:nvSpPr>
          <p:cNvPr id="4" name="stat-card"/>
          <p:cNvSpPr/>
          <p:nvPr/>
        </p:nvSpPr>
        <p:spPr>
          <a:xfrm>
            <a:off x="548640" y="1783080"/>
            <a:ext cx="3657600" cy="1325880"/>
          </a:xfrm>
          <a:prstGeom prst="roundRect">
            <a:avLst>
              <a:gd name="adj" fmla="val 8276"/>
            </a:avLst>
          </a:prstGeom>
          <a:solidFill>
            <a:schemeClr val="bg2"/>
          </a:solidFill>
        </p:spPr>
      </p:sp>
      <p:sp>
        <p:nvSpPr>
          <p:cNvPr id="5" name="Text 3"/>
          <p:cNvSpPr txBox="1"/>
          <p:nvPr/>
        </p:nvSpPr>
        <p:spPr>
          <a:xfrm>
            <a:off x="777240" y="1947672"/>
            <a:ext cx="3200400" cy="596646"/>
          </a:xfrm>
          <a:prstGeom prst="rect">
            <a:avLst/>
          </a:prstGeom>
          <a:noFill/>
        </p:spPr>
        <p:txBody>
          <a:bodyPr wrap="square" lIns="0" tIns="0" rIns="0" bIns="0" rtlCol="0" anchor="ctr"/>
          <a:lstStyle/>
          <a:p>
            <a:pPr marL="0" indent="0">
              <a:buNone/>
            </a:pPr>
            <a:r>
              <a:rPr lang="en-US" sz="3200" b="1" dirty="0">
                <a:solidFill>
                  <a:schemeClr val="accent1"/>
                </a:solidFill>
              </a:rPr>
              <a:t>761</a:t>
            </a:r>
            <a:endParaRPr lang="en-US" sz="3200" dirty="0"/>
          </a:p>
        </p:txBody>
      </p:sp>
      <p:sp>
        <p:nvSpPr>
          <p:cNvPr id="6" name="Text 4"/>
          <p:cNvSpPr txBox="1"/>
          <p:nvPr/>
        </p:nvSpPr>
        <p:spPr>
          <a:xfrm>
            <a:off x="777240" y="2562606"/>
            <a:ext cx="3200400" cy="454914"/>
          </a:xfrm>
          <a:prstGeom prst="rect">
            <a:avLst/>
          </a:prstGeom>
          <a:noFill/>
        </p:spPr>
        <p:txBody>
          <a:bodyPr wrap="square" lIns="0" tIns="0" rIns="0" bIns="0" rtlCol="0" anchor="t"/>
          <a:lstStyle/>
          <a:p>
            <a:pPr marL="0" indent="0">
              <a:buNone/>
            </a:pPr>
            <a:r>
              <a:rPr lang="en-US" sz="1400" dirty="0">
                <a:solidFill>
                  <a:schemeClr val="tx1"/>
                </a:solidFill>
              </a:rPr>
              <a:t>titles in the catalogue</a:t>
            </a:r>
            <a:endParaRPr lang="en-US" sz="1400" dirty="0"/>
          </a:p>
        </p:txBody>
      </p:sp>
      <p:sp>
        <p:nvSpPr>
          <p:cNvPr id="7" name="stat-card"/>
          <p:cNvSpPr/>
          <p:nvPr/>
        </p:nvSpPr>
        <p:spPr>
          <a:xfrm>
            <a:off x="548640" y="3337560"/>
            <a:ext cx="3657600" cy="1325880"/>
          </a:xfrm>
          <a:prstGeom prst="roundRect">
            <a:avLst>
              <a:gd name="adj" fmla="val 8276"/>
            </a:avLst>
          </a:prstGeom>
          <a:solidFill>
            <a:schemeClr val="bg2"/>
          </a:solidFill>
        </p:spPr>
      </p:sp>
      <p:sp>
        <p:nvSpPr>
          <p:cNvPr id="8" name="Text 6"/>
          <p:cNvSpPr txBox="1"/>
          <p:nvPr/>
        </p:nvSpPr>
        <p:spPr>
          <a:xfrm>
            <a:off x="777240" y="3502152"/>
            <a:ext cx="3200400" cy="596646"/>
          </a:xfrm>
          <a:prstGeom prst="rect">
            <a:avLst/>
          </a:prstGeom>
          <a:noFill/>
        </p:spPr>
        <p:txBody>
          <a:bodyPr wrap="square" lIns="0" tIns="0" rIns="0" bIns="0" rtlCol="0" anchor="ctr"/>
          <a:lstStyle/>
          <a:p>
            <a:pPr marL="0" indent="0">
              <a:buNone/>
            </a:pPr>
            <a:r>
              <a:rPr lang="en-US" sz="3200" b="1" dirty="0">
                <a:solidFill>
                  <a:schemeClr val="accent1"/>
                </a:solidFill>
              </a:rPr>
              <a:t>500</a:t>
            </a:r>
            <a:endParaRPr lang="en-US" sz="3200" dirty="0"/>
          </a:p>
        </p:txBody>
      </p:sp>
      <p:sp>
        <p:nvSpPr>
          <p:cNvPr id="9" name="Text 7"/>
          <p:cNvSpPr txBox="1"/>
          <p:nvPr/>
        </p:nvSpPr>
        <p:spPr>
          <a:xfrm>
            <a:off x="777240" y="4117086"/>
            <a:ext cx="3200400" cy="454914"/>
          </a:xfrm>
          <a:prstGeom prst="rect">
            <a:avLst/>
          </a:prstGeom>
          <a:noFill/>
        </p:spPr>
        <p:txBody>
          <a:bodyPr wrap="square" lIns="0" tIns="0" rIns="0" bIns="0" rtlCol="0" anchor="t"/>
          <a:lstStyle/>
          <a:p>
            <a:pPr marL="0" indent="0">
              <a:buNone/>
            </a:pPr>
            <a:r>
              <a:rPr lang="en-US" sz="1400" dirty="0">
                <a:solidFill>
                  <a:schemeClr val="tx1"/>
                </a:solidFill>
              </a:rPr>
              <a:t>titles watched at least once</a:t>
            </a:r>
            <a:endParaRPr lang="en-US" sz="1400" dirty="0"/>
          </a:p>
        </p:txBody>
      </p:sp>
      <p:sp>
        <p:nvSpPr>
          <p:cNvPr id="10" name="stat-card"/>
          <p:cNvSpPr/>
          <p:nvPr/>
        </p:nvSpPr>
        <p:spPr>
          <a:xfrm>
            <a:off x="548640" y="4892040"/>
            <a:ext cx="3657600" cy="1325880"/>
          </a:xfrm>
          <a:prstGeom prst="roundRect">
            <a:avLst>
              <a:gd name="adj" fmla="val 8276"/>
            </a:avLst>
          </a:prstGeom>
          <a:solidFill>
            <a:schemeClr val="accent1"/>
          </a:solidFill>
        </p:spPr>
      </p:sp>
      <p:sp>
        <p:nvSpPr>
          <p:cNvPr id="11" name="Text 9"/>
          <p:cNvSpPr txBox="1"/>
          <p:nvPr/>
        </p:nvSpPr>
        <p:spPr>
          <a:xfrm>
            <a:off x="777240" y="5056632"/>
            <a:ext cx="3200400" cy="596646"/>
          </a:xfrm>
          <a:prstGeom prst="rect">
            <a:avLst/>
          </a:prstGeom>
          <a:noFill/>
        </p:spPr>
        <p:txBody>
          <a:bodyPr wrap="square" lIns="0" tIns="0" rIns="0" bIns="0" rtlCol="0" anchor="ctr"/>
          <a:lstStyle/>
          <a:p>
            <a:pPr marL="0" indent="0">
              <a:buNone/>
            </a:pPr>
            <a:r>
              <a:rPr lang="en-US" sz="3200" b="1" dirty="0">
                <a:solidFill>
                  <a:schemeClr val="bg1"/>
                </a:solidFill>
              </a:rPr>
              <a:t>261</a:t>
            </a:r>
            <a:endParaRPr lang="en-US" sz="3200" dirty="0"/>
          </a:p>
        </p:txBody>
      </p:sp>
      <p:sp>
        <p:nvSpPr>
          <p:cNvPr id="12" name="Text 10"/>
          <p:cNvSpPr txBox="1"/>
          <p:nvPr/>
        </p:nvSpPr>
        <p:spPr>
          <a:xfrm>
            <a:off x="777240" y="5671566"/>
            <a:ext cx="3200400" cy="454914"/>
          </a:xfrm>
          <a:prstGeom prst="rect">
            <a:avLst/>
          </a:prstGeom>
          <a:noFill/>
        </p:spPr>
        <p:txBody>
          <a:bodyPr wrap="square" lIns="0" tIns="0" rIns="0" bIns="0" rtlCol="0" anchor="t"/>
          <a:lstStyle/>
          <a:p>
            <a:pPr marL="0" indent="0">
              <a:buNone/>
            </a:pPr>
            <a:r>
              <a:rPr lang="en-US" sz="1400" dirty="0">
                <a:solidFill>
                  <a:schemeClr val="bg1"/>
                </a:solidFill>
              </a:rPr>
              <a:t>titles never watched (34.3%)</a:t>
            </a:r>
            <a:endParaRPr lang="en-US" sz="1400" dirty="0"/>
          </a:p>
        </p:txBody>
      </p:sp>
      <p:graphicFrame>
        <p:nvGraphicFramePr>
          <p:cNvPr id="13" name="Chart 0"/>
          <p:cNvGraphicFramePr/>
          <p:nvPr/>
        </p:nvGraphicFramePr>
        <p:xfrm>
          <a:off x="4572000" y="1783080"/>
          <a:ext cx="7068312" cy="3840480"/>
        </p:xfrm>
        <a:graphic>
          <a:graphicData uri="http://schemas.openxmlformats.org/drawingml/2006/chart">
            <c:chart xmlns:c="http://schemas.openxmlformats.org/drawingml/2006/chart" xmlns:r="http://schemas.openxmlformats.org/officeDocument/2006/relationships" r:id="rId1"/>
          </a:graphicData>
        </a:graphic>
      </p:graphicFrame>
      <p:sp>
        <p:nvSpPr>
          <p:cNvPr id="14" name="note-card"/>
          <p:cNvSpPr/>
          <p:nvPr/>
        </p:nvSpPr>
        <p:spPr>
          <a:xfrm>
            <a:off x="4572000" y="5760720"/>
            <a:ext cx="7068312" cy="457200"/>
          </a:xfrm>
          <a:prstGeom prst="roundRect">
            <a:avLst>
              <a:gd name="adj" fmla="val 24000"/>
            </a:avLst>
          </a:prstGeom>
          <a:solidFill>
            <a:schemeClr val="bg2"/>
          </a:solidFill>
        </p:spPr>
      </p:sp>
      <p:sp>
        <p:nvSpPr>
          <p:cNvPr id="15" name="Text 12"/>
          <p:cNvSpPr txBox="1"/>
          <p:nvPr/>
        </p:nvSpPr>
        <p:spPr>
          <a:xfrm>
            <a:off x="4754880" y="5760720"/>
            <a:ext cx="6720840" cy="457200"/>
          </a:xfrm>
          <a:prstGeom prst="rect">
            <a:avLst/>
          </a:prstGeom>
          <a:noFill/>
        </p:spPr>
        <p:txBody>
          <a:bodyPr wrap="square" lIns="0" tIns="0" rIns="0" bIns="0" rtlCol="0" anchor="ctr"/>
          <a:lstStyle/>
          <a:p>
            <a:pPr marL="0" indent="0">
              <a:buNone/>
            </a:pPr>
            <a:r>
              <a:rPr lang="en-US" sz="1400" b="1" dirty="0">
                <a:solidFill>
                  <a:schemeClr val="accent1"/>
                </a:solidFill>
              </a:rPr>
              <a:t>The #1 title has 209 sessions, only 1.7× the average watched title (120)</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1"/>
                </a:solidFill>
              </a:defRPr>
            </a:lvl1pPr>
          </a:lstStyle>
          <a:p>
            <a:pPr algn="l"/>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65760"/>
            <a:ext cx="11091672" cy="777240"/>
          </a:xfrm>
          <a:prstGeom prst="rect">
            <a:avLst/>
          </a:prstGeom>
          <a:noFill/>
        </p:spPr>
        <p:txBody>
          <a:bodyPr wrap="square" lIns="0" tIns="0" rIns="0" bIns="0" rtlCol="0" anchor="ctr"/>
          <a:lstStyle/>
          <a:p>
            <a:pPr marL="0" indent="0" algn="l">
              <a:buNone/>
            </a:pPr>
            <a:r>
              <a:rPr lang="en-US" sz="3400" b="1" dirty="0">
                <a:solidFill>
                  <a:schemeClr val="accent1"/>
                </a:solidFill>
              </a:rPr>
              <a:t>High watch depth, low completion</a:t>
            </a:r>
            <a:endParaRPr lang="en-US" sz="3400" dirty="0"/>
          </a:p>
        </p:txBody>
      </p:sp>
      <p:sp>
        <p:nvSpPr>
          <p:cNvPr id="3" name="takeaway"/>
          <p:cNvSpPr txBox="1"/>
          <p:nvPr/>
        </p:nvSpPr>
        <p:spPr>
          <a:xfrm>
            <a:off x="548640" y="1143000"/>
            <a:ext cx="11091672" cy="457200"/>
          </a:xfrm>
          <a:prstGeom prst="rect">
            <a:avLst/>
          </a:prstGeom>
          <a:noFill/>
        </p:spPr>
        <p:txBody>
          <a:bodyPr wrap="square" lIns="0" tIns="0" rIns="0" bIns="0" rtlCol="0" anchor="t"/>
          <a:lstStyle/>
          <a:p>
            <a:pPr marL="0" indent="0">
              <a:buNone/>
            </a:pPr>
            <a:r>
              <a:rPr lang="en-US" sz="1800" dirty="0">
                <a:solidFill>
                  <a:schemeClr val="tx1"/>
                </a:solidFill>
              </a:rPr>
              <a:t>Viewers watch ~88% of a title on average, yet only 39.93% of views are completed</a:t>
            </a:r>
            <a:endParaRPr lang="en-US" sz="1800" dirty="0"/>
          </a:p>
        </p:txBody>
      </p:sp>
      <p:sp>
        <p:nvSpPr>
          <p:cNvPr id="4" name="stat-card"/>
          <p:cNvSpPr/>
          <p:nvPr/>
        </p:nvSpPr>
        <p:spPr>
          <a:xfrm>
            <a:off x="548640" y="1783080"/>
            <a:ext cx="3749040" cy="1325880"/>
          </a:xfrm>
          <a:prstGeom prst="roundRect">
            <a:avLst>
              <a:gd name="adj" fmla="val 8276"/>
            </a:avLst>
          </a:prstGeom>
          <a:solidFill>
            <a:schemeClr val="bg2"/>
          </a:solidFill>
        </p:spPr>
      </p:sp>
      <p:sp>
        <p:nvSpPr>
          <p:cNvPr id="5" name="Text 3"/>
          <p:cNvSpPr txBox="1"/>
          <p:nvPr/>
        </p:nvSpPr>
        <p:spPr>
          <a:xfrm>
            <a:off x="777240" y="1947672"/>
            <a:ext cx="3291840" cy="596646"/>
          </a:xfrm>
          <a:prstGeom prst="rect">
            <a:avLst/>
          </a:prstGeom>
          <a:noFill/>
        </p:spPr>
        <p:txBody>
          <a:bodyPr wrap="square" lIns="0" tIns="0" rIns="0" bIns="0" rtlCol="0" anchor="ctr"/>
          <a:lstStyle/>
          <a:p>
            <a:pPr marL="0" indent="0">
              <a:buNone/>
            </a:pPr>
            <a:r>
              <a:rPr lang="en-US" sz="2800" b="1" dirty="0">
                <a:solidFill>
                  <a:schemeClr val="accent1"/>
                </a:solidFill>
              </a:rPr>
              <a:t>86.7–94.7%</a:t>
            </a:r>
            <a:endParaRPr lang="en-US" sz="2800" dirty="0"/>
          </a:p>
        </p:txBody>
      </p:sp>
      <p:sp>
        <p:nvSpPr>
          <p:cNvPr id="6" name="Text 4"/>
          <p:cNvSpPr txBox="1"/>
          <p:nvPr/>
        </p:nvSpPr>
        <p:spPr>
          <a:xfrm>
            <a:off x="777240" y="2562606"/>
            <a:ext cx="3291840" cy="454914"/>
          </a:xfrm>
          <a:prstGeom prst="rect">
            <a:avLst/>
          </a:prstGeom>
          <a:noFill/>
        </p:spPr>
        <p:txBody>
          <a:bodyPr wrap="square" lIns="0" tIns="0" rIns="0" bIns="0" rtlCol="0" anchor="t"/>
          <a:lstStyle/>
          <a:p>
            <a:pPr marL="0" indent="0">
              <a:buNone/>
            </a:pPr>
            <a:r>
              <a:rPr lang="en-US" sz="1400" dirty="0">
                <a:solidFill>
                  <a:schemeClr val="tx1"/>
                </a:solidFill>
              </a:rPr>
              <a:t>average share of a title watched, by genre</a:t>
            </a:r>
            <a:endParaRPr lang="en-US" sz="1400" dirty="0"/>
          </a:p>
        </p:txBody>
      </p:sp>
      <p:sp>
        <p:nvSpPr>
          <p:cNvPr id="7" name="stat-card"/>
          <p:cNvSpPr/>
          <p:nvPr/>
        </p:nvSpPr>
        <p:spPr>
          <a:xfrm>
            <a:off x="548640" y="3337560"/>
            <a:ext cx="3749040" cy="1325880"/>
          </a:xfrm>
          <a:prstGeom prst="roundRect">
            <a:avLst>
              <a:gd name="adj" fmla="val 8276"/>
            </a:avLst>
          </a:prstGeom>
          <a:solidFill>
            <a:schemeClr val="accent1"/>
          </a:solidFill>
        </p:spPr>
      </p:sp>
      <p:sp>
        <p:nvSpPr>
          <p:cNvPr id="8" name="Text 6"/>
          <p:cNvSpPr txBox="1"/>
          <p:nvPr/>
        </p:nvSpPr>
        <p:spPr>
          <a:xfrm>
            <a:off x="777240" y="3502152"/>
            <a:ext cx="3291840" cy="596646"/>
          </a:xfrm>
          <a:prstGeom prst="rect">
            <a:avLst/>
          </a:prstGeom>
          <a:noFill/>
        </p:spPr>
        <p:txBody>
          <a:bodyPr wrap="square" lIns="0" tIns="0" rIns="0" bIns="0" rtlCol="0" anchor="ctr"/>
          <a:lstStyle/>
          <a:p>
            <a:pPr marL="0" indent="0">
              <a:buNone/>
            </a:pPr>
            <a:r>
              <a:rPr lang="en-US" sz="3200" b="1" dirty="0">
                <a:solidFill>
                  <a:schemeClr val="bg1"/>
                </a:solidFill>
              </a:rPr>
              <a:t>39.93%</a:t>
            </a:r>
            <a:endParaRPr lang="en-US" sz="3200" dirty="0"/>
          </a:p>
        </p:txBody>
      </p:sp>
      <p:sp>
        <p:nvSpPr>
          <p:cNvPr id="9" name="Text 7"/>
          <p:cNvSpPr txBox="1"/>
          <p:nvPr/>
        </p:nvSpPr>
        <p:spPr>
          <a:xfrm>
            <a:off x="777240" y="4117086"/>
            <a:ext cx="3291840" cy="454914"/>
          </a:xfrm>
          <a:prstGeom prst="rect">
            <a:avLst/>
          </a:prstGeom>
          <a:noFill/>
        </p:spPr>
        <p:txBody>
          <a:bodyPr wrap="square" lIns="0" tIns="0" rIns="0" bIns="0" rtlCol="0" anchor="t"/>
          <a:lstStyle/>
          <a:p>
            <a:pPr marL="0" indent="0">
              <a:buNone/>
            </a:pPr>
            <a:r>
              <a:rPr lang="en-US" sz="1400" dirty="0">
                <a:solidFill>
                  <a:schemeClr val="bg1"/>
                </a:solidFill>
              </a:rPr>
              <a:t>of views are completed</a:t>
            </a:r>
            <a:endParaRPr lang="en-US" sz="1400" dirty="0"/>
          </a:p>
        </p:txBody>
      </p:sp>
      <p:sp>
        <p:nvSpPr>
          <p:cNvPr id="10" name="sowhat-card"/>
          <p:cNvSpPr/>
          <p:nvPr/>
        </p:nvSpPr>
        <p:spPr>
          <a:xfrm>
            <a:off x="548640" y="4892040"/>
            <a:ext cx="3749040" cy="1325880"/>
          </a:xfrm>
          <a:prstGeom prst="roundRect">
            <a:avLst>
              <a:gd name="adj" fmla="val 8276"/>
            </a:avLst>
          </a:prstGeom>
          <a:solidFill>
            <a:schemeClr val="bg2"/>
          </a:solidFill>
        </p:spPr>
      </p:sp>
      <p:sp>
        <p:nvSpPr>
          <p:cNvPr id="11" name="Text 9"/>
          <p:cNvSpPr txBox="1"/>
          <p:nvPr/>
        </p:nvSpPr>
        <p:spPr>
          <a:xfrm>
            <a:off x="777240" y="5029200"/>
            <a:ext cx="3291840" cy="1097280"/>
          </a:xfrm>
          <a:prstGeom prst="rect">
            <a:avLst/>
          </a:prstGeom>
          <a:noFill/>
        </p:spPr>
        <p:txBody>
          <a:bodyPr wrap="square" lIns="0" tIns="0" rIns="0" bIns="0" rtlCol="0" anchor="ctr"/>
          <a:lstStyle/>
          <a:p>
            <a:pPr marL="0" indent="0">
              <a:buNone/>
            </a:pPr>
            <a:r>
              <a:rPr lang="en-US" sz="1400" b="1" dirty="0">
                <a:solidFill>
                  <a:schemeClr val="accent1"/>
                </a:solidFill>
              </a:rPr>
              <a:t>So what: </a:t>
            </a:r>
            <a:r>
              <a:rPr lang="en-US" sz="1400" dirty="0">
                <a:solidFill>
                  <a:schemeClr val="tx1"/>
                </a:solidFill>
              </a:rPr>
              <a:t>viewers drop off near the end, or the completion rule is very strict. Validate the definition first.</a:t>
            </a:r>
            <a:endParaRPr lang="en-US" sz="1400" dirty="0"/>
          </a:p>
        </p:txBody>
      </p:sp>
      <p:graphicFrame>
        <p:nvGraphicFramePr>
          <p:cNvPr id="12" name="Chart 0"/>
          <p:cNvGraphicFramePr/>
          <p:nvPr/>
        </p:nvGraphicFramePr>
        <p:xfrm>
          <a:off x="4663440" y="1783080"/>
          <a:ext cx="6976872" cy="4114800"/>
        </p:xfrm>
        <a:graphic>
          <a:graphicData uri="http://schemas.openxmlformats.org/drawingml/2006/chart">
            <c:chart xmlns:c="http://schemas.openxmlformats.org/drawingml/2006/chart" xmlns:r="http://schemas.openxmlformats.org/officeDocument/2006/relationships" r:id="rId1"/>
          </a:graphicData>
        </a:graphic>
      </p:graphicFrame>
      <p:sp>
        <p:nvSpPr>
          <p:cNvPr id="13" name="Text 10"/>
          <p:cNvSpPr txBox="1"/>
          <p:nvPr/>
        </p:nvSpPr>
        <p:spPr>
          <a:xfrm>
            <a:off x="4663440" y="5943600"/>
            <a:ext cx="6976872" cy="274320"/>
          </a:xfrm>
          <a:prstGeom prst="rect">
            <a:avLst/>
          </a:prstGeom>
          <a:noFill/>
        </p:spPr>
        <p:txBody>
          <a:bodyPr wrap="square" lIns="0" tIns="0" rIns="0" bIns="0" rtlCol="0" anchor="t"/>
          <a:lstStyle/>
          <a:p>
            <a:pPr marL="0" indent="0">
              <a:buNone/>
            </a:pPr>
            <a:r>
              <a:rPr lang="en-US" sz="1100" dirty="0">
                <a:solidFill>
                  <a:schemeClr val="tx1"/>
                </a:solidFill>
              </a:rPr>
              <a:t>Biography (100%) excluded: negligible number of sessions.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1"/>
                </a:solidFill>
              </a:defRPr>
            </a:lvl1pPr>
          </a:lstStyle>
          <a:p>
            <a:pPr algn="l"/>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65760"/>
            <a:ext cx="11091672" cy="777240"/>
          </a:xfrm>
          <a:prstGeom prst="rect">
            <a:avLst/>
          </a:prstGeom>
          <a:noFill/>
        </p:spPr>
        <p:txBody>
          <a:bodyPr wrap="square" lIns="0" tIns="0" rIns="0" bIns="0" rtlCol="0" anchor="ctr"/>
          <a:lstStyle/>
          <a:p>
            <a:pPr marL="0" indent="0" algn="l">
              <a:buNone/>
            </a:pPr>
            <a:r>
              <a:rPr lang="en-US" sz="3400" b="1" dirty="0">
                <a:solidFill>
                  <a:schemeClr val="accent1"/>
                </a:solidFill>
              </a:rPr>
              <a:t>Genre scorecard</a:t>
            </a:r>
            <a:endParaRPr lang="en-US" sz="3400" dirty="0"/>
          </a:p>
        </p:txBody>
      </p:sp>
      <p:sp>
        <p:nvSpPr>
          <p:cNvPr id="3" name="takeaway"/>
          <p:cNvSpPr txBox="1"/>
          <p:nvPr/>
        </p:nvSpPr>
        <p:spPr>
          <a:xfrm>
            <a:off x="548640" y="1143000"/>
            <a:ext cx="11091672" cy="457200"/>
          </a:xfrm>
          <a:prstGeom prst="rect">
            <a:avLst/>
          </a:prstGeom>
          <a:noFill/>
        </p:spPr>
        <p:txBody>
          <a:bodyPr wrap="square" lIns="0" tIns="0" rIns="0" bIns="0" rtlCol="0" anchor="t"/>
          <a:lstStyle/>
          <a:p>
            <a:pPr marL="0" indent="0">
              <a:buNone/>
            </a:pPr>
            <a:r>
              <a:rPr lang="en-US" sz="1800" dirty="0">
                <a:solidFill>
                  <a:schemeClr val="tx1"/>
                </a:solidFill>
              </a:rPr>
              <a:t>Action earns the most repeat views, Comedy and Drama complete best, Documentary has volume but weak completion</a:t>
            </a:r>
            <a:endParaRPr lang="en-US" sz="1800" dirty="0"/>
          </a:p>
        </p:txBody>
      </p:sp>
      <p:graphicFrame>
        <p:nvGraphicFramePr>
          <p:cNvPr id="8" name="genre-scorecard"/>
          <p:cNvGraphicFramePr>
            <a:graphicFrameLocks noGrp="1"/>
          </p:cNvGraphicFramePr>
          <p:nvPr/>
        </p:nvGraphicFramePr>
        <p:xfrm>
          <a:off x="548640" y="1783080"/>
          <a:ext cx="11091672" cy="3840480"/>
        </p:xfrm>
        <a:graphic>
          <a:graphicData uri="http://schemas.openxmlformats.org/drawingml/2006/table">
            <a:tbl>
              <a:tblPr/>
              <a:tblGrid>
                <a:gridCol w="2651760"/>
                <a:gridCol w="1737360"/>
                <a:gridCol w="1737360"/>
                <a:gridCol w="1737360"/>
                <a:gridCol w="1737360"/>
                <a:gridCol w="1490472"/>
              </a:tblGrid>
              <a:tr h="384048">
                <a:tc>
                  <a:txBody>
                    <a:bodyPr/>
                    <a:lstStyle/>
                    <a:p>
                      <a:pPr marL="0" indent="0" algn="l">
                        <a:buNone/>
                      </a:pPr>
                      <a:r>
                        <a:rPr lang="en-US" sz="1400" b="1" dirty="0">
                          <a:solidFill>
                            <a:srgbClr val="FFFFFF"/>
                          </a:solidFill>
                        </a:rPr>
                        <a:t>Genre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7A2560"/>
                    </a:solidFill>
                  </a:tcPr>
                </a:tc>
                <a:tc>
                  <a:txBody>
                    <a:bodyPr/>
                    <a:lstStyle/>
                    <a:p>
                      <a:pPr marL="0" indent="0" algn="r">
                        <a:buNone/>
                      </a:pPr>
                      <a:r>
                        <a:rPr lang="en-US" sz="1400" b="1" dirty="0">
                          <a:solidFill>
                            <a:srgbClr val="FFFFFF"/>
                          </a:solidFill>
                        </a:rPr>
                        <a:t>Sessions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7A2560"/>
                    </a:solidFill>
                  </a:tcPr>
                </a:tc>
                <a:tc>
                  <a:txBody>
                    <a:bodyPr/>
                    <a:lstStyle/>
                    <a:p>
                      <a:pPr marL="0" indent="0" algn="r">
                        <a:buNone/>
                      </a:pPr>
                      <a:r>
                        <a:rPr lang="en-US" sz="1400" b="1" dirty="0">
                          <a:solidFill>
                            <a:srgbClr val="FFFFFF"/>
                          </a:solidFill>
                        </a:rPr>
                        <a:t>Watch hours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7A2560"/>
                    </a:solidFill>
                  </a:tcPr>
                </a:tc>
                <a:tc>
                  <a:txBody>
                    <a:bodyPr/>
                    <a:lstStyle/>
                    <a:p>
                      <a:pPr marL="0" indent="0" algn="r">
                        <a:buNone/>
                      </a:pPr>
                      <a:r>
                        <a:rPr lang="en-US" sz="1400" b="1" dirty="0">
                          <a:solidFill>
                            <a:srgbClr val="FFFFFF"/>
                          </a:solidFill>
                        </a:rPr>
                        <a:t>Completion</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7A2560"/>
                    </a:solidFill>
                  </a:tcPr>
                </a:tc>
                <a:tc>
                  <a:txBody>
                    <a:bodyPr/>
                    <a:lstStyle/>
                    <a:p>
                      <a:pPr marL="0" indent="0" algn="r">
                        <a:buNone/>
                      </a:pPr>
                      <a:r>
                        <a:rPr lang="en-US" sz="1400" b="1" dirty="0">
                          <a:solidFill>
                            <a:srgbClr val="FFFFFF"/>
                          </a:solidFill>
                        </a:rPr>
                        <a:t>Repeat view</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7A2560"/>
                    </a:solidFill>
                  </a:tcPr>
                </a:tc>
                <a:tc>
                  <a:txBody>
                    <a:bodyPr/>
                    <a:lstStyle/>
                    <a:p>
                      <a:pPr marL="0" indent="0" algn="r">
                        <a:buNone/>
                      </a:pPr>
                      <a:r>
                        <a:rPr lang="en-US" sz="1400" b="1" dirty="0">
                          <a:solidFill>
                            <a:srgbClr val="FFFFFF"/>
                          </a:solidFill>
                        </a:rPr>
                        <a:t>Avg % watched</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7A2560"/>
                    </a:solidFill>
                  </a:tcPr>
                </a:tc>
              </a:tr>
              <a:tr h="384048">
                <a:tc>
                  <a:txBody>
                    <a:bodyPr/>
                    <a:lstStyle/>
                    <a:p>
                      <a:pPr marL="0" indent="0" algn="l">
                        <a:buNone/>
                      </a:pPr>
                      <a:r>
                        <a:rPr lang="en-US" sz="1400" b="1" dirty="0">
                          <a:solidFill>
                            <a:srgbClr val="2B1A26"/>
                          </a:solidFill>
                        </a:rPr>
                        <a:t>Drama</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b="1" dirty="0">
                          <a:solidFill>
                            <a:srgbClr val="7A2560"/>
                          </a:solidFill>
                        </a:rPr>
                        <a:t>13.3K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b="1" dirty="0">
                          <a:solidFill>
                            <a:srgbClr val="7A2560"/>
                          </a:solidFill>
                        </a:rPr>
                        <a:t>24K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43.84%</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9.55%</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88.0%</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r>
              <a:tr h="384048">
                <a:tc>
                  <a:txBody>
                    <a:bodyPr/>
                    <a:lstStyle/>
                    <a:p>
                      <a:pPr marL="0" indent="0" algn="l">
                        <a:buNone/>
                      </a:pPr>
                      <a:r>
                        <a:rPr lang="en-US" sz="1400" b="1" dirty="0">
                          <a:solidFill>
                            <a:srgbClr val="2B1A26"/>
                          </a:solidFill>
                        </a:rPr>
                        <a:t>Comedy</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12.8K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20K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b="1" dirty="0">
                          <a:solidFill>
                            <a:srgbClr val="7A2560"/>
                          </a:solidFill>
                        </a:rPr>
                        <a:t>44.94%</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8.93%</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88.4%</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marL="0" indent="0" algn="l">
                        <a:buNone/>
                      </a:pPr>
                      <a:r>
                        <a:rPr lang="en-US" sz="1400" b="1" dirty="0">
                          <a:solidFill>
                            <a:srgbClr val="2B1A26"/>
                          </a:solidFill>
                        </a:rPr>
                        <a:t>Documentary</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10.3K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15K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32.72%</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6.93%</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86.7%</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r>
              <a:tr h="384048">
                <a:tc>
                  <a:txBody>
                    <a:bodyPr/>
                    <a:lstStyle/>
                    <a:p>
                      <a:pPr marL="0" indent="0" algn="l">
                        <a:buNone/>
                      </a:pPr>
                      <a:r>
                        <a:rPr lang="en-US" sz="1400" b="1" dirty="0">
                          <a:solidFill>
                            <a:srgbClr val="2B1A26"/>
                          </a:solidFill>
                        </a:rPr>
                        <a:t>Sci-Fi</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8.7K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15K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41.53%</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7.33%</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88.5%</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marL="0" indent="0" algn="l">
                        <a:buNone/>
                      </a:pPr>
                      <a:r>
                        <a:rPr lang="en-US" sz="1400" b="1" dirty="0">
                          <a:solidFill>
                            <a:srgbClr val="2B1A26"/>
                          </a:solidFill>
                        </a:rPr>
                        <a:t>Action</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7.8K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15K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34.15%</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b="1" dirty="0">
                          <a:solidFill>
                            <a:srgbClr val="7A2560"/>
                          </a:solidFill>
                        </a:rPr>
                        <a:t>10.08%</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87.1%</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r>
              <a:tr h="384048">
                <a:tc>
                  <a:txBody>
                    <a:bodyPr/>
                    <a:lstStyle/>
                    <a:p>
                      <a:pPr marL="0" indent="0" algn="l">
                        <a:buNone/>
                      </a:pPr>
                      <a:r>
                        <a:rPr lang="en-US" sz="1400" b="1" dirty="0">
                          <a:solidFill>
                            <a:srgbClr val="2B1A26"/>
                          </a:solidFill>
                        </a:rPr>
                        <a:t>Kids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6.7K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10K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38.62%</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4.99%</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87.8%</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marL="0" indent="0" algn="l">
                        <a:buNone/>
                      </a:pPr>
                      <a:r>
                        <a:rPr lang="en-US" sz="1400" b="1" dirty="0">
                          <a:solidFill>
                            <a:srgbClr val="2B1A26"/>
                          </a:solidFill>
                        </a:rPr>
                        <a:t>Horror</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0.3K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&lt;0.5K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25.00%</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4.05%</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87.3%</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r>
              <a:tr h="384048">
                <a:tc>
                  <a:txBody>
                    <a:bodyPr/>
                    <a:lstStyle/>
                    <a:p>
                      <a:pPr marL="0" indent="0" algn="l">
                        <a:buNone/>
                      </a:pPr>
                      <a:r>
                        <a:rPr lang="en-US" sz="1400" b="1" dirty="0">
                          <a:solidFill>
                            <a:srgbClr val="2B1A26"/>
                          </a:solidFill>
                        </a:rPr>
                        <a:t>Musical</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0.1K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&lt;0.5K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35.48%</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3.33%</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400" dirty="0">
                          <a:solidFill>
                            <a:srgbClr val="2B1A26"/>
                          </a:solidFill>
                        </a:rPr>
                        <a:t>89.4%</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marL="0" indent="0" algn="l">
                        <a:buNone/>
                      </a:pPr>
                      <a:r>
                        <a:rPr lang="en-US" sz="1400" b="1" dirty="0">
                          <a:solidFill>
                            <a:srgbClr val="2B1A26"/>
                          </a:solidFill>
                        </a:rPr>
                        <a:t>Biography</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&lt;0.1K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&lt;0.5K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100%*</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2.17%</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c>
                  <a:txBody>
                    <a:bodyPr/>
                    <a:lstStyle/>
                    <a:p>
                      <a:pPr marL="0" indent="0" algn="r">
                        <a:buNone/>
                      </a:pPr>
                      <a:r>
                        <a:rPr lang="en-US" sz="1400" dirty="0">
                          <a:solidFill>
                            <a:srgbClr val="2B1A26"/>
                          </a:solidFill>
                        </a:rPr>
                        <a:t>94.7%</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BE6F1"/>
                    </a:solidFill>
                  </a:tcPr>
                </a:tc>
              </a:tr>
            </a:tbl>
          </a:graphicData>
        </a:graphic>
      </p:graphicFrame>
      <p:sp>
        <p:nvSpPr>
          <p:cNvPr id="5" name="Text 2"/>
          <p:cNvSpPr txBox="1"/>
          <p:nvPr/>
        </p:nvSpPr>
        <p:spPr>
          <a:xfrm>
            <a:off x="548640" y="5806440"/>
            <a:ext cx="11091672" cy="274320"/>
          </a:xfrm>
          <a:prstGeom prst="rect">
            <a:avLst/>
          </a:prstGeom>
          <a:noFill/>
        </p:spPr>
        <p:txBody>
          <a:bodyPr wrap="square" lIns="0" tIns="0" rIns="0" bIns="0" rtlCol="0" anchor="t"/>
          <a:lstStyle/>
          <a:p>
            <a:pPr marL="0" indent="0">
              <a:buNone/>
            </a:pPr>
            <a:r>
              <a:rPr lang="en-US" sz="1100" dirty="0">
                <a:solidFill>
                  <a:schemeClr val="tx1"/>
                </a:solidFill>
              </a:rPr>
              <a:t>Bold plum = leader in that column.  *Biography completion reflects a negligible sample.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1"/>
                </a:solidFill>
              </a:defRPr>
            </a:lvl1pPr>
          </a:lstStyle>
          <a:p>
            <a:pPr algn="l"/>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65760"/>
            <a:ext cx="11091672" cy="777240"/>
          </a:xfrm>
          <a:prstGeom prst="rect">
            <a:avLst/>
          </a:prstGeom>
          <a:noFill/>
        </p:spPr>
        <p:txBody>
          <a:bodyPr wrap="square" lIns="0" tIns="0" rIns="0" bIns="0" rtlCol="0" anchor="ctr"/>
          <a:lstStyle/>
          <a:p>
            <a:pPr marL="0" indent="0" algn="l">
              <a:buNone/>
            </a:pPr>
            <a:r>
              <a:rPr lang="en-US" sz="3400" b="1" dirty="0">
                <a:solidFill>
                  <a:schemeClr val="accent1"/>
                </a:solidFill>
              </a:rPr>
              <a:t>A 25–44 core audience, spread worldwide</a:t>
            </a:r>
            <a:endParaRPr lang="en-US" sz="3400" dirty="0"/>
          </a:p>
        </p:txBody>
      </p:sp>
      <p:sp>
        <p:nvSpPr>
          <p:cNvPr id="3" name="takeaway"/>
          <p:cNvSpPr txBox="1"/>
          <p:nvPr/>
        </p:nvSpPr>
        <p:spPr>
          <a:xfrm>
            <a:off x="548640" y="1143000"/>
            <a:ext cx="11091672" cy="457200"/>
          </a:xfrm>
          <a:prstGeom prst="rect">
            <a:avLst/>
          </a:prstGeom>
          <a:noFill/>
        </p:spPr>
        <p:txBody>
          <a:bodyPr wrap="square" lIns="0" tIns="0" rIns="0" bIns="0" rtlCol="0" anchor="t"/>
          <a:lstStyle/>
          <a:p>
            <a:pPr marL="0" indent="0">
              <a:buNone/>
            </a:pPr>
            <a:r>
              <a:rPr lang="en-US" sz="1800" dirty="0">
                <a:solidFill>
                  <a:schemeClr val="tx1"/>
                </a:solidFill>
              </a:rPr>
              <a:t>62% of users are aged 25–44, gender is balanced, and no single country dominates</a:t>
            </a:r>
            <a:endParaRPr lang="en-US" sz="1800" dirty="0"/>
          </a:p>
        </p:txBody>
      </p:sp>
      <p:graphicFrame>
        <p:nvGraphicFramePr>
          <p:cNvPr id="4" name="Chart 0"/>
          <p:cNvGraphicFramePr/>
          <p:nvPr/>
        </p:nvGraphicFramePr>
        <p:xfrm>
          <a:off x="548640" y="1783080"/>
          <a:ext cx="5486400" cy="4434840"/>
        </p:xfrm>
        <a:graphic>
          <a:graphicData uri="http://schemas.openxmlformats.org/drawingml/2006/chart">
            <c:chart xmlns:c="http://schemas.openxmlformats.org/drawingml/2006/chart" xmlns:r="http://schemas.openxmlformats.org/officeDocument/2006/relationships" r:id="rId1"/>
          </a:graphicData>
        </a:graphic>
      </p:graphicFrame>
      <p:sp>
        <p:nvSpPr>
          <p:cNvPr id="5" name="stat-card"/>
          <p:cNvSpPr/>
          <p:nvPr/>
        </p:nvSpPr>
        <p:spPr>
          <a:xfrm>
            <a:off x="6364224" y="1783080"/>
            <a:ext cx="2532888" cy="2011680"/>
          </a:xfrm>
          <a:prstGeom prst="roundRect">
            <a:avLst>
              <a:gd name="adj" fmla="val 5455"/>
            </a:avLst>
          </a:prstGeom>
          <a:solidFill>
            <a:schemeClr val="accent1"/>
          </a:solidFill>
        </p:spPr>
      </p:sp>
      <p:sp>
        <p:nvSpPr>
          <p:cNvPr id="6" name="Text 3"/>
          <p:cNvSpPr txBox="1"/>
          <p:nvPr/>
        </p:nvSpPr>
        <p:spPr>
          <a:xfrm>
            <a:off x="6592824" y="1947672"/>
            <a:ext cx="2075688" cy="905256"/>
          </a:xfrm>
          <a:prstGeom prst="rect">
            <a:avLst/>
          </a:prstGeom>
          <a:noFill/>
        </p:spPr>
        <p:txBody>
          <a:bodyPr wrap="square" lIns="0" tIns="0" rIns="0" bIns="0" rtlCol="0" anchor="ctr"/>
          <a:lstStyle/>
          <a:p>
            <a:pPr marL="0" indent="0">
              <a:buNone/>
            </a:pPr>
            <a:r>
              <a:rPr lang="en-US" sz="3200" b="1" dirty="0">
                <a:solidFill>
                  <a:schemeClr val="bg1"/>
                </a:solidFill>
              </a:rPr>
              <a:t>61.7%</a:t>
            </a:r>
            <a:endParaRPr lang="en-US" sz="3200" dirty="0"/>
          </a:p>
        </p:txBody>
      </p:sp>
      <p:sp>
        <p:nvSpPr>
          <p:cNvPr id="7" name="Text 4"/>
          <p:cNvSpPr txBox="1"/>
          <p:nvPr/>
        </p:nvSpPr>
        <p:spPr>
          <a:xfrm>
            <a:off x="6592824" y="2871216"/>
            <a:ext cx="2075688" cy="832104"/>
          </a:xfrm>
          <a:prstGeom prst="rect">
            <a:avLst/>
          </a:prstGeom>
          <a:noFill/>
        </p:spPr>
        <p:txBody>
          <a:bodyPr wrap="square" lIns="0" tIns="0" rIns="0" bIns="0" rtlCol="0" anchor="t"/>
          <a:lstStyle/>
          <a:p>
            <a:pPr marL="0" indent="0">
              <a:buNone/>
            </a:pPr>
            <a:r>
              <a:rPr lang="en-US" sz="1400" dirty="0">
                <a:solidFill>
                  <a:schemeClr val="bg1"/>
                </a:solidFill>
              </a:rPr>
              <a:t>aged 25–44 (617 of 1,000 users)</a:t>
            </a:r>
            <a:endParaRPr lang="en-US" sz="1400" dirty="0"/>
          </a:p>
        </p:txBody>
      </p:sp>
      <p:sp>
        <p:nvSpPr>
          <p:cNvPr id="8" name="stat-card"/>
          <p:cNvSpPr/>
          <p:nvPr/>
        </p:nvSpPr>
        <p:spPr>
          <a:xfrm>
            <a:off x="9125712" y="1783080"/>
            <a:ext cx="2532888" cy="2011680"/>
          </a:xfrm>
          <a:prstGeom prst="roundRect">
            <a:avLst>
              <a:gd name="adj" fmla="val 5455"/>
            </a:avLst>
          </a:prstGeom>
          <a:solidFill>
            <a:schemeClr val="bg2"/>
          </a:solidFill>
        </p:spPr>
      </p:sp>
      <p:sp>
        <p:nvSpPr>
          <p:cNvPr id="9" name="Text 6"/>
          <p:cNvSpPr txBox="1"/>
          <p:nvPr/>
        </p:nvSpPr>
        <p:spPr>
          <a:xfrm>
            <a:off x="9354312" y="1947672"/>
            <a:ext cx="2075688" cy="905256"/>
          </a:xfrm>
          <a:prstGeom prst="rect">
            <a:avLst/>
          </a:prstGeom>
          <a:noFill/>
        </p:spPr>
        <p:txBody>
          <a:bodyPr wrap="square" lIns="0" tIns="0" rIns="0" bIns="0" rtlCol="0" anchor="ctr"/>
          <a:lstStyle/>
          <a:p>
            <a:pPr marL="0" indent="0">
              <a:buNone/>
            </a:pPr>
            <a:r>
              <a:rPr lang="en-US" sz="3200" b="1" dirty="0">
                <a:solidFill>
                  <a:schemeClr val="accent1"/>
                </a:solidFill>
              </a:rPr>
              <a:t>4.8%</a:t>
            </a:r>
            <a:endParaRPr lang="en-US" sz="3200" dirty="0"/>
          </a:p>
        </p:txBody>
      </p:sp>
      <p:sp>
        <p:nvSpPr>
          <p:cNvPr id="10" name="Text 7"/>
          <p:cNvSpPr txBox="1"/>
          <p:nvPr/>
        </p:nvSpPr>
        <p:spPr>
          <a:xfrm>
            <a:off x="9354312" y="2871216"/>
            <a:ext cx="2075688" cy="832104"/>
          </a:xfrm>
          <a:prstGeom prst="rect">
            <a:avLst/>
          </a:prstGeom>
          <a:noFill/>
        </p:spPr>
        <p:txBody>
          <a:bodyPr wrap="square" lIns="0" tIns="0" rIns="0" bIns="0" rtlCol="0" anchor="t"/>
          <a:lstStyle/>
          <a:p>
            <a:pPr marL="0" indent="0">
              <a:buNone/>
            </a:pPr>
            <a:r>
              <a:rPr lang="en-US" sz="1400" dirty="0">
                <a:solidFill>
                  <a:schemeClr val="tx1"/>
                </a:solidFill>
              </a:rPr>
              <a:t>aged 55+ (48 users), the smallest segment</a:t>
            </a:r>
            <a:endParaRPr lang="en-US" sz="1400" dirty="0"/>
          </a:p>
        </p:txBody>
      </p:sp>
      <p:sp>
        <p:nvSpPr>
          <p:cNvPr id="11" name="stat-card"/>
          <p:cNvSpPr/>
          <p:nvPr/>
        </p:nvSpPr>
        <p:spPr>
          <a:xfrm>
            <a:off x="6364224" y="4023360"/>
            <a:ext cx="2532888" cy="2194560"/>
          </a:xfrm>
          <a:prstGeom prst="roundRect">
            <a:avLst>
              <a:gd name="adj" fmla="val 5000"/>
            </a:avLst>
          </a:prstGeom>
          <a:solidFill>
            <a:schemeClr val="bg2"/>
          </a:solidFill>
        </p:spPr>
      </p:sp>
      <p:sp>
        <p:nvSpPr>
          <p:cNvPr id="12" name="Text 9"/>
          <p:cNvSpPr txBox="1"/>
          <p:nvPr/>
        </p:nvSpPr>
        <p:spPr>
          <a:xfrm>
            <a:off x="6592824" y="4187952"/>
            <a:ext cx="2075688" cy="987552"/>
          </a:xfrm>
          <a:prstGeom prst="rect">
            <a:avLst/>
          </a:prstGeom>
          <a:noFill/>
        </p:spPr>
        <p:txBody>
          <a:bodyPr wrap="square" lIns="0" tIns="0" rIns="0" bIns="0" rtlCol="0" anchor="ctr"/>
          <a:lstStyle/>
          <a:p>
            <a:pPr marL="0" indent="0">
              <a:buNone/>
            </a:pPr>
            <a:r>
              <a:rPr lang="en-US" sz="3200" b="1" dirty="0">
                <a:solidFill>
                  <a:schemeClr val="accent1"/>
                </a:solidFill>
              </a:rPr>
              <a:t>29–37</a:t>
            </a:r>
            <a:endParaRPr lang="en-US" sz="3200" dirty="0"/>
          </a:p>
        </p:txBody>
      </p:sp>
      <p:sp>
        <p:nvSpPr>
          <p:cNvPr id="13" name="Text 10"/>
          <p:cNvSpPr txBox="1"/>
          <p:nvPr/>
        </p:nvSpPr>
        <p:spPr>
          <a:xfrm>
            <a:off x="6592824" y="5193792"/>
            <a:ext cx="2075688" cy="932688"/>
          </a:xfrm>
          <a:prstGeom prst="rect">
            <a:avLst/>
          </a:prstGeom>
          <a:noFill/>
        </p:spPr>
        <p:txBody>
          <a:bodyPr wrap="square" lIns="0" tIns="0" rIns="0" bIns="0" rtlCol="0" anchor="t"/>
          <a:lstStyle/>
          <a:p>
            <a:pPr marL="0" indent="0">
              <a:buNone/>
            </a:pPr>
            <a:r>
              <a:rPr lang="en-US" sz="1400" dirty="0">
                <a:solidFill>
                  <a:schemeClr val="tx1"/>
                </a:solidFill>
              </a:rPr>
              <a:t>users in each of the top 13 countries; Colombia leads</a:t>
            </a:r>
            <a:endParaRPr lang="en-US" sz="1400" dirty="0"/>
          </a:p>
        </p:txBody>
      </p:sp>
      <p:sp>
        <p:nvSpPr>
          <p:cNvPr id="14" name="stat-card"/>
          <p:cNvSpPr/>
          <p:nvPr/>
        </p:nvSpPr>
        <p:spPr>
          <a:xfrm>
            <a:off x="9125712" y="4023360"/>
            <a:ext cx="2532888" cy="2194560"/>
          </a:xfrm>
          <a:prstGeom prst="roundRect">
            <a:avLst>
              <a:gd name="adj" fmla="val 5000"/>
            </a:avLst>
          </a:prstGeom>
          <a:solidFill>
            <a:schemeClr val="accent1"/>
          </a:solidFill>
        </p:spPr>
      </p:sp>
      <p:sp>
        <p:nvSpPr>
          <p:cNvPr id="15" name="Text 12"/>
          <p:cNvSpPr txBox="1"/>
          <p:nvPr/>
        </p:nvSpPr>
        <p:spPr>
          <a:xfrm>
            <a:off x="9354312" y="4187952"/>
            <a:ext cx="2075688" cy="987552"/>
          </a:xfrm>
          <a:prstGeom prst="rect">
            <a:avLst/>
          </a:prstGeom>
          <a:noFill/>
        </p:spPr>
        <p:txBody>
          <a:bodyPr wrap="square" lIns="0" tIns="0" rIns="0" bIns="0" rtlCol="0" anchor="ctr"/>
          <a:lstStyle/>
          <a:p>
            <a:pPr marL="0" indent="0">
              <a:buNone/>
            </a:pPr>
            <a:r>
              <a:rPr lang="en-US" sz="3200" b="1" dirty="0">
                <a:solidFill>
                  <a:schemeClr val="bg1"/>
                </a:solidFill>
              </a:rPr>
              <a:t>49 / 46</a:t>
            </a:r>
            <a:endParaRPr lang="en-US" sz="3200" dirty="0"/>
          </a:p>
        </p:txBody>
      </p:sp>
      <p:sp>
        <p:nvSpPr>
          <p:cNvPr id="16" name="Text 13"/>
          <p:cNvSpPr txBox="1"/>
          <p:nvPr/>
        </p:nvSpPr>
        <p:spPr>
          <a:xfrm>
            <a:off x="9354312" y="5193792"/>
            <a:ext cx="2075688" cy="932688"/>
          </a:xfrm>
          <a:prstGeom prst="rect">
            <a:avLst/>
          </a:prstGeom>
          <a:noFill/>
        </p:spPr>
        <p:txBody>
          <a:bodyPr wrap="square" lIns="0" tIns="0" rIns="0" bIns="0" rtlCol="0" anchor="t"/>
          <a:lstStyle/>
          <a:p>
            <a:pPr marL="0" indent="0">
              <a:buNone/>
            </a:pPr>
            <a:r>
              <a:rPr lang="en-US" sz="1400" dirty="0">
                <a:solidFill>
                  <a:schemeClr val="bg1"/>
                </a:solidFill>
              </a:rPr>
              <a:t>% female / male, with 3.3% non-binary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1"/>
                </a:solidFill>
              </a:defRPr>
            </a:lvl1pPr>
          </a:lstStyle>
          <a:p>
            <a:pPr algn="l"/>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65760"/>
            <a:ext cx="11091672" cy="777240"/>
          </a:xfrm>
          <a:prstGeom prst="rect">
            <a:avLst/>
          </a:prstGeom>
          <a:noFill/>
        </p:spPr>
        <p:txBody>
          <a:bodyPr wrap="square" lIns="0" tIns="0" rIns="0" bIns="0" rtlCol="0" anchor="ctr"/>
          <a:lstStyle/>
          <a:p>
            <a:pPr marL="0" indent="0" algn="l">
              <a:buNone/>
            </a:pPr>
            <a:r>
              <a:rPr lang="en-US" sz="3400" b="1" dirty="0">
                <a:solidFill>
                  <a:schemeClr val="accent1"/>
                </a:solidFill>
              </a:rPr>
              <a:t>Premium doesn't mean more engaged</a:t>
            </a:r>
            <a:endParaRPr lang="en-US" sz="3400" dirty="0"/>
          </a:p>
        </p:txBody>
      </p:sp>
      <p:sp>
        <p:nvSpPr>
          <p:cNvPr id="3" name="takeaway"/>
          <p:cNvSpPr txBox="1"/>
          <p:nvPr/>
        </p:nvSpPr>
        <p:spPr>
          <a:xfrm>
            <a:off x="548640" y="1143000"/>
            <a:ext cx="11091672" cy="457200"/>
          </a:xfrm>
          <a:prstGeom prst="rect">
            <a:avLst/>
          </a:prstGeom>
          <a:noFill/>
        </p:spPr>
        <p:txBody>
          <a:bodyPr wrap="square" lIns="0" tIns="0" rIns="0" bIns="0" rtlCol="0" anchor="t"/>
          <a:lstStyle/>
          <a:p>
            <a:pPr marL="0" indent="0">
              <a:buNone/>
            </a:pPr>
            <a:r>
              <a:rPr lang="en-US" sz="1800" dirty="0">
                <a:solidFill>
                  <a:schemeClr val="tx1"/>
                </a:solidFill>
              </a:rPr>
              <a:t>Premium subscribers log the fewest sessions, so the top tier shows no engagement premium</a:t>
            </a:r>
            <a:endParaRPr lang="en-US" sz="1800" dirty="0"/>
          </a:p>
        </p:txBody>
      </p:sp>
      <p:graphicFrame>
        <p:nvGraphicFramePr>
          <p:cNvPr id="4" name="Chart 0"/>
          <p:cNvGraphicFramePr/>
          <p:nvPr/>
        </p:nvGraphicFramePr>
        <p:xfrm>
          <a:off x="548640" y="1783080"/>
          <a:ext cx="5394960" cy="35204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5" name="Chart 1"/>
          <p:cNvGraphicFramePr/>
          <p:nvPr/>
        </p:nvGraphicFramePr>
        <p:xfrm>
          <a:off x="6245352" y="1783080"/>
          <a:ext cx="5394960" cy="3520440"/>
        </p:xfrm>
        <a:graphic>
          <a:graphicData uri="http://schemas.openxmlformats.org/drawingml/2006/chart">
            <c:chart xmlns:c="http://schemas.openxmlformats.org/drawingml/2006/chart" xmlns:r="http://schemas.openxmlformats.org/officeDocument/2006/relationships" r:id="rId2"/>
          </a:graphicData>
        </a:graphic>
      </p:graphicFrame>
      <p:sp>
        <p:nvSpPr>
          <p:cNvPr id="6" name="implication-card"/>
          <p:cNvSpPr/>
          <p:nvPr/>
        </p:nvSpPr>
        <p:spPr>
          <a:xfrm>
            <a:off x="548640" y="5486400"/>
            <a:ext cx="11091672" cy="731520"/>
          </a:xfrm>
          <a:prstGeom prst="roundRect">
            <a:avLst>
              <a:gd name="adj" fmla="val 15000"/>
            </a:avLst>
          </a:prstGeom>
          <a:solidFill>
            <a:schemeClr val="bg2"/>
          </a:solidFill>
        </p:spPr>
      </p:sp>
      <p:sp>
        <p:nvSpPr>
          <p:cNvPr id="7" name="Text 3"/>
          <p:cNvSpPr txBox="1"/>
          <p:nvPr/>
        </p:nvSpPr>
        <p:spPr>
          <a:xfrm>
            <a:off x="777240" y="5486400"/>
            <a:ext cx="10652760" cy="731520"/>
          </a:xfrm>
          <a:prstGeom prst="rect">
            <a:avLst/>
          </a:prstGeom>
          <a:noFill/>
        </p:spPr>
        <p:txBody>
          <a:bodyPr wrap="square" lIns="0" tIns="0" rIns="0" bIns="0" rtlCol="0" anchor="ctr"/>
          <a:lstStyle/>
          <a:p>
            <a:pPr marL="0" indent="0">
              <a:buNone/>
            </a:pPr>
            <a:r>
              <a:rPr lang="en-US" sz="1500" b="1" dirty="0">
                <a:solidFill>
                  <a:schemeClr val="accent1"/>
                </a:solidFill>
              </a:rPr>
              <a:t>Implication: </a:t>
            </a:r>
            <a:r>
              <a:rPr lang="en-US" sz="1500" dirty="0">
                <a:solidFill>
                  <a:schemeClr val="tx1"/>
                </a:solidFill>
              </a:rPr>
              <a:t>Premium is 25.4% of users but watches ~5% less than Standard, which puts perceived value at risk at renewal.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1"/>
                </a:solidFill>
              </a:defRPr>
            </a:lvl1pPr>
          </a:lstStyle>
          <a:p>
            <a:pPr algn="l"/>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65760"/>
            <a:ext cx="11091672" cy="777240"/>
          </a:xfrm>
          <a:prstGeom prst="rect">
            <a:avLst/>
          </a:prstGeom>
          <a:noFill/>
        </p:spPr>
        <p:txBody>
          <a:bodyPr wrap="square" lIns="0" tIns="0" rIns="0" bIns="0" rtlCol="0" anchor="ctr"/>
          <a:lstStyle/>
          <a:p>
            <a:pPr marL="0" indent="0" algn="l">
              <a:buNone/>
            </a:pPr>
            <a:r>
              <a:rPr lang="en-US" sz="3400" b="1" dirty="0">
                <a:solidFill>
                  <a:schemeClr val="accent1"/>
                </a:solidFill>
              </a:rPr>
              <a:t>Leavers watched almost as much as stayers</a:t>
            </a:r>
            <a:endParaRPr lang="en-US" sz="3400" dirty="0"/>
          </a:p>
        </p:txBody>
      </p:sp>
      <p:sp>
        <p:nvSpPr>
          <p:cNvPr id="3" name="takeaway"/>
          <p:cNvSpPr txBox="1"/>
          <p:nvPr/>
        </p:nvSpPr>
        <p:spPr>
          <a:xfrm>
            <a:off x="548640" y="1143000"/>
            <a:ext cx="11091672" cy="457200"/>
          </a:xfrm>
          <a:prstGeom prst="rect">
            <a:avLst/>
          </a:prstGeom>
          <a:noFill/>
        </p:spPr>
        <p:txBody>
          <a:bodyPr wrap="square" lIns="0" tIns="0" rIns="0" bIns="0" rtlCol="0" anchor="t"/>
          <a:lstStyle/>
          <a:p>
            <a:pPr marL="0" indent="0">
              <a:buNone/>
            </a:pPr>
            <a:r>
              <a:rPr lang="en-US" sz="1800" dirty="0">
                <a:solidFill>
                  <a:schemeClr val="tx1"/>
                </a:solidFill>
              </a:rPr>
              <a:t>Engagement barely separates the 144 cancellations from the 856 renewals, so viewing alone won't predict churn</a:t>
            </a:r>
            <a:endParaRPr lang="en-US" sz="1800" dirty="0"/>
          </a:p>
        </p:txBody>
      </p:sp>
      <p:sp>
        <p:nvSpPr>
          <p:cNvPr id="4" name="compare-card"/>
          <p:cNvSpPr/>
          <p:nvPr/>
        </p:nvSpPr>
        <p:spPr>
          <a:xfrm>
            <a:off x="548640" y="1783080"/>
            <a:ext cx="3544824" cy="2834640"/>
          </a:xfrm>
          <a:prstGeom prst="roundRect">
            <a:avLst>
              <a:gd name="adj" fmla="val 3871"/>
            </a:avLst>
          </a:prstGeom>
          <a:solidFill>
            <a:schemeClr val="bg2"/>
          </a:solidFill>
        </p:spPr>
      </p:sp>
      <p:sp>
        <p:nvSpPr>
          <p:cNvPr id="5" name="Text 3"/>
          <p:cNvSpPr txBox="1"/>
          <p:nvPr/>
        </p:nvSpPr>
        <p:spPr>
          <a:xfrm>
            <a:off x="822960" y="1965960"/>
            <a:ext cx="2996184" cy="365760"/>
          </a:xfrm>
          <a:prstGeom prst="rect">
            <a:avLst/>
          </a:prstGeom>
          <a:noFill/>
        </p:spPr>
        <p:txBody>
          <a:bodyPr wrap="square" lIns="0" tIns="0" rIns="0" bIns="0" rtlCol="0" anchor="t"/>
          <a:lstStyle/>
          <a:p>
            <a:pPr marL="0" indent="0">
              <a:buNone/>
            </a:pPr>
            <a:r>
              <a:rPr lang="en-US" sz="1800" b="1" dirty="0">
                <a:solidFill>
                  <a:schemeClr val="accent1"/>
                </a:solidFill>
              </a:rPr>
              <a:t>Avg viewing sessions</a:t>
            </a:r>
            <a:endParaRPr lang="en-US" sz="1800" dirty="0"/>
          </a:p>
        </p:txBody>
      </p:sp>
      <p:sp>
        <p:nvSpPr>
          <p:cNvPr id="6" name="Text 4"/>
          <p:cNvSpPr txBox="1"/>
          <p:nvPr/>
        </p:nvSpPr>
        <p:spPr>
          <a:xfrm>
            <a:off x="822960" y="2514600"/>
            <a:ext cx="1554480" cy="640080"/>
          </a:xfrm>
          <a:prstGeom prst="rect">
            <a:avLst/>
          </a:prstGeom>
          <a:noFill/>
        </p:spPr>
        <p:txBody>
          <a:bodyPr wrap="square" lIns="0" tIns="0" rIns="0" bIns="0" rtlCol="0" anchor="ctr"/>
          <a:lstStyle/>
          <a:p>
            <a:pPr marL="0" indent="0">
              <a:buNone/>
            </a:pPr>
            <a:r>
              <a:rPr lang="en-US" sz="3000" b="1" dirty="0">
                <a:solidFill>
                  <a:schemeClr val="accent1"/>
                </a:solidFill>
              </a:rPr>
              <a:t>60.33</a:t>
            </a:r>
            <a:endParaRPr lang="en-US" sz="3000" dirty="0"/>
          </a:p>
        </p:txBody>
      </p:sp>
      <p:sp>
        <p:nvSpPr>
          <p:cNvPr id="7" name="Text 5"/>
          <p:cNvSpPr txBox="1"/>
          <p:nvPr/>
        </p:nvSpPr>
        <p:spPr>
          <a:xfrm>
            <a:off x="822960" y="3154680"/>
            <a:ext cx="1554480" cy="274320"/>
          </a:xfrm>
          <a:prstGeom prst="rect">
            <a:avLst/>
          </a:prstGeom>
          <a:noFill/>
        </p:spPr>
        <p:txBody>
          <a:bodyPr wrap="square" lIns="0" tIns="0" rIns="0" bIns="0" rtlCol="0" anchor="t"/>
          <a:lstStyle/>
          <a:p>
            <a:pPr marL="0" indent="0">
              <a:buNone/>
            </a:pPr>
            <a:r>
              <a:rPr lang="en-US" sz="1300" dirty="0">
                <a:solidFill>
                  <a:schemeClr val="tx1"/>
                </a:solidFill>
              </a:rPr>
              <a:t>Renewed</a:t>
            </a:r>
            <a:endParaRPr lang="en-US" sz="1300" dirty="0"/>
          </a:p>
        </p:txBody>
      </p:sp>
      <p:sp>
        <p:nvSpPr>
          <p:cNvPr id="8" name="Text 6"/>
          <p:cNvSpPr txBox="1"/>
          <p:nvPr/>
        </p:nvSpPr>
        <p:spPr>
          <a:xfrm>
            <a:off x="2468880" y="2514600"/>
            <a:ext cx="1554480" cy="640080"/>
          </a:xfrm>
          <a:prstGeom prst="rect">
            <a:avLst/>
          </a:prstGeom>
          <a:noFill/>
        </p:spPr>
        <p:txBody>
          <a:bodyPr wrap="square" lIns="0" tIns="0" rIns="0" bIns="0" rtlCol="0" anchor="ctr"/>
          <a:lstStyle/>
          <a:p>
            <a:pPr marL="0" indent="0">
              <a:buNone/>
            </a:pPr>
            <a:r>
              <a:rPr lang="en-US" sz="3000" b="1" dirty="0">
                <a:solidFill>
                  <a:schemeClr val="accent2"/>
                </a:solidFill>
              </a:rPr>
              <a:t>58.43</a:t>
            </a:r>
            <a:endParaRPr lang="en-US" sz="3000" dirty="0"/>
          </a:p>
        </p:txBody>
      </p:sp>
      <p:sp>
        <p:nvSpPr>
          <p:cNvPr id="9" name="Text 7"/>
          <p:cNvSpPr txBox="1"/>
          <p:nvPr/>
        </p:nvSpPr>
        <p:spPr>
          <a:xfrm>
            <a:off x="2468880" y="3154680"/>
            <a:ext cx="1554480" cy="274320"/>
          </a:xfrm>
          <a:prstGeom prst="rect">
            <a:avLst/>
          </a:prstGeom>
          <a:noFill/>
        </p:spPr>
        <p:txBody>
          <a:bodyPr wrap="square" lIns="0" tIns="0" rIns="0" bIns="0" rtlCol="0" anchor="t"/>
          <a:lstStyle/>
          <a:p>
            <a:pPr marL="0" indent="0">
              <a:buNone/>
            </a:pPr>
            <a:r>
              <a:rPr lang="en-US" sz="1300" dirty="0">
                <a:solidFill>
                  <a:schemeClr val="tx1"/>
                </a:solidFill>
              </a:rPr>
              <a:t>Cancelled</a:t>
            </a:r>
            <a:endParaRPr lang="en-US" sz="1300" dirty="0"/>
          </a:p>
        </p:txBody>
      </p:sp>
      <p:sp>
        <p:nvSpPr>
          <p:cNvPr id="10" name="delta-chip"/>
          <p:cNvSpPr/>
          <p:nvPr/>
        </p:nvSpPr>
        <p:spPr>
          <a:xfrm>
            <a:off x="822960" y="3749040"/>
            <a:ext cx="2996184" cy="594360"/>
          </a:xfrm>
          <a:prstGeom prst="roundRect">
            <a:avLst>
              <a:gd name="adj" fmla="val 15385"/>
            </a:avLst>
          </a:prstGeom>
          <a:solidFill>
            <a:schemeClr val="accent1"/>
          </a:solidFill>
        </p:spPr>
      </p:sp>
      <p:sp>
        <p:nvSpPr>
          <p:cNvPr id="11" name="Text 9"/>
          <p:cNvSpPr txBox="1"/>
          <p:nvPr/>
        </p:nvSpPr>
        <p:spPr>
          <a:xfrm>
            <a:off x="822960" y="3749040"/>
            <a:ext cx="2996184" cy="594360"/>
          </a:xfrm>
          <a:prstGeom prst="rect">
            <a:avLst/>
          </a:prstGeom>
          <a:noFill/>
        </p:spPr>
        <p:txBody>
          <a:bodyPr wrap="square" lIns="0" tIns="0" rIns="0" bIns="0" rtlCol="0" anchor="ctr"/>
          <a:lstStyle/>
          <a:p>
            <a:pPr marL="0" indent="0" algn="ctr">
              <a:buNone/>
            </a:pPr>
            <a:r>
              <a:rPr lang="en-US" sz="1600" b="1" dirty="0">
                <a:solidFill>
                  <a:schemeClr val="bg1"/>
                </a:solidFill>
              </a:rPr>
              <a:t>Cancellers: −3.1%</a:t>
            </a:r>
            <a:endParaRPr lang="en-US" sz="1600" dirty="0"/>
          </a:p>
        </p:txBody>
      </p:sp>
      <p:sp>
        <p:nvSpPr>
          <p:cNvPr id="12" name="compare-card"/>
          <p:cNvSpPr/>
          <p:nvPr/>
        </p:nvSpPr>
        <p:spPr>
          <a:xfrm>
            <a:off x="4322064" y="1783080"/>
            <a:ext cx="3544824" cy="2834640"/>
          </a:xfrm>
          <a:prstGeom prst="roundRect">
            <a:avLst>
              <a:gd name="adj" fmla="val 3871"/>
            </a:avLst>
          </a:prstGeom>
          <a:solidFill>
            <a:schemeClr val="bg2"/>
          </a:solidFill>
        </p:spPr>
      </p:sp>
      <p:sp>
        <p:nvSpPr>
          <p:cNvPr id="13" name="Text 11"/>
          <p:cNvSpPr txBox="1"/>
          <p:nvPr/>
        </p:nvSpPr>
        <p:spPr>
          <a:xfrm>
            <a:off x="4596384" y="1965960"/>
            <a:ext cx="2996184" cy="365760"/>
          </a:xfrm>
          <a:prstGeom prst="rect">
            <a:avLst/>
          </a:prstGeom>
          <a:noFill/>
        </p:spPr>
        <p:txBody>
          <a:bodyPr wrap="square" lIns="0" tIns="0" rIns="0" bIns="0" rtlCol="0" anchor="t"/>
          <a:lstStyle/>
          <a:p>
            <a:pPr marL="0" indent="0">
              <a:buNone/>
            </a:pPr>
            <a:r>
              <a:rPr lang="en-US" sz="1800" b="1" dirty="0">
                <a:solidFill>
                  <a:schemeClr val="accent1"/>
                </a:solidFill>
              </a:rPr>
              <a:t>Avg watch hours</a:t>
            </a:r>
            <a:endParaRPr lang="en-US" sz="1800" dirty="0"/>
          </a:p>
        </p:txBody>
      </p:sp>
      <p:sp>
        <p:nvSpPr>
          <p:cNvPr id="14" name="Text 12"/>
          <p:cNvSpPr txBox="1"/>
          <p:nvPr/>
        </p:nvSpPr>
        <p:spPr>
          <a:xfrm>
            <a:off x="4596384" y="2514600"/>
            <a:ext cx="1554480" cy="640080"/>
          </a:xfrm>
          <a:prstGeom prst="rect">
            <a:avLst/>
          </a:prstGeom>
          <a:noFill/>
        </p:spPr>
        <p:txBody>
          <a:bodyPr wrap="square" lIns="0" tIns="0" rIns="0" bIns="0" rtlCol="0" anchor="ctr"/>
          <a:lstStyle/>
          <a:p>
            <a:pPr marL="0" indent="0">
              <a:buNone/>
            </a:pPr>
            <a:r>
              <a:rPr lang="en-US" sz="3000" b="1" dirty="0">
                <a:solidFill>
                  <a:schemeClr val="accent1"/>
                </a:solidFill>
              </a:rPr>
              <a:t>100.86</a:t>
            </a:r>
            <a:endParaRPr lang="en-US" sz="3000" dirty="0"/>
          </a:p>
        </p:txBody>
      </p:sp>
      <p:sp>
        <p:nvSpPr>
          <p:cNvPr id="15" name="Text 13"/>
          <p:cNvSpPr txBox="1"/>
          <p:nvPr/>
        </p:nvSpPr>
        <p:spPr>
          <a:xfrm>
            <a:off x="4596384" y="3154680"/>
            <a:ext cx="1554480" cy="274320"/>
          </a:xfrm>
          <a:prstGeom prst="rect">
            <a:avLst/>
          </a:prstGeom>
          <a:noFill/>
        </p:spPr>
        <p:txBody>
          <a:bodyPr wrap="square" lIns="0" tIns="0" rIns="0" bIns="0" rtlCol="0" anchor="t"/>
          <a:lstStyle/>
          <a:p>
            <a:pPr marL="0" indent="0">
              <a:buNone/>
            </a:pPr>
            <a:r>
              <a:rPr lang="en-US" sz="1300" dirty="0">
                <a:solidFill>
                  <a:schemeClr val="tx1"/>
                </a:solidFill>
              </a:rPr>
              <a:t>Renewed</a:t>
            </a:r>
            <a:endParaRPr lang="en-US" sz="1300" dirty="0"/>
          </a:p>
        </p:txBody>
      </p:sp>
      <p:sp>
        <p:nvSpPr>
          <p:cNvPr id="16" name="Text 14"/>
          <p:cNvSpPr txBox="1"/>
          <p:nvPr/>
        </p:nvSpPr>
        <p:spPr>
          <a:xfrm>
            <a:off x="6242304" y="2514600"/>
            <a:ext cx="1554480" cy="640080"/>
          </a:xfrm>
          <a:prstGeom prst="rect">
            <a:avLst/>
          </a:prstGeom>
          <a:noFill/>
        </p:spPr>
        <p:txBody>
          <a:bodyPr wrap="square" lIns="0" tIns="0" rIns="0" bIns="0" rtlCol="0" anchor="ctr"/>
          <a:lstStyle/>
          <a:p>
            <a:pPr marL="0" indent="0">
              <a:buNone/>
            </a:pPr>
            <a:r>
              <a:rPr lang="en-US" sz="3000" b="1" dirty="0">
                <a:solidFill>
                  <a:schemeClr val="accent2"/>
                </a:solidFill>
              </a:rPr>
              <a:t>97.70</a:t>
            </a:r>
            <a:endParaRPr lang="en-US" sz="3000" dirty="0"/>
          </a:p>
        </p:txBody>
      </p:sp>
      <p:sp>
        <p:nvSpPr>
          <p:cNvPr id="17" name="Text 15"/>
          <p:cNvSpPr txBox="1"/>
          <p:nvPr/>
        </p:nvSpPr>
        <p:spPr>
          <a:xfrm>
            <a:off x="6242304" y="3154680"/>
            <a:ext cx="1554480" cy="274320"/>
          </a:xfrm>
          <a:prstGeom prst="rect">
            <a:avLst/>
          </a:prstGeom>
          <a:noFill/>
        </p:spPr>
        <p:txBody>
          <a:bodyPr wrap="square" lIns="0" tIns="0" rIns="0" bIns="0" rtlCol="0" anchor="t"/>
          <a:lstStyle/>
          <a:p>
            <a:pPr marL="0" indent="0">
              <a:buNone/>
            </a:pPr>
            <a:r>
              <a:rPr lang="en-US" sz="1300" dirty="0">
                <a:solidFill>
                  <a:schemeClr val="tx1"/>
                </a:solidFill>
              </a:rPr>
              <a:t>Cancelled</a:t>
            </a:r>
            <a:endParaRPr lang="en-US" sz="1300" dirty="0"/>
          </a:p>
        </p:txBody>
      </p:sp>
      <p:sp>
        <p:nvSpPr>
          <p:cNvPr id="18" name="delta-chip"/>
          <p:cNvSpPr/>
          <p:nvPr/>
        </p:nvSpPr>
        <p:spPr>
          <a:xfrm>
            <a:off x="4596384" y="3749040"/>
            <a:ext cx="2996184" cy="594360"/>
          </a:xfrm>
          <a:prstGeom prst="roundRect">
            <a:avLst>
              <a:gd name="adj" fmla="val 15385"/>
            </a:avLst>
          </a:prstGeom>
          <a:solidFill>
            <a:schemeClr val="accent1"/>
          </a:solidFill>
        </p:spPr>
      </p:sp>
      <p:sp>
        <p:nvSpPr>
          <p:cNvPr id="19" name="Text 17"/>
          <p:cNvSpPr txBox="1"/>
          <p:nvPr/>
        </p:nvSpPr>
        <p:spPr>
          <a:xfrm>
            <a:off x="4596384" y="3749040"/>
            <a:ext cx="2996184" cy="594360"/>
          </a:xfrm>
          <a:prstGeom prst="rect">
            <a:avLst/>
          </a:prstGeom>
          <a:noFill/>
        </p:spPr>
        <p:txBody>
          <a:bodyPr wrap="square" lIns="0" tIns="0" rIns="0" bIns="0" rtlCol="0" anchor="ctr"/>
          <a:lstStyle/>
          <a:p>
            <a:pPr marL="0" indent="0" algn="ctr">
              <a:buNone/>
            </a:pPr>
            <a:r>
              <a:rPr lang="en-US" sz="1600" b="1" dirty="0">
                <a:solidFill>
                  <a:schemeClr val="bg1"/>
                </a:solidFill>
              </a:rPr>
              <a:t>Cancellers: −3.1%</a:t>
            </a:r>
            <a:endParaRPr lang="en-US" sz="1600" dirty="0"/>
          </a:p>
        </p:txBody>
      </p:sp>
      <p:sp>
        <p:nvSpPr>
          <p:cNvPr id="20" name="compare-card"/>
          <p:cNvSpPr/>
          <p:nvPr/>
        </p:nvSpPr>
        <p:spPr>
          <a:xfrm>
            <a:off x="8095488" y="1783080"/>
            <a:ext cx="3544824" cy="2834640"/>
          </a:xfrm>
          <a:prstGeom prst="roundRect">
            <a:avLst>
              <a:gd name="adj" fmla="val 3871"/>
            </a:avLst>
          </a:prstGeom>
          <a:solidFill>
            <a:schemeClr val="bg2"/>
          </a:solidFill>
        </p:spPr>
      </p:sp>
      <p:sp>
        <p:nvSpPr>
          <p:cNvPr id="21" name="Text 19"/>
          <p:cNvSpPr txBox="1"/>
          <p:nvPr/>
        </p:nvSpPr>
        <p:spPr>
          <a:xfrm>
            <a:off x="8369808" y="1965960"/>
            <a:ext cx="2996184" cy="365760"/>
          </a:xfrm>
          <a:prstGeom prst="rect">
            <a:avLst/>
          </a:prstGeom>
          <a:noFill/>
        </p:spPr>
        <p:txBody>
          <a:bodyPr wrap="square" lIns="0" tIns="0" rIns="0" bIns="0" rtlCol="0" anchor="t"/>
          <a:lstStyle/>
          <a:p>
            <a:pPr marL="0" indent="0">
              <a:buNone/>
            </a:pPr>
            <a:r>
              <a:rPr lang="en-US" sz="1800" b="1" dirty="0">
                <a:solidFill>
                  <a:schemeClr val="accent1"/>
                </a:solidFill>
              </a:rPr>
              <a:t>Avg % watched</a:t>
            </a:r>
            <a:endParaRPr lang="en-US" sz="1800" dirty="0"/>
          </a:p>
        </p:txBody>
      </p:sp>
      <p:sp>
        <p:nvSpPr>
          <p:cNvPr id="22" name="Text 20"/>
          <p:cNvSpPr txBox="1"/>
          <p:nvPr/>
        </p:nvSpPr>
        <p:spPr>
          <a:xfrm>
            <a:off x="8369808" y="2514600"/>
            <a:ext cx="1554480" cy="640080"/>
          </a:xfrm>
          <a:prstGeom prst="rect">
            <a:avLst/>
          </a:prstGeom>
          <a:noFill/>
        </p:spPr>
        <p:txBody>
          <a:bodyPr wrap="square" lIns="0" tIns="0" rIns="0" bIns="0" rtlCol="0" anchor="ctr"/>
          <a:lstStyle/>
          <a:p>
            <a:pPr marL="0" indent="0">
              <a:buNone/>
            </a:pPr>
            <a:r>
              <a:rPr lang="en-US" sz="3000" b="1" dirty="0">
                <a:solidFill>
                  <a:schemeClr val="accent1"/>
                </a:solidFill>
              </a:rPr>
              <a:t>87.82%</a:t>
            </a:r>
            <a:endParaRPr lang="en-US" sz="3000" dirty="0"/>
          </a:p>
        </p:txBody>
      </p:sp>
      <p:sp>
        <p:nvSpPr>
          <p:cNvPr id="23" name="Text 21"/>
          <p:cNvSpPr txBox="1"/>
          <p:nvPr/>
        </p:nvSpPr>
        <p:spPr>
          <a:xfrm>
            <a:off x="8369808" y="3154680"/>
            <a:ext cx="1554480" cy="274320"/>
          </a:xfrm>
          <a:prstGeom prst="rect">
            <a:avLst/>
          </a:prstGeom>
          <a:noFill/>
        </p:spPr>
        <p:txBody>
          <a:bodyPr wrap="square" lIns="0" tIns="0" rIns="0" bIns="0" rtlCol="0" anchor="t"/>
          <a:lstStyle/>
          <a:p>
            <a:pPr marL="0" indent="0">
              <a:buNone/>
            </a:pPr>
            <a:r>
              <a:rPr lang="en-US" sz="1300" dirty="0">
                <a:solidFill>
                  <a:schemeClr val="tx1"/>
                </a:solidFill>
              </a:rPr>
              <a:t>Renewed</a:t>
            </a:r>
            <a:endParaRPr lang="en-US" sz="1300" dirty="0"/>
          </a:p>
        </p:txBody>
      </p:sp>
      <p:sp>
        <p:nvSpPr>
          <p:cNvPr id="24" name="Text 22"/>
          <p:cNvSpPr txBox="1"/>
          <p:nvPr/>
        </p:nvSpPr>
        <p:spPr>
          <a:xfrm>
            <a:off x="10015728" y="2514600"/>
            <a:ext cx="1554480" cy="640080"/>
          </a:xfrm>
          <a:prstGeom prst="rect">
            <a:avLst/>
          </a:prstGeom>
          <a:noFill/>
        </p:spPr>
        <p:txBody>
          <a:bodyPr wrap="square" lIns="0" tIns="0" rIns="0" bIns="0" rtlCol="0" anchor="ctr"/>
          <a:lstStyle/>
          <a:p>
            <a:pPr marL="0" indent="0">
              <a:buNone/>
            </a:pPr>
            <a:r>
              <a:rPr lang="en-US" sz="3000" b="1" dirty="0">
                <a:solidFill>
                  <a:schemeClr val="accent2"/>
                </a:solidFill>
              </a:rPr>
              <a:t>87.75%</a:t>
            </a:r>
            <a:endParaRPr lang="en-US" sz="3000" dirty="0"/>
          </a:p>
        </p:txBody>
      </p:sp>
      <p:sp>
        <p:nvSpPr>
          <p:cNvPr id="25" name="Text 23"/>
          <p:cNvSpPr txBox="1"/>
          <p:nvPr/>
        </p:nvSpPr>
        <p:spPr>
          <a:xfrm>
            <a:off x="10015728" y="3154680"/>
            <a:ext cx="1554480" cy="274320"/>
          </a:xfrm>
          <a:prstGeom prst="rect">
            <a:avLst/>
          </a:prstGeom>
          <a:noFill/>
        </p:spPr>
        <p:txBody>
          <a:bodyPr wrap="square" lIns="0" tIns="0" rIns="0" bIns="0" rtlCol="0" anchor="t"/>
          <a:lstStyle/>
          <a:p>
            <a:pPr marL="0" indent="0">
              <a:buNone/>
            </a:pPr>
            <a:r>
              <a:rPr lang="en-US" sz="1300" dirty="0">
                <a:solidFill>
                  <a:schemeClr val="tx1"/>
                </a:solidFill>
              </a:rPr>
              <a:t>Cancelled</a:t>
            </a:r>
            <a:endParaRPr lang="en-US" sz="1300" dirty="0"/>
          </a:p>
        </p:txBody>
      </p:sp>
      <p:sp>
        <p:nvSpPr>
          <p:cNvPr id="26" name="delta-chip"/>
          <p:cNvSpPr/>
          <p:nvPr/>
        </p:nvSpPr>
        <p:spPr>
          <a:xfrm>
            <a:off x="8369808" y="3749040"/>
            <a:ext cx="2996184" cy="594360"/>
          </a:xfrm>
          <a:prstGeom prst="roundRect">
            <a:avLst>
              <a:gd name="adj" fmla="val 15385"/>
            </a:avLst>
          </a:prstGeom>
          <a:solidFill>
            <a:schemeClr val="accent1"/>
          </a:solidFill>
        </p:spPr>
      </p:sp>
      <p:sp>
        <p:nvSpPr>
          <p:cNvPr id="27" name="Text 25"/>
          <p:cNvSpPr txBox="1"/>
          <p:nvPr/>
        </p:nvSpPr>
        <p:spPr>
          <a:xfrm>
            <a:off x="8369808" y="3749040"/>
            <a:ext cx="2996184" cy="594360"/>
          </a:xfrm>
          <a:prstGeom prst="rect">
            <a:avLst/>
          </a:prstGeom>
          <a:noFill/>
        </p:spPr>
        <p:txBody>
          <a:bodyPr wrap="square" lIns="0" tIns="0" rIns="0" bIns="0" rtlCol="0" anchor="ctr"/>
          <a:lstStyle/>
          <a:p>
            <a:pPr marL="0" indent="0" algn="ctr">
              <a:buNone/>
            </a:pPr>
            <a:r>
              <a:rPr lang="en-US" sz="1600" b="1" dirty="0">
                <a:solidFill>
                  <a:schemeClr val="bg1"/>
                </a:solidFill>
              </a:rPr>
              <a:t>Cancellers: −0.1 pt</a:t>
            </a:r>
            <a:endParaRPr lang="en-US" sz="1600" dirty="0"/>
          </a:p>
        </p:txBody>
      </p:sp>
      <p:sp>
        <p:nvSpPr>
          <p:cNvPr id="28" name="implication-card"/>
          <p:cNvSpPr/>
          <p:nvPr/>
        </p:nvSpPr>
        <p:spPr>
          <a:xfrm>
            <a:off x="548640" y="4846320"/>
            <a:ext cx="11091672" cy="1371600"/>
          </a:xfrm>
          <a:prstGeom prst="roundRect">
            <a:avLst>
              <a:gd name="adj" fmla="val 8000"/>
            </a:avLst>
          </a:prstGeom>
          <a:solidFill>
            <a:schemeClr val="bg2"/>
          </a:solidFill>
        </p:spPr>
      </p:sp>
      <p:sp>
        <p:nvSpPr>
          <p:cNvPr id="29" name="badge"/>
          <p:cNvSpPr/>
          <p:nvPr/>
        </p:nvSpPr>
        <p:spPr>
          <a:xfrm>
            <a:off x="822960" y="5280660"/>
            <a:ext cx="548640" cy="548640"/>
          </a:xfrm>
          <a:prstGeom prst="ellipse">
            <a:avLst/>
          </a:prstGeom>
          <a:solidFill>
            <a:schemeClr val="accent1"/>
          </a:solidFill>
        </p:spPr>
      </p:sp>
      <p:sp>
        <p:nvSpPr>
          <p:cNvPr id="30" name="Text 28"/>
          <p:cNvSpPr txBox="1"/>
          <p:nvPr/>
        </p:nvSpPr>
        <p:spPr>
          <a:xfrm>
            <a:off x="822960" y="5280660"/>
            <a:ext cx="548640" cy="548640"/>
          </a:xfrm>
          <a:prstGeom prst="rect">
            <a:avLst/>
          </a:prstGeom>
          <a:noFill/>
        </p:spPr>
        <p:txBody>
          <a:bodyPr wrap="square" lIns="0" tIns="0" rIns="0" bIns="0" rtlCol="0" anchor="ctr"/>
          <a:lstStyle/>
          <a:p>
            <a:pPr marL="0" indent="0" algn="ctr">
              <a:buNone/>
            </a:pPr>
            <a:r>
              <a:rPr lang="en-US" sz="1800" b="1" dirty="0">
                <a:solidFill>
                  <a:schemeClr val="bg1"/>
                </a:solidFill>
              </a:rPr>
              <a:t>!</a:t>
            </a:r>
            <a:endParaRPr lang="en-US" sz="1800" dirty="0"/>
          </a:p>
        </p:txBody>
      </p:sp>
      <p:sp>
        <p:nvSpPr>
          <p:cNvPr id="31" name="Text 29"/>
          <p:cNvSpPr txBox="1"/>
          <p:nvPr/>
        </p:nvSpPr>
        <p:spPr>
          <a:xfrm>
            <a:off x="1645920" y="4937760"/>
            <a:ext cx="9784080" cy="1188720"/>
          </a:xfrm>
          <a:prstGeom prst="rect">
            <a:avLst/>
          </a:prstGeom>
          <a:noFill/>
        </p:spPr>
        <p:txBody>
          <a:bodyPr wrap="square" lIns="0" tIns="0" rIns="0" bIns="0" rtlCol="0" anchor="ctr"/>
          <a:lstStyle/>
          <a:p>
            <a:pPr marL="0" indent="0">
              <a:buNone/>
            </a:pPr>
            <a:r>
              <a:rPr lang="en-US" sz="1600" b="1" dirty="0">
                <a:solidFill>
                  <a:schemeClr val="accent1"/>
                </a:solidFill>
              </a:rPr>
              <a:t>Likely drivers sit outside viewing: </a:t>
            </a:r>
            <a:r>
              <a:rPr lang="en-US" sz="1600" dirty="0">
                <a:solidFill>
                  <a:schemeClr val="tx1"/>
                </a:solidFill>
              </a:rPr>
              <a:t>price, plan fit, billing issues or life events. The current data doesn't capture these, so exit reasons, tenure and payment history are the missing pieces.</a:t>
            </a:r>
            <a:endParaRPr lang="en-US" sz="1600" dirty="0"/>
          </a:p>
        </p:txBody>
      </p:sp>
      <p:sp>
        <p:nvSpPr>
          <p:cNvPr id="32"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1"/>
                </a:solidFill>
              </a:defRPr>
            </a:lvl1pPr>
          </a:lstStyle>
          <a:p>
            <a:pPr algn="l"/>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65760"/>
            <a:ext cx="11091672" cy="777240"/>
          </a:xfrm>
          <a:prstGeom prst="rect">
            <a:avLst/>
          </a:prstGeom>
          <a:noFill/>
        </p:spPr>
        <p:txBody>
          <a:bodyPr wrap="square" lIns="0" tIns="0" rIns="0" bIns="0" rtlCol="0" anchor="ctr"/>
          <a:lstStyle/>
          <a:p>
            <a:pPr marL="0" indent="0" algn="l">
              <a:buNone/>
            </a:pPr>
            <a:r>
              <a:rPr lang="en-US" sz="3400" b="1" dirty="0">
                <a:solidFill>
                  <a:schemeClr val="accent1"/>
                </a:solidFill>
              </a:rPr>
              <a:t>Cancellations stepped up after October 2024</a:t>
            </a:r>
            <a:endParaRPr lang="en-US" sz="3400" dirty="0"/>
          </a:p>
        </p:txBody>
      </p:sp>
      <p:sp>
        <p:nvSpPr>
          <p:cNvPr id="3" name="takeaway"/>
          <p:cNvSpPr txBox="1"/>
          <p:nvPr/>
        </p:nvSpPr>
        <p:spPr>
          <a:xfrm>
            <a:off x="548640" y="1143000"/>
            <a:ext cx="11091672" cy="457200"/>
          </a:xfrm>
          <a:prstGeom prst="rect">
            <a:avLst/>
          </a:prstGeom>
          <a:noFill/>
        </p:spPr>
        <p:txBody>
          <a:bodyPr wrap="square" lIns="0" tIns="0" rIns="0" bIns="0" rtlCol="0" anchor="t"/>
          <a:lstStyle/>
          <a:p>
            <a:pPr marL="0" indent="0">
              <a:buNone/>
            </a:pPr>
            <a:r>
              <a:rPr lang="en-US" sz="1800" dirty="0">
                <a:solidFill>
                  <a:schemeClr val="tx1"/>
                </a:solidFill>
              </a:rPr>
              <a:t>Monthly cancellations averaged ~5 before the October 2024 spike and ~9 since</a:t>
            </a:r>
            <a:endParaRPr lang="en-US" sz="1800" dirty="0"/>
          </a:p>
        </p:txBody>
      </p:sp>
      <p:graphicFrame>
        <p:nvGraphicFramePr>
          <p:cNvPr id="4" name="Chart 0"/>
          <p:cNvGraphicFramePr/>
          <p:nvPr/>
        </p:nvGraphicFramePr>
        <p:xfrm>
          <a:off x="548640" y="1783080"/>
          <a:ext cx="7315200" cy="4114800"/>
        </p:xfrm>
        <a:graphic>
          <a:graphicData uri="http://schemas.openxmlformats.org/drawingml/2006/chart">
            <c:chart xmlns:c="http://schemas.openxmlformats.org/drawingml/2006/chart" xmlns:r="http://schemas.openxmlformats.org/officeDocument/2006/relationships" r:id="rId1"/>
          </a:graphicData>
        </a:graphic>
      </p:graphicFrame>
      <p:sp>
        <p:nvSpPr>
          <p:cNvPr id="5" name="Text 2"/>
          <p:cNvSpPr txBox="1"/>
          <p:nvPr/>
        </p:nvSpPr>
        <p:spPr>
          <a:xfrm>
            <a:off x="548640" y="5943600"/>
            <a:ext cx="7315200" cy="274320"/>
          </a:xfrm>
          <a:prstGeom prst="rect">
            <a:avLst/>
          </a:prstGeom>
          <a:noFill/>
        </p:spPr>
        <p:txBody>
          <a:bodyPr wrap="square" lIns="0" tIns="0" rIns="0" bIns="0" rtlCol="0" anchor="t"/>
          <a:lstStyle/>
          <a:p>
            <a:pPr marL="0" indent="0">
              <a:buNone/>
            </a:pPr>
            <a:r>
              <a:rPr lang="en-US" sz="1100" dirty="0">
                <a:solidFill>
                  <a:schemeClr val="tx1"/>
                </a:solidFill>
              </a:rPr>
              <a:t>Monthly values read from the dashboard line chart; approximate.</a:t>
            </a:r>
            <a:endParaRPr lang="en-US" sz="1100" dirty="0"/>
          </a:p>
        </p:txBody>
      </p:sp>
      <p:sp>
        <p:nvSpPr>
          <p:cNvPr id="6" name="stat-card"/>
          <p:cNvSpPr/>
          <p:nvPr/>
        </p:nvSpPr>
        <p:spPr>
          <a:xfrm>
            <a:off x="8183880" y="1783080"/>
            <a:ext cx="3456432" cy="1325880"/>
          </a:xfrm>
          <a:prstGeom prst="roundRect">
            <a:avLst>
              <a:gd name="adj" fmla="val 8276"/>
            </a:avLst>
          </a:prstGeom>
          <a:solidFill>
            <a:schemeClr val="accent1"/>
          </a:solidFill>
        </p:spPr>
      </p:sp>
      <p:sp>
        <p:nvSpPr>
          <p:cNvPr id="7" name="Text 4"/>
          <p:cNvSpPr txBox="1"/>
          <p:nvPr/>
        </p:nvSpPr>
        <p:spPr>
          <a:xfrm>
            <a:off x="8412480" y="1947672"/>
            <a:ext cx="2999232" cy="596646"/>
          </a:xfrm>
          <a:prstGeom prst="rect">
            <a:avLst/>
          </a:prstGeom>
          <a:noFill/>
        </p:spPr>
        <p:txBody>
          <a:bodyPr wrap="square" lIns="0" tIns="0" rIns="0" bIns="0" rtlCol="0" anchor="ctr"/>
          <a:lstStyle/>
          <a:p>
            <a:pPr marL="0" indent="0">
              <a:buNone/>
            </a:pPr>
            <a:r>
              <a:rPr lang="en-US" sz="3200" b="1" dirty="0">
                <a:solidFill>
                  <a:schemeClr val="bg1"/>
                </a:solidFill>
              </a:rPr>
              <a:t>15</a:t>
            </a:r>
            <a:endParaRPr lang="en-US" sz="3200" dirty="0"/>
          </a:p>
        </p:txBody>
      </p:sp>
      <p:sp>
        <p:nvSpPr>
          <p:cNvPr id="8" name="Text 5"/>
          <p:cNvSpPr txBox="1"/>
          <p:nvPr/>
        </p:nvSpPr>
        <p:spPr>
          <a:xfrm>
            <a:off x="8412480" y="2562606"/>
            <a:ext cx="2999232" cy="454914"/>
          </a:xfrm>
          <a:prstGeom prst="rect">
            <a:avLst/>
          </a:prstGeom>
          <a:noFill/>
        </p:spPr>
        <p:txBody>
          <a:bodyPr wrap="square" lIns="0" tIns="0" rIns="0" bIns="0" rtlCol="0" anchor="t"/>
          <a:lstStyle/>
          <a:p>
            <a:pPr marL="0" indent="0">
              <a:buNone/>
            </a:pPr>
            <a:r>
              <a:rPr lang="en-US" sz="1400" dirty="0">
                <a:solidFill>
                  <a:schemeClr val="bg1"/>
                </a:solidFill>
              </a:rPr>
              <a:t>cancellations at the Oct 2024 peak</a:t>
            </a:r>
            <a:endParaRPr lang="en-US" sz="1400" dirty="0"/>
          </a:p>
        </p:txBody>
      </p:sp>
      <p:sp>
        <p:nvSpPr>
          <p:cNvPr id="9" name="stat-card"/>
          <p:cNvSpPr/>
          <p:nvPr/>
        </p:nvSpPr>
        <p:spPr>
          <a:xfrm>
            <a:off x="8183880" y="3337560"/>
            <a:ext cx="3456432" cy="1325880"/>
          </a:xfrm>
          <a:prstGeom prst="roundRect">
            <a:avLst>
              <a:gd name="adj" fmla="val 8276"/>
            </a:avLst>
          </a:prstGeom>
          <a:solidFill>
            <a:schemeClr val="bg2"/>
          </a:solidFill>
        </p:spPr>
      </p:sp>
      <p:sp>
        <p:nvSpPr>
          <p:cNvPr id="10" name="Text 7"/>
          <p:cNvSpPr txBox="1"/>
          <p:nvPr/>
        </p:nvSpPr>
        <p:spPr>
          <a:xfrm>
            <a:off x="8412480" y="3502152"/>
            <a:ext cx="2999232" cy="596646"/>
          </a:xfrm>
          <a:prstGeom prst="rect">
            <a:avLst/>
          </a:prstGeom>
          <a:noFill/>
        </p:spPr>
        <p:txBody>
          <a:bodyPr wrap="square" lIns="0" tIns="0" rIns="0" bIns="0" rtlCol="0" anchor="ctr"/>
          <a:lstStyle/>
          <a:p>
            <a:pPr marL="0" indent="0">
              <a:buNone/>
            </a:pPr>
            <a:r>
              <a:rPr lang="en-US" sz="2800" b="1" dirty="0">
                <a:solidFill>
                  <a:schemeClr val="accent1"/>
                </a:solidFill>
              </a:rPr>
              <a:t>~5 → ~9</a:t>
            </a:r>
            <a:endParaRPr lang="en-US" sz="2800" dirty="0"/>
          </a:p>
        </p:txBody>
      </p:sp>
      <p:sp>
        <p:nvSpPr>
          <p:cNvPr id="11" name="Text 8"/>
          <p:cNvSpPr txBox="1"/>
          <p:nvPr/>
        </p:nvSpPr>
        <p:spPr>
          <a:xfrm>
            <a:off x="8412480" y="4117086"/>
            <a:ext cx="2999232" cy="454914"/>
          </a:xfrm>
          <a:prstGeom prst="rect">
            <a:avLst/>
          </a:prstGeom>
          <a:noFill/>
        </p:spPr>
        <p:txBody>
          <a:bodyPr wrap="square" lIns="0" tIns="0" rIns="0" bIns="0" rtlCol="0" anchor="t"/>
          <a:lstStyle/>
          <a:p>
            <a:pPr marL="0" indent="0">
              <a:buNone/>
            </a:pPr>
            <a:r>
              <a:rPr lang="en-US" sz="1400" dirty="0">
                <a:solidFill>
                  <a:schemeClr val="tx1"/>
                </a:solidFill>
              </a:rPr>
              <a:t>avg per month: Apr–Sep 2024 vs Oct 2024–Sep 2025</a:t>
            </a:r>
            <a:endParaRPr lang="en-US" sz="1400" dirty="0"/>
          </a:p>
        </p:txBody>
      </p:sp>
      <p:sp>
        <p:nvSpPr>
          <p:cNvPr id="12" name="hypothesis-card"/>
          <p:cNvSpPr/>
          <p:nvPr/>
        </p:nvSpPr>
        <p:spPr>
          <a:xfrm>
            <a:off x="8183880" y="4892040"/>
            <a:ext cx="3456432" cy="1325880"/>
          </a:xfrm>
          <a:prstGeom prst="roundRect">
            <a:avLst>
              <a:gd name="adj" fmla="val 8276"/>
            </a:avLst>
          </a:prstGeom>
          <a:solidFill>
            <a:schemeClr val="bg2"/>
          </a:solidFill>
        </p:spPr>
      </p:sp>
      <p:sp>
        <p:nvSpPr>
          <p:cNvPr id="13" name="Text 10"/>
          <p:cNvSpPr txBox="1"/>
          <p:nvPr/>
        </p:nvSpPr>
        <p:spPr>
          <a:xfrm>
            <a:off x="8412480" y="4983480"/>
            <a:ext cx="3017520" cy="1143000"/>
          </a:xfrm>
          <a:prstGeom prst="rect">
            <a:avLst/>
          </a:prstGeom>
          <a:noFill/>
        </p:spPr>
        <p:txBody>
          <a:bodyPr wrap="square" lIns="0" tIns="0" rIns="0" bIns="0" rtlCol="0" anchor="ctr"/>
          <a:lstStyle/>
          <a:p>
            <a:pPr marL="0" indent="0">
              <a:buNone/>
            </a:pPr>
            <a:r>
              <a:rPr lang="en-US" sz="1400" b="1" dirty="0">
                <a:solidFill>
                  <a:schemeClr val="accent1"/>
                </a:solidFill>
              </a:rPr>
              <a:t>Hypothesis: </a:t>
            </a:r>
            <a:r>
              <a:rPr lang="en-US" sz="1400" dirty="0">
                <a:solidFill>
                  <a:schemeClr val="tx1"/>
                </a:solidFill>
              </a:rPr>
              <a:t>cancellations began ~12 months after acquisition tracking started, consistent with annual renewal decisions.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1"/>
                </a:solidFill>
              </a:defRPr>
            </a:lvl1pPr>
          </a:lstStyle>
          <a:p>
            <a:pPr algn="l"/>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65760"/>
            <a:ext cx="11091672" cy="777240"/>
          </a:xfrm>
          <a:prstGeom prst="rect">
            <a:avLst/>
          </a:prstGeom>
          <a:noFill/>
        </p:spPr>
        <p:txBody>
          <a:bodyPr wrap="square" lIns="0" tIns="0" rIns="0" bIns="0" rtlCol="0" anchor="ctr"/>
          <a:lstStyle/>
          <a:p>
            <a:pPr marL="0" indent="0" algn="l">
              <a:buNone/>
            </a:pPr>
            <a:r>
              <a:rPr lang="en-US" sz="3400" b="1" dirty="0">
                <a:solidFill>
                  <a:schemeClr val="accent1"/>
                </a:solidFill>
              </a:rPr>
              <a:t>Recommendations</a:t>
            </a:r>
            <a:endParaRPr lang="en-US" sz="3400" dirty="0"/>
          </a:p>
        </p:txBody>
      </p:sp>
      <p:sp>
        <p:nvSpPr>
          <p:cNvPr id="3" name="takeaway"/>
          <p:cNvSpPr txBox="1"/>
          <p:nvPr/>
        </p:nvSpPr>
        <p:spPr>
          <a:xfrm>
            <a:off x="548640" y="1143000"/>
            <a:ext cx="11091672" cy="457200"/>
          </a:xfrm>
          <a:prstGeom prst="rect">
            <a:avLst/>
          </a:prstGeom>
          <a:noFill/>
        </p:spPr>
        <p:txBody>
          <a:bodyPr wrap="square" lIns="0" tIns="0" rIns="0" bIns="0" rtlCol="0" anchor="t"/>
          <a:lstStyle/>
          <a:p>
            <a:pPr marL="0" indent="0">
              <a:buNone/>
            </a:pPr>
            <a:r>
              <a:rPr lang="en-US" sz="1800" dirty="0">
                <a:solidFill>
                  <a:schemeClr val="tx1"/>
                </a:solidFill>
              </a:rPr>
              <a:t>Four moves to protect revenue, deepen engagement and put the catalogue to work</a:t>
            </a:r>
            <a:endParaRPr lang="en-US" sz="1800" dirty="0"/>
          </a:p>
        </p:txBody>
      </p:sp>
      <p:sp>
        <p:nvSpPr>
          <p:cNvPr id="4" name="rec-card"/>
          <p:cNvSpPr/>
          <p:nvPr/>
        </p:nvSpPr>
        <p:spPr>
          <a:xfrm>
            <a:off x="548640" y="1783080"/>
            <a:ext cx="2601468" cy="3611880"/>
          </a:xfrm>
          <a:prstGeom prst="roundRect">
            <a:avLst>
              <a:gd name="adj" fmla="val 4218"/>
            </a:avLst>
          </a:prstGeom>
          <a:solidFill>
            <a:schemeClr val="bg2"/>
          </a:solidFill>
        </p:spPr>
      </p:sp>
      <p:sp>
        <p:nvSpPr>
          <p:cNvPr id="5" name="badge"/>
          <p:cNvSpPr/>
          <p:nvPr/>
        </p:nvSpPr>
        <p:spPr>
          <a:xfrm>
            <a:off x="777240" y="1965960"/>
            <a:ext cx="502920" cy="502920"/>
          </a:xfrm>
          <a:prstGeom prst="ellipse">
            <a:avLst/>
          </a:prstGeom>
          <a:solidFill>
            <a:schemeClr val="accent1"/>
          </a:solidFill>
        </p:spPr>
      </p:sp>
      <p:sp>
        <p:nvSpPr>
          <p:cNvPr id="6" name="Text 4"/>
          <p:cNvSpPr txBox="1"/>
          <p:nvPr/>
        </p:nvSpPr>
        <p:spPr>
          <a:xfrm>
            <a:off x="777240" y="1965960"/>
            <a:ext cx="502920" cy="502920"/>
          </a:xfrm>
          <a:prstGeom prst="rect">
            <a:avLst/>
          </a:prstGeom>
          <a:noFill/>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5"/>
          <p:cNvSpPr txBox="1"/>
          <p:nvPr/>
        </p:nvSpPr>
        <p:spPr>
          <a:xfrm>
            <a:off x="777240" y="2606040"/>
            <a:ext cx="2144268" cy="685800"/>
          </a:xfrm>
          <a:prstGeom prst="rect">
            <a:avLst/>
          </a:prstGeom>
          <a:noFill/>
        </p:spPr>
        <p:txBody>
          <a:bodyPr wrap="square" lIns="0" tIns="0" rIns="0" bIns="0" rtlCol="0" anchor="t"/>
          <a:lstStyle/>
          <a:p>
            <a:pPr marL="0" indent="0">
              <a:buNone/>
            </a:pPr>
            <a:r>
              <a:rPr lang="en-US" sz="1900" b="1" dirty="0">
                <a:solidFill>
                  <a:schemeClr val="accent1"/>
                </a:solidFill>
              </a:rPr>
              <a:t>Curate the catalogue</a:t>
            </a:r>
            <a:endParaRPr lang="en-US" sz="1900" dirty="0"/>
          </a:p>
        </p:txBody>
      </p:sp>
      <p:sp>
        <p:nvSpPr>
          <p:cNvPr id="8" name="Text 6"/>
          <p:cNvSpPr txBox="1"/>
          <p:nvPr/>
        </p:nvSpPr>
        <p:spPr>
          <a:xfrm>
            <a:off x="777240" y="3337560"/>
            <a:ext cx="2144268" cy="1965960"/>
          </a:xfrm>
          <a:prstGeom prst="rect">
            <a:avLst/>
          </a:prstGeom>
          <a:noFill/>
        </p:spPr>
        <p:txBody>
          <a:bodyPr wrap="square" lIns="0" tIns="0" rIns="0" bIns="0" rtlCol="0" anchor="t"/>
          <a:lstStyle/>
          <a:p>
            <a:pPr marL="0" indent="0">
              <a:buNone/>
            </a:pPr>
            <a:r>
              <a:rPr lang="en-US" sz="1400" dirty="0">
                <a:solidFill>
                  <a:schemeClr val="tx1"/>
                </a:solidFill>
              </a:rPr>
              <a:t>Audit the 261 unwatched titles: promote, bundle or retire them at licence renewal. Reinvest in Drama, Comedy and Action, which drive hours and repeat viewing.</a:t>
            </a:r>
            <a:endParaRPr lang="en-US" sz="1400" dirty="0"/>
          </a:p>
        </p:txBody>
      </p:sp>
      <p:sp>
        <p:nvSpPr>
          <p:cNvPr id="9" name="rec-card"/>
          <p:cNvSpPr/>
          <p:nvPr/>
        </p:nvSpPr>
        <p:spPr>
          <a:xfrm>
            <a:off x="3378708" y="1783080"/>
            <a:ext cx="2601468" cy="3611880"/>
          </a:xfrm>
          <a:prstGeom prst="roundRect">
            <a:avLst>
              <a:gd name="adj" fmla="val 4218"/>
            </a:avLst>
          </a:prstGeom>
          <a:solidFill>
            <a:schemeClr val="bg2"/>
          </a:solidFill>
        </p:spPr>
      </p:sp>
      <p:sp>
        <p:nvSpPr>
          <p:cNvPr id="10" name="badge"/>
          <p:cNvSpPr/>
          <p:nvPr/>
        </p:nvSpPr>
        <p:spPr>
          <a:xfrm>
            <a:off x="3607308" y="1965960"/>
            <a:ext cx="502920" cy="502920"/>
          </a:xfrm>
          <a:prstGeom prst="ellipse">
            <a:avLst/>
          </a:prstGeom>
          <a:solidFill>
            <a:schemeClr val="accent1"/>
          </a:solidFill>
        </p:spPr>
      </p:sp>
      <p:sp>
        <p:nvSpPr>
          <p:cNvPr id="11" name="Text 9"/>
          <p:cNvSpPr txBox="1"/>
          <p:nvPr/>
        </p:nvSpPr>
        <p:spPr>
          <a:xfrm>
            <a:off x="3607308" y="1965960"/>
            <a:ext cx="502920" cy="502920"/>
          </a:xfrm>
          <a:prstGeom prst="rect">
            <a:avLst/>
          </a:prstGeom>
          <a:noFill/>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3607308" y="2606040"/>
            <a:ext cx="2144268" cy="685800"/>
          </a:xfrm>
          <a:prstGeom prst="rect">
            <a:avLst/>
          </a:prstGeom>
          <a:noFill/>
        </p:spPr>
        <p:txBody>
          <a:bodyPr wrap="square" lIns="0" tIns="0" rIns="0" bIns="0" rtlCol="0" anchor="t"/>
          <a:lstStyle/>
          <a:p>
            <a:pPr marL="0" indent="0">
              <a:buNone/>
            </a:pPr>
            <a:r>
              <a:rPr lang="en-US" sz="1900" b="1" dirty="0">
                <a:solidFill>
                  <a:schemeClr val="accent1"/>
                </a:solidFill>
              </a:rPr>
              <a:t>Fix the finish line</a:t>
            </a:r>
            <a:endParaRPr lang="en-US" sz="1900" dirty="0"/>
          </a:p>
        </p:txBody>
      </p:sp>
      <p:sp>
        <p:nvSpPr>
          <p:cNvPr id="13" name="Text 11"/>
          <p:cNvSpPr txBox="1"/>
          <p:nvPr/>
        </p:nvSpPr>
        <p:spPr>
          <a:xfrm>
            <a:off x="3607308" y="3337560"/>
            <a:ext cx="2144268" cy="1965960"/>
          </a:xfrm>
          <a:prstGeom prst="rect">
            <a:avLst/>
          </a:prstGeom>
          <a:noFill/>
        </p:spPr>
        <p:txBody>
          <a:bodyPr wrap="square" lIns="0" tIns="0" rIns="0" bIns="0" rtlCol="0" anchor="t"/>
          <a:lstStyle/>
          <a:p>
            <a:pPr marL="0" indent="0">
              <a:buNone/>
            </a:pPr>
            <a:r>
              <a:rPr lang="en-US" sz="1400" dirty="0">
                <a:solidFill>
                  <a:schemeClr val="tx1"/>
                </a:solidFill>
              </a:rPr>
              <a:t>Confirm how completion is defined, then map where viewers drop off. Test resume and next-up prompts, starting with Documentary, Action and Horror.</a:t>
            </a:r>
            <a:endParaRPr lang="en-US" sz="1400" dirty="0"/>
          </a:p>
        </p:txBody>
      </p:sp>
      <p:sp>
        <p:nvSpPr>
          <p:cNvPr id="14" name="rec-card"/>
          <p:cNvSpPr/>
          <p:nvPr/>
        </p:nvSpPr>
        <p:spPr>
          <a:xfrm>
            <a:off x="6208776" y="1783080"/>
            <a:ext cx="2601468" cy="3611880"/>
          </a:xfrm>
          <a:prstGeom prst="roundRect">
            <a:avLst>
              <a:gd name="adj" fmla="val 4218"/>
            </a:avLst>
          </a:prstGeom>
          <a:solidFill>
            <a:schemeClr val="bg2"/>
          </a:solidFill>
        </p:spPr>
      </p:sp>
      <p:sp>
        <p:nvSpPr>
          <p:cNvPr id="15" name="badge"/>
          <p:cNvSpPr/>
          <p:nvPr/>
        </p:nvSpPr>
        <p:spPr>
          <a:xfrm>
            <a:off x="6437376" y="1965960"/>
            <a:ext cx="502920" cy="502920"/>
          </a:xfrm>
          <a:prstGeom prst="ellipse">
            <a:avLst/>
          </a:prstGeom>
          <a:solidFill>
            <a:schemeClr val="accent1"/>
          </a:solidFill>
        </p:spPr>
      </p:sp>
      <p:sp>
        <p:nvSpPr>
          <p:cNvPr id="16" name="Text 14"/>
          <p:cNvSpPr txBox="1"/>
          <p:nvPr/>
        </p:nvSpPr>
        <p:spPr>
          <a:xfrm>
            <a:off x="6437376" y="1965960"/>
            <a:ext cx="502920" cy="502920"/>
          </a:xfrm>
          <a:prstGeom prst="rect">
            <a:avLst/>
          </a:prstGeom>
          <a:noFill/>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5"/>
          <p:cNvSpPr txBox="1"/>
          <p:nvPr/>
        </p:nvSpPr>
        <p:spPr>
          <a:xfrm>
            <a:off x="6437376" y="2606040"/>
            <a:ext cx="2144268" cy="685800"/>
          </a:xfrm>
          <a:prstGeom prst="rect">
            <a:avLst/>
          </a:prstGeom>
          <a:noFill/>
        </p:spPr>
        <p:txBody>
          <a:bodyPr wrap="square" lIns="0" tIns="0" rIns="0" bIns="0" rtlCol="0" anchor="t"/>
          <a:lstStyle/>
          <a:p>
            <a:pPr marL="0" indent="0">
              <a:buNone/>
            </a:pPr>
            <a:r>
              <a:rPr lang="en-US" sz="1900" b="1" dirty="0">
                <a:solidFill>
                  <a:schemeClr val="accent1"/>
                </a:solidFill>
              </a:rPr>
              <a:t>Build a retention playbook</a:t>
            </a:r>
            <a:endParaRPr lang="en-US" sz="1900" dirty="0"/>
          </a:p>
        </p:txBody>
      </p:sp>
      <p:sp>
        <p:nvSpPr>
          <p:cNvPr id="18" name="Text 16"/>
          <p:cNvSpPr txBox="1"/>
          <p:nvPr/>
        </p:nvSpPr>
        <p:spPr>
          <a:xfrm>
            <a:off x="6437376" y="3337560"/>
            <a:ext cx="2144268" cy="1965960"/>
          </a:xfrm>
          <a:prstGeom prst="rect">
            <a:avLst/>
          </a:prstGeom>
          <a:noFill/>
        </p:spPr>
        <p:txBody>
          <a:bodyPr wrap="square" lIns="0" tIns="0" rIns="0" bIns="0" rtlCol="0" anchor="t"/>
          <a:lstStyle/>
          <a:p>
            <a:pPr marL="0" indent="0">
              <a:buNone/>
            </a:pPr>
            <a:r>
              <a:rPr lang="en-US" sz="1400" dirty="0">
                <a:solidFill>
                  <a:schemeClr val="tx1"/>
                </a:solidFill>
              </a:rPr>
              <a:t>Add tenure, price, plan and payment data to the churn view. Run pre-renewal and win-back offers around the annual renewal point.</a:t>
            </a:r>
            <a:endParaRPr lang="en-US" sz="1400" dirty="0"/>
          </a:p>
        </p:txBody>
      </p:sp>
      <p:sp>
        <p:nvSpPr>
          <p:cNvPr id="19" name="rec-card"/>
          <p:cNvSpPr/>
          <p:nvPr/>
        </p:nvSpPr>
        <p:spPr>
          <a:xfrm>
            <a:off x="9038844" y="1783080"/>
            <a:ext cx="2601468" cy="3611880"/>
          </a:xfrm>
          <a:prstGeom prst="roundRect">
            <a:avLst>
              <a:gd name="adj" fmla="val 4218"/>
            </a:avLst>
          </a:prstGeom>
          <a:solidFill>
            <a:schemeClr val="bg2"/>
          </a:solidFill>
        </p:spPr>
      </p:sp>
      <p:sp>
        <p:nvSpPr>
          <p:cNvPr id="20" name="badge"/>
          <p:cNvSpPr/>
          <p:nvPr/>
        </p:nvSpPr>
        <p:spPr>
          <a:xfrm>
            <a:off x="9267444" y="1965960"/>
            <a:ext cx="502920" cy="502920"/>
          </a:xfrm>
          <a:prstGeom prst="ellipse">
            <a:avLst/>
          </a:prstGeom>
          <a:solidFill>
            <a:schemeClr val="accent1"/>
          </a:solidFill>
        </p:spPr>
      </p:sp>
      <p:sp>
        <p:nvSpPr>
          <p:cNvPr id="21" name="Text 19"/>
          <p:cNvSpPr txBox="1"/>
          <p:nvPr/>
        </p:nvSpPr>
        <p:spPr>
          <a:xfrm>
            <a:off x="9267444" y="1965960"/>
            <a:ext cx="502920" cy="502920"/>
          </a:xfrm>
          <a:prstGeom prst="rect">
            <a:avLst/>
          </a:prstGeom>
          <a:noFill/>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2" name="Text 20"/>
          <p:cNvSpPr txBox="1"/>
          <p:nvPr/>
        </p:nvSpPr>
        <p:spPr>
          <a:xfrm>
            <a:off x="9267444" y="2606040"/>
            <a:ext cx="2144268" cy="685800"/>
          </a:xfrm>
          <a:prstGeom prst="rect">
            <a:avLst/>
          </a:prstGeom>
          <a:noFill/>
        </p:spPr>
        <p:txBody>
          <a:bodyPr wrap="square" lIns="0" tIns="0" rIns="0" bIns="0" rtlCol="0" anchor="t"/>
          <a:lstStyle/>
          <a:p>
            <a:pPr marL="0" indent="0">
              <a:buNone/>
            </a:pPr>
            <a:r>
              <a:rPr lang="en-US" sz="1900" b="1" dirty="0">
                <a:solidFill>
                  <a:schemeClr val="accent1"/>
                </a:solidFill>
              </a:rPr>
              <a:t>Make Premium feel premium</a:t>
            </a:r>
            <a:endParaRPr lang="en-US" sz="1900" dirty="0"/>
          </a:p>
        </p:txBody>
      </p:sp>
      <p:sp>
        <p:nvSpPr>
          <p:cNvPr id="23" name="Text 21"/>
          <p:cNvSpPr txBox="1"/>
          <p:nvPr/>
        </p:nvSpPr>
        <p:spPr>
          <a:xfrm>
            <a:off x="9267444" y="3337560"/>
            <a:ext cx="2144268" cy="1965960"/>
          </a:xfrm>
          <a:prstGeom prst="rect">
            <a:avLst/>
          </a:prstGeom>
          <a:noFill/>
        </p:spPr>
        <p:txBody>
          <a:bodyPr wrap="square" lIns="0" tIns="0" rIns="0" bIns="0" rtlCol="0" anchor="t"/>
          <a:lstStyle/>
          <a:p>
            <a:pPr marL="0" indent="0">
              <a:buNone/>
            </a:pPr>
            <a:r>
              <a:rPr lang="en-US" sz="1400" dirty="0">
                <a:solidFill>
                  <a:schemeClr val="tx1"/>
                </a:solidFill>
              </a:rPr>
              <a:t>Add differentiating perks such as early access and exclusive titles, and track Premium sessions against Standard.</a:t>
            </a:r>
            <a:endParaRPr lang="en-US" sz="1400" dirty="0"/>
          </a:p>
        </p:txBody>
      </p:sp>
      <p:sp>
        <p:nvSpPr>
          <p:cNvPr id="24" name="growth-card"/>
          <p:cNvSpPr/>
          <p:nvPr/>
        </p:nvSpPr>
        <p:spPr>
          <a:xfrm>
            <a:off x="548640" y="5532120"/>
            <a:ext cx="11091672" cy="685800"/>
          </a:xfrm>
          <a:prstGeom prst="roundRect">
            <a:avLst>
              <a:gd name="adj" fmla="val 16000"/>
            </a:avLst>
          </a:prstGeom>
          <a:solidFill>
            <a:schemeClr val="bg2"/>
          </a:solidFill>
        </p:spPr>
      </p:sp>
      <p:sp>
        <p:nvSpPr>
          <p:cNvPr id="25" name="Text 23"/>
          <p:cNvSpPr txBox="1"/>
          <p:nvPr/>
        </p:nvSpPr>
        <p:spPr>
          <a:xfrm>
            <a:off x="777240" y="5532120"/>
            <a:ext cx="10652760" cy="685800"/>
          </a:xfrm>
          <a:prstGeom prst="rect">
            <a:avLst/>
          </a:prstGeom>
          <a:noFill/>
        </p:spPr>
        <p:txBody>
          <a:bodyPr wrap="square" lIns="0" tIns="0" rIns="0" bIns="0" rtlCol="0" anchor="ctr"/>
          <a:lstStyle/>
          <a:p>
            <a:pPr marL="0" indent="0">
              <a:buNone/>
            </a:pPr>
            <a:r>
              <a:rPr lang="en-US" sz="1500" b="1" dirty="0">
                <a:solidFill>
                  <a:schemeClr val="accent1"/>
                </a:solidFill>
              </a:rPr>
              <a:t>Also: </a:t>
            </a:r>
            <a:r>
              <a:rPr lang="en-US" sz="1500" dirty="0">
                <a:solidFill>
                  <a:schemeClr val="tx1"/>
                </a:solidFill>
              </a:rPr>
              <a:t>test acquisition for the under-represented 55+ and 45–54 segments, and keep marketing spend balanced across countries.</a:t>
            </a:r>
            <a:endParaRPr lang="en-US" sz="1500" dirty="0"/>
          </a:p>
        </p:txBody>
      </p:sp>
      <p:sp>
        <p:nvSpPr>
          <p:cNvPr id="26"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1"/>
                </a:solidFill>
              </a:defRPr>
            </a:lvl1pPr>
          </a:lstStyle>
          <a:p>
            <a:pPr algn="l"/>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65760"/>
            <a:ext cx="11091672" cy="777240"/>
          </a:xfrm>
          <a:prstGeom prst="rect">
            <a:avLst/>
          </a:prstGeom>
          <a:noFill/>
        </p:spPr>
        <p:txBody>
          <a:bodyPr wrap="square" lIns="0" tIns="0" rIns="0" bIns="0" rtlCol="0" anchor="ctr"/>
          <a:lstStyle/>
          <a:p>
            <a:pPr marL="0" indent="0" algn="l">
              <a:buNone/>
            </a:pPr>
            <a:r>
              <a:rPr lang="en-US" sz="3400" b="1" dirty="0">
                <a:solidFill>
                  <a:schemeClr val="accent1"/>
                </a:solidFill>
              </a:rPr>
              <a:t>Roadmap and success metrics</a:t>
            </a:r>
            <a:endParaRPr lang="en-US" sz="3400" dirty="0"/>
          </a:p>
        </p:txBody>
      </p:sp>
      <p:sp>
        <p:nvSpPr>
          <p:cNvPr id="3" name="takeaway"/>
          <p:cNvSpPr txBox="1"/>
          <p:nvPr/>
        </p:nvSpPr>
        <p:spPr>
          <a:xfrm>
            <a:off x="548640" y="1143000"/>
            <a:ext cx="11091672" cy="457200"/>
          </a:xfrm>
          <a:prstGeom prst="rect">
            <a:avLst/>
          </a:prstGeom>
          <a:noFill/>
        </p:spPr>
        <p:txBody>
          <a:bodyPr wrap="square" lIns="0" tIns="0" rIns="0" bIns="0" rtlCol="0" anchor="t"/>
          <a:lstStyle/>
          <a:p>
            <a:pPr marL="0" indent="0">
              <a:buNone/>
            </a:pPr>
            <a:r>
              <a:rPr lang="en-US" sz="1800" dirty="0">
                <a:solidFill>
                  <a:schemeClr val="tx1"/>
                </a:solidFill>
              </a:rPr>
              <a:t>Quick wins in 30 days, structural changes by day 90</a:t>
            </a:r>
            <a:endParaRPr lang="en-US" sz="1800" dirty="0"/>
          </a:p>
        </p:txBody>
      </p:sp>
      <p:sp>
        <p:nvSpPr>
          <p:cNvPr id="4" name="road-card"/>
          <p:cNvSpPr/>
          <p:nvPr/>
        </p:nvSpPr>
        <p:spPr>
          <a:xfrm>
            <a:off x="548640" y="1783080"/>
            <a:ext cx="3544824" cy="2103120"/>
          </a:xfrm>
          <a:prstGeom prst="roundRect">
            <a:avLst>
              <a:gd name="adj" fmla="val 5217"/>
            </a:avLst>
          </a:prstGeom>
          <a:solidFill>
            <a:schemeClr val="bg2"/>
          </a:solidFill>
        </p:spPr>
      </p:sp>
      <p:sp>
        <p:nvSpPr>
          <p:cNvPr id="5" name="badge"/>
          <p:cNvSpPr/>
          <p:nvPr/>
        </p:nvSpPr>
        <p:spPr>
          <a:xfrm>
            <a:off x="777240" y="1965960"/>
            <a:ext cx="457200" cy="457200"/>
          </a:xfrm>
          <a:prstGeom prst="ellipse">
            <a:avLst/>
          </a:prstGeom>
          <a:solidFill>
            <a:schemeClr val="accent1"/>
          </a:solidFill>
        </p:spPr>
      </p:sp>
      <p:sp>
        <p:nvSpPr>
          <p:cNvPr id="6" name="Text 4"/>
          <p:cNvSpPr txBox="1"/>
          <p:nvPr/>
        </p:nvSpPr>
        <p:spPr>
          <a:xfrm>
            <a:off x="777240" y="1965960"/>
            <a:ext cx="457200" cy="457200"/>
          </a:xfrm>
          <a:prstGeom prst="rect">
            <a:avLst/>
          </a:prstGeom>
          <a:noFill/>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5"/>
          <p:cNvSpPr txBox="1"/>
          <p:nvPr/>
        </p:nvSpPr>
        <p:spPr>
          <a:xfrm>
            <a:off x="1417320" y="1965960"/>
            <a:ext cx="2447544" cy="457200"/>
          </a:xfrm>
          <a:prstGeom prst="rect">
            <a:avLst/>
          </a:prstGeom>
          <a:noFill/>
        </p:spPr>
        <p:txBody>
          <a:bodyPr wrap="square" lIns="0" tIns="0" rIns="0" bIns="0" rtlCol="0" anchor="ctr"/>
          <a:lstStyle/>
          <a:p>
            <a:pPr marL="0" indent="0">
              <a:buNone/>
            </a:pPr>
            <a:r>
              <a:rPr lang="en-US" sz="2000" b="1" dirty="0">
                <a:solidFill>
                  <a:schemeClr val="accent1"/>
                </a:solidFill>
              </a:rPr>
              <a:t>Days 1–30</a:t>
            </a:r>
            <a:endParaRPr lang="en-US" sz="2000" dirty="0"/>
          </a:p>
        </p:txBody>
      </p:sp>
      <p:sp>
        <p:nvSpPr>
          <p:cNvPr id="8" name="Text 6"/>
          <p:cNvSpPr txBox="1"/>
          <p:nvPr/>
        </p:nvSpPr>
        <p:spPr>
          <a:xfrm>
            <a:off x="777240" y="2606040"/>
            <a:ext cx="3087624" cy="1188720"/>
          </a:xfrm>
          <a:prstGeom prst="rect">
            <a:avLst/>
          </a:prstGeom>
          <a:noFill/>
        </p:spPr>
        <p:txBody>
          <a:bodyPr wrap="square" lIns="0" tIns="0" rIns="0" bIns="0" rtlCol="0" anchor="t"/>
          <a:lstStyle/>
          <a:p>
            <a:pPr marL="0" indent="0">
              <a:buNone/>
            </a:pPr>
            <a:r>
              <a:rPr lang="en-US" sz="1400" dirty="0">
                <a:solidFill>
                  <a:schemeClr val="tx1"/>
                </a:solidFill>
              </a:rPr>
              <a:t>Validate the completion definition. Extend acquisition data and add price and tenure fields. Start the unwatched-title audit.</a:t>
            </a:r>
            <a:endParaRPr lang="en-US" sz="1400" dirty="0"/>
          </a:p>
        </p:txBody>
      </p:sp>
      <p:sp>
        <p:nvSpPr>
          <p:cNvPr id="9" name="road-card"/>
          <p:cNvSpPr/>
          <p:nvPr/>
        </p:nvSpPr>
        <p:spPr>
          <a:xfrm>
            <a:off x="4322064" y="1783080"/>
            <a:ext cx="3544824" cy="2103120"/>
          </a:xfrm>
          <a:prstGeom prst="roundRect">
            <a:avLst>
              <a:gd name="adj" fmla="val 5217"/>
            </a:avLst>
          </a:prstGeom>
          <a:solidFill>
            <a:schemeClr val="bg2"/>
          </a:solidFill>
        </p:spPr>
      </p:sp>
      <p:sp>
        <p:nvSpPr>
          <p:cNvPr id="10" name="badge"/>
          <p:cNvSpPr/>
          <p:nvPr/>
        </p:nvSpPr>
        <p:spPr>
          <a:xfrm>
            <a:off x="4550664" y="1965960"/>
            <a:ext cx="457200" cy="457200"/>
          </a:xfrm>
          <a:prstGeom prst="ellipse">
            <a:avLst/>
          </a:prstGeom>
          <a:solidFill>
            <a:schemeClr val="accent1"/>
          </a:solidFill>
        </p:spPr>
      </p:sp>
      <p:sp>
        <p:nvSpPr>
          <p:cNvPr id="11" name="Text 9"/>
          <p:cNvSpPr txBox="1"/>
          <p:nvPr/>
        </p:nvSpPr>
        <p:spPr>
          <a:xfrm>
            <a:off x="4550664" y="1965960"/>
            <a:ext cx="457200" cy="457200"/>
          </a:xfrm>
          <a:prstGeom prst="rect">
            <a:avLst/>
          </a:prstGeom>
          <a:noFill/>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5190744" y="1965960"/>
            <a:ext cx="2447544" cy="457200"/>
          </a:xfrm>
          <a:prstGeom prst="rect">
            <a:avLst/>
          </a:prstGeom>
          <a:noFill/>
        </p:spPr>
        <p:txBody>
          <a:bodyPr wrap="square" lIns="0" tIns="0" rIns="0" bIns="0" rtlCol="0" anchor="ctr"/>
          <a:lstStyle/>
          <a:p>
            <a:pPr marL="0" indent="0">
              <a:buNone/>
            </a:pPr>
            <a:r>
              <a:rPr lang="en-US" sz="2000" b="1" dirty="0">
                <a:solidFill>
                  <a:schemeClr val="accent1"/>
                </a:solidFill>
              </a:rPr>
              <a:t>Days 31–60</a:t>
            </a:r>
            <a:endParaRPr lang="en-US" sz="2000" dirty="0"/>
          </a:p>
        </p:txBody>
      </p:sp>
      <p:sp>
        <p:nvSpPr>
          <p:cNvPr id="13" name="Text 11"/>
          <p:cNvSpPr txBox="1"/>
          <p:nvPr/>
        </p:nvSpPr>
        <p:spPr>
          <a:xfrm>
            <a:off x="4550664" y="2606040"/>
            <a:ext cx="3087624" cy="1188720"/>
          </a:xfrm>
          <a:prstGeom prst="rect">
            <a:avLst/>
          </a:prstGeom>
          <a:noFill/>
        </p:spPr>
        <p:txBody>
          <a:bodyPr wrap="square" lIns="0" tIns="0" rIns="0" bIns="0" rtlCol="0" anchor="t"/>
          <a:lstStyle/>
          <a:p>
            <a:pPr marL="0" indent="0">
              <a:buNone/>
            </a:pPr>
            <a:r>
              <a:rPr lang="en-US" sz="1400" dirty="0">
                <a:solidFill>
                  <a:schemeClr val="tx1"/>
                </a:solidFill>
              </a:rPr>
              <a:t>Pilot resume and next-up prompts. Launch a pre-renewal and win-back test. Promote niche genres in discovery rows.</a:t>
            </a:r>
            <a:endParaRPr lang="en-US" sz="1400" dirty="0"/>
          </a:p>
        </p:txBody>
      </p:sp>
      <p:sp>
        <p:nvSpPr>
          <p:cNvPr id="14" name="road-card"/>
          <p:cNvSpPr/>
          <p:nvPr/>
        </p:nvSpPr>
        <p:spPr>
          <a:xfrm>
            <a:off x="8095488" y="1783080"/>
            <a:ext cx="3544824" cy="2103120"/>
          </a:xfrm>
          <a:prstGeom prst="roundRect">
            <a:avLst>
              <a:gd name="adj" fmla="val 5217"/>
            </a:avLst>
          </a:prstGeom>
          <a:solidFill>
            <a:schemeClr val="bg2"/>
          </a:solidFill>
        </p:spPr>
      </p:sp>
      <p:sp>
        <p:nvSpPr>
          <p:cNvPr id="15" name="badge"/>
          <p:cNvSpPr/>
          <p:nvPr/>
        </p:nvSpPr>
        <p:spPr>
          <a:xfrm>
            <a:off x="8324088" y="1965960"/>
            <a:ext cx="457200" cy="457200"/>
          </a:xfrm>
          <a:prstGeom prst="ellipse">
            <a:avLst/>
          </a:prstGeom>
          <a:solidFill>
            <a:schemeClr val="accent1"/>
          </a:solidFill>
        </p:spPr>
      </p:sp>
      <p:sp>
        <p:nvSpPr>
          <p:cNvPr id="16" name="Text 14"/>
          <p:cNvSpPr txBox="1"/>
          <p:nvPr/>
        </p:nvSpPr>
        <p:spPr>
          <a:xfrm>
            <a:off x="8324088" y="1965960"/>
            <a:ext cx="457200" cy="457200"/>
          </a:xfrm>
          <a:prstGeom prst="rect">
            <a:avLst/>
          </a:prstGeom>
          <a:noFill/>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5"/>
          <p:cNvSpPr txBox="1"/>
          <p:nvPr/>
        </p:nvSpPr>
        <p:spPr>
          <a:xfrm>
            <a:off x="8964168" y="1965960"/>
            <a:ext cx="2447544" cy="457200"/>
          </a:xfrm>
          <a:prstGeom prst="rect">
            <a:avLst/>
          </a:prstGeom>
          <a:noFill/>
        </p:spPr>
        <p:txBody>
          <a:bodyPr wrap="square" lIns="0" tIns="0" rIns="0" bIns="0" rtlCol="0" anchor="ctr"/>
          <a:lstStyle/>
          <a:p>
            <a:pPr marL="0" indent="0">
              <a:buNone/>
            </a:pPr>
            <a:r>
              <a:rPr lang="en-US" sz="2000" b="1" dirty="0">
                <a:solidFill>
                  <a:schemeClr val="accent1"/>
                </a:solidFill>
              </a:rPr>
              <a:t>Days 61–90</a:t>
            </a:r>
            <a:endParaRPr lang="en-US" sz="2000" dirty="0"/>
          </a:p>
        </p:txBody>
      </p:sp>
      <p:sp>
        <p:nvSpPr>
          <p:cNvPr id="18" name="Text 16"/>
          <p:cNvSpPr txBox="1"/>
          <p:nvPr/>
        </p:nvSpPr>
        <p:spPr>
          <a:xfrm>
            <a:off x="8324088" y="2606040"/>
            <a:ext cx="3087624" cy="1188720"/>
          </a:xfrm>
          <a:prstGeom prst="rect">
            <a:avLst/>
          </a:prstGeom>
          <a:noFill/>
        </p:spPr>
        <p:txBody>
          <a:bodyPr wrap="square" lIns="0" tIns="0" rIns="0" bIns="0" rtlCol="0" anchor="t"/>
          <a:lstStyle/>
          <a:p>
            <a:pPr marL="0" indent="0">
              <a:buNone/>
            </a:pPr>
            <a:r>
              <a:rPr lang="en-US" sz="1400" dirty="0">
                <a:solidFill>
                  <a:schemeClr val="tx1"/>
                </a:solidFill>
              </a:rPr>
              <a:t>Review pilot results and scale what works. Set content-investment priorities for the next licensing cycle.</a:t>
            </a:r>
            <a:endParaRPr lang="en-US" sz="1400" dirty="0"/>
          </a:p>
        </p:txBody>
      </p:sp>
      <p:sp>
        <p:nvSpPr>
          <p:cNvPr id="19" name="Text 17"/>
          <p:cNvSpPr txBox="1"/>
          <p:nvPr/>
        </p:nvSpPr>
        <p:spPr>
          <a:xfrm>
            <a:off x="548640" y="4114800"/>
            <a:ext cx="11091672" cy="320040"/>
          </a:xfrm>
          <a:prstGeom prst="rect">
            <a:avLst/>
          </a:prstGeom>
          <a:noFill/>
        </p:spPr>
        <p:txBody>
          <a:bodyPr wrap="square" lIns="0" tIns="0" rIns="0" bIns="0" rtlCol="0" anchor="t"/>
          <a:lstStyle/>
          <a:p>
            <a:pPr marL="0" indent="0">
              <a:buNone/>
            </a:pPr>
            <a:r>
              <a:rPr lang="en-US" sz="1600" b="1" dirty="0">
                <a:solidFill>
                  <a:schemeClr val="accent1"/>
                </a:solidFill>
              </a:rPr>
              <a:t>Proposed targets (to be validated with stakeholders)</a:t>
            </a:r>
            <a:endParaRPr lang="en-US" sz="1600" dirty="0"/>
          </a:p>
        </p:txBody>
      </p:sp>
      <p:sp>
        <p:nvSpPr>
          <p:cNvPr id="20" name="stat-card"/>
          <p:cNvSpPr/>
          <p:nvPr/>
        </p:nvSpPr>
        <p:spPr>
          <a:xfrm>
            <a:off x="548640" y="4526280"/>
            <a:ext cx="2601468" cy="1691640"/>
          </a:xfrm>
          <a:prstGeom prst="roundRect">
            <a:avLst>
              <a:gd name="adj" fmla="val 6486"/>
            </a:avLst>
          </a:prstGeom>
          <a:solidFill>
            <a:schemeClr val="accent1"/>
          </a:solidFill>
        </p:spPr>
      </p:sp>
      <p:sp>
        <p:nvSpPr>
          <p:cNvPr id="21" name="Text 19"/>
          <p:cNvSpPr txBox="1"/>
          <p:nvPr/>
        </p:nvSpPr>
        <p:spPr>
          <a:xfrm>
            <a:off x="777240" y="4690872"/>
            <a:ext cx="2144268" cy="761238"/>
          </a:xfrm>
          <a:prstGeom prst="rect">
            <a:avLst/>
          </a:prstGeom>
          <a:noFill/>
        </p:spPr>
        <p:txBody>
          <a:bodyPr wrap="square" lIns="0" tIns="0" rIns="0" bIns="0" rtlCol="0" anchor="ctr"/>
          <a:lstStyle/>
          <a:p>
            <a:pPr marL="0" indent="0">
              <a:buNone/>
            </a:pPr>
            <a:r>
              <a:rPr lang="en-US" sz="2400" b="1" dirty="0">
                <a:solidFill>
                  <a:schemeClr val="bg1"/>
                </a:solidFill>
              </a:rPr>
              <a:t>39.93% → 45%</a:t>
            </a:r>
            <a:endParaRPr lang="en-US" sz="2400" dirty="0"/>
          </a:p>
        </p:txBody>
      </p:sp>
      <p:sp>
        <p:nvSpPr>
          <p:cNvPr id="22" name="Text 20"/>
          <p:cNvSpPr txBox="1"/>
          <p:nvPr/>
        </p:nvSpPr>
        <p:spPr>
          <a:xfrm>
            <a:off x="777240" y="5470398"/>
            <a:ext cx="2144268" cy="656082"/>
          </a:xfrm>
          <a:prstGeom prst="rect">
            <a:avLst/>
          </a:prstGeom>
          <a:noFill/>
        </p:spPr>
        <p:txBody>
          <a:bodyPr wrap="square" lIns="0" tIns="0" rIns="0" bIns="0" rtlCol="0" anchor="t"/>
          <a:lstStyle/>
          <a:p>
            <a:pPr marL="0" indent="0">
              <a:buNone/>
            </a:pPr>
            <a:r>
              <a:rPr lang="en-US" sz="1400" dirty="0">
                <a:solidFill>
                  <a:schemeClr val="bg1"/>
                </a:solidFill>
              </a:rPr>
              <a:t>Completion rate</a:t>
            </a:r>
            <a:endParaRPr lang="en-US" sz="1400" dirty="0"/>
          </a:p>
        </p:txBody>
      </p:sp>
      <p:sp>
        <p:nvSpPr>
          <p:cNvPr id="23" name="stat-card"/>
          <p:cNvSpPr/>
          <p:nvPr/>
        </p:nvSpPr>
        <p:spPr>
          <a:xfrm>
            <a:off x="3378708" y="4526280"/>
            <a:ext cx="2601468" cy="1691640"/>
          </a:xfrm>
          <a:prstGeom prst="roundRect">
            <a:avLst>
              <a:gd name="adj" fmla="val 6486"/>
            </a:avLst>
          </a:prstGeom>
          <a:solidFill>
            <a:schemeClr val="bg2"/>
          </a:solidFill>
        </p:spPr>
        <p:txBody>
          <a:bodyPr/>
          <a:p>
            <a:endParaRPr lang="en-US"/>
          </a:p>
        </p:txBody>
      </p:sp>
      <p:sp>
        <p:nvSpPr>
          <p:cNvPr id="24" name="Text 22"/>
          <p:cNvSpPr txBox="1"/>
          <p:nvPr/>
        </p:nvSpPr>
        <p:spPr>
          <a:xfrm>
            <a:off x="3607308" y="4690872"/>
            <a:ext cx="2144268" cy="761238"/>
          </a:xfrm>
          <a:prstGeom prst="rect">
            <a:avLst/>
          </a:prstGeom>
          <a:noFill/>
        </p:spPr>
        <p:txBody>
          <a:bodyPr wrap="square" lIns="0" tIns="0" rIns="0" bIns="0" rtlCol="0" anchor="ctr"/>
          <a:lstStyle/>
          <a:p>
            <a:pPr marL="0" indent="0">
              <a:buNone/>
            </a:pPr>
            <a:r>
              <a:rPr lang="en-US" sz="2400" b="1" dirty="0">
                <a:solidFill>
                  <a:schemeClr val="accent1"/>
                </a:solidFill>
              </a:rPr>
              <a:t>85.6% → 88%</a:t>
            </a:r>
            <a:endParaRPr lang="en-US" sz="2400" dirty="0"/>
          </a:p>
        </p:txBody>
      </p:sp>
      <p:sp>
        <p:nvSpPr>
          <p:cNvPr id="25" name="Text 23"/>
          <p:cNvSpPr txBox="1"/>
          <p:nvPr/>
        </p:nvSpPr>
        <p:spPr>
          <a:xfrm>
            <a:off x="3607308" y="5470398"/>
            <a:ext cx="2144268" cy="656082"/>
          </a:xfrm>
          <a:prstGeom prst="rect">
            <a:avLst/>
          </a:prstGeom>
          <a:noFill/>
        </p:spPr>
        <p:txBody>
          <a:bodyPr wrap="square" lIns="0" tIns="0" rIns="0" bIns="0" rtlCol="0" anchor="t"/>
          <a:lstStyle/>
          <a:p>
            <a:pPr marL="0" indent="0">
              <a:buNone/>
            </a:pPr>
            <a:r>
              <a:rPr lang="en-US" sz="1400" dirty="0">
                <a:solidFill>
                  <a:schemeClr val="tx1"/>
                </a:solidFill>
              </a:rPr>
              <a:t>Renewal rate</a:t>
            </a:r>
            <a:endParaRPr lang="en-US" sz="1400" dirty="0"/>
          </a:p>
        </p:txBody>
      </p:sp>
      <p:sp>
        <p:nvSpPr>
          <p:cNvPr id="26" name="stat-card"/>
          <p:cNvSpPr/>
          <p:nvPr/>
        </p:nvSpPr>
        <p:spPr>
          <a:xfrm>
            <a:off x="6208776" y="4526280"/>
            <a:ext cx="2601468" cy="1691640"/>
          </a:xfrm>
          <a:prstGeom prst="roundRect">
            <a:avLst>
              <a:gd name="adj" fmla="val 6486"/>
            </a:avLst>
          </a:prstGeom>
          <a:solidFill>
            <a:schemeClr val="accent1"/>
          </a:solidFill>
        </p:spPr>
      </p:sp>
      <p:sp>
        <p:nvSpPr>
          <p:cNvPr id="27" name="Text 25"/>
          <p:cNvSpPr txBox="1"/>
          <p:nvPr/>
        </p:nvSpPr>
        <p:spPr>
          <a:xfrm>
            <a:off x="6437376" y="4690872"/>
            <a:ext cx="2144268" cy="761238"/>
          </a:xfrm>
          <a:prstGeom prst="rect">
            <a:avLst/>
          </a:prstGeom>
          <a:noFill/>
        </p:spPr>
        <p:txBody>
          <a:bodyPr wrap="square" lIns="0" tIns="0" rIns="0" bIns="0" rtlCol="0" anchor="ctr"/>
          <a:lstStyle/>
          <a:p>
            <a:pPr marL="0" indent="0">
              <a:buNone/>
            </a:pPr>
            <a:r>
              <a:rPr lang="en-US" sz="2400" b="1" dirty="0">
                <a:solidFill>
                  <a:schemeClr val="bg1"/>
                </a:solidFill>
              </a:rPr>
              <a:t>65.7% → 75%</a:t>
            </a:r>
            <a:endParaRPr lang="en-US" sz="2400" dirty="0"/>
          </a:p>
        </p:txBody>
      </p:sp>
      <p:sp>
        <p:nvSpPr>
          <p:cNvPr id="28" name="Text 26"/>
          <p:cNvSpPr txBox="1"/>
          <p:nvPr/>
        </p:nvSpPr>
        <p:spPr>
          <a:xfrm>
            <a:off x="6437376" y="5470398"/>
            <a:ext cx="2144268" cy="656082"/>
          </a:xfrm>
          <a:prstGeom prst="rect">
            <a:avLst/>
          </a:prstGeom>
          <a:noFill/>
        </p:spPr>
        <p:txBody>
          <a:bodyPr wrap="square" lIns="0" tIns="0" rIns="0" bIns="0" rtlCol="0" anchor="t"/>
          <a:lstStyle/>
          <a:p>
            <a:pPr marL="0" indent="0">
              <a:buNone/>
            </a:pPr>
            <a:r>
              <a:rPr lang="en-US" sz="1400" dirty="0">
                <a:solidFill>
                  <a:schemeClr val="bg1"/>
                </a:solidFill>
              </a:rPr>
              <a:t>Catalogue utilisation</a:t>
            </a:r>
            <a:endParaRPr lang="en-US" sz="1400" dirty="0"/>
          </a:p>
        </p:txBody>
      </p:sp>
      <p:sp>
        <p:nvSpPr>
          <p:cNvPr id="29" name="stat-card"/>
          <p:cNvSpPr/>
          <p:nvPr/>
        </p:nvSpPr>
        <p:spPr>
          <a:xfrm>
            <a:off x="9038844" y="4526280"/>
            <a:ext cx="2601468" cy="1691640"/>
          </a:xfrm>
          <a:prstGeom prst="roundRect">
            <a:avLst>
              <a:gd name="adj" fmla="val 6486"/>
            </a:avLst>
          </a:prstGeom>
          <a:solidFill>
            <a:schemeClr val="bg2"/>
          </a:solidFill>
        </p:spPr>
      </p:sp>
      <p:sp>
        <p:nvSpPr>
          <p:cNvPr id="30" name="Text 28"/>
          <p:cNvSpPr txBox="1"/>
          <p:nvPr/>
        </p:nvSpPr>
        <p:spPr>
          <a:xfrm>
            <a:off x="9267444" y="4690872"/>
            <a:ext cx="2144268" cy="761238"/>
          </a:xfrm>
          <a:prstGeom prst="rect">
            <a:avLst/>
          </a:prstGeom>
          <a:noFill/>
        </p:spPr>
        <p:txBody>
          <a:bodyPr wrap="square" lIns="0" tIns="0" rIns="0" bIns="0" rtlCol="0" anchor="ctr"/>
          <a:lstStyle/>
          <a:p>
            <a:pPr marL="0" indent="0">
              <a:buNone/>
            </a:pPr>
            <a:r>
              <a:rPr lang="en-US" sz="2400" b="1" dirty="0">
                <a:solidFill>
                  <a:schemeClr val="accent1"/>
                </a:solidFill>
              </a:rPr>
              <a:t>58 → 61</a:t>
            </a:r>
            <a:endParaRPr lang="en-US" sz="2400" dirty="0"/>
          </a:p>
        </p:txBody>
      </p:sp>
      <p:sp>
        <p:nvSpPr>
          <p:cNvPr id="31" name="Text 29"/>
          <p:cNvSpPr txBox="1"/>
          <p:nvPr/>
        </p:nvSpPr>
        <p:spPr>
          <a:xfrm>
            <a:off x="9267444" y="5470398"/>
            <a:ext cx="2144268" cy="656082"/>
          </a:xfrm>
          <a:prstGeom prst="rect">
            <a:avLst/>
          </a:prstGeom>
          <a:noFill/>
        </p:spPr>
        <p:txBody>
          <a:bodyPr wrap="square" lIns="0" tIns="0" rIns="0" bIns="0" rtlCol="0" anchor="t"/>
          <a:lstStyle/>
          <a:p>
            <a:pPr marL="0" indent="0">
              <a:buNone/>
            </a:pPr>
            <a:r>
              <a:rPr lang="en-US" sz="1400" dirty="0">
                <a:solidFill>
                  <a:schemeClr val="tx1"/>
                </a:solidFill>
              </a:rPr>
              <a:t>Premium sessions per user</a:t>
            </a:r>
            <a:endParaRPr lang="en-US" sz="1400" dirty="0"/>
          </a:p>
        </p:txBody>
      </p:sp>
      <p:sp>
        <p:nvSpPr>
          <p:cNvPr id="32"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1"/>
                </a:solidFill>
              </a:defRPr>
            </a:lvl1pPr>
          </a:lstStyle>
          <a:p>
            <a:pPr algn="l"/>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65760"/>
            <a:ext cx="11091672" cy="777240"/>
          </a:xfrm>
          <a:prstGeom prst="rect">
            <a:avLst/>
          </a:prstGeom>
          <a:noFill/>
        </p:spPr>
        <p:txBody>
          <a:bodyPr wrap="square" lIns="0" tIns="0" rIns="0" bIns="0" rtlCol="0" anchor="ctr"/>
          <a:lstStyle/>
          <a:p>
            <a:pPr marL="0" indent="0" algn="l">
              <a:buNone/>
            </a:pPr>
            <a:r>
              <a:rPr lang="en-US" sz="3400" b="1" dirty="0">
                <a:solidFill>
                  <a:schemeClr val="bg1"/>
                </a:solidFill>
              </a:rPr>
              <a:t>Key takeaways</a:t>
            </a:r>
            <a:endParaRPr lang="en-US" sz="3400" dirty="0"/>
          </a:p>
        </p:txBody>
      </p:sp>
      <p:sp>
        <p:nvSpPr>
          <p:cNvPr id="3" name="badge"/>
          <p:cNvSpPr/>
          <p:nvPr/>
        </p:nvSpPr>
        <p:spPr>
          <a:xfrm>
            <a:off x="548640" y="1600200"/>
            <a:ext cx="640080" cy="640080"/>
          </a:xfrm>
          <a:prstGeom prst="ellipse">
            <a:avLst/>
          </a:prstGeom>
          <a:solidFill>
            <a:schemeClr val="accent1"/>
          </a:solidFill>
        </p:spPr>
      </p:sp>
      <p:sp>
        <p:nvSpPr>
          <p:cNvPr id="4" name="Text 2"/>
          <p:cNvSpPr txBox="1"/>
          <p:nvPr/>
        </p:nvSpPr>
        <p:spPr>
          <a:xfrm>
            <a:off x="548640" y="1600200"/>
            <a:ext cx="640080" cy="640080"/>
          </a:xfrm>
          <a:prstGeom prst="rect">
            <a:avLst/>
          </a:prstGeom>
          <a:noFill/>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 3"/>
          <p:cNvSpPr txBox="1"/>
          <p:nvPr/>
        </p:nvSpPr>
        <p:spPr>
          <a:xfrm>
            <a:off x="1463040" y="1508760"/>
            <a:ext cx="10058400" cy="457200"/>
          </a:xfrm>
          <a:prstGeom prst="rect">
            <a:avLst/>
          </a:prstGeom>
          <a:noFill/>
        </p:spPr>
        <p:txBody>
          <a:bodyPr wrap="square" lIns="0" tIns="0" rIns="0" bIns="0" rtlCol="0" anchor="ctr"/>
          <a:lstStyle/>
          <a:p>
            <a:pPr marL="0" indent="0">
              <a:buNone/>
            </a:pPr>
            <a:r>
              <a:rPr lang="en-US" sz="2400" b="1" dirty="0">
                <a:solidFill>
                  <a:schemeClr val="bg1"/>
                </a:solidFill>
              </a:rPr>
              <a:t>Concentrated demand</a:t>
            </a:r>
            <a:endParaRPr lang="en-US" sz="2400" dirty="0"/>
          </a:p>
        </p:txBody>
      </p:sp>
      <p:sp>
        <p:nvSpPr>
          <p:cNvPr id="6" name="Text 4"/>
          <p:cNvSpPr txBox="1"/>
          <p:nvPr/>
        </p:nvSpPr>
        <p:spPr>
          <a:xfrm>
            <a:off x="1463040" y="2011680"/>
            <a:ext cx="10058400" cy="457200"/>
          </a:xfrm>
          <a:prstGeom prst="rect">
            <a:avLst/>
          </a:prstGeom>
          <a:noFill/>
        </p:spPr>
        <p:txBody>
          <a:bodyPr wrap="square" lIns="0" tIns="0" rIns="0" bIns="0" rtlCol="0" anchor="t"/>
          <a:lstStyle/>
          <a:p>
            <a:pPr marL="0" indent="0">
              <a:buNone/>
            </a:pPr>
            <a:r>
              <a:rPr lang="en-US" sz="1800" dirty="0">
                <a:solidFill>
                  <a:schemeClr val="accent3"/>
                </a:solidFill>
              </a:rPr>
              <a:t>Three genres drive 61% of sessions while 261 titles go unwatched.</a:t>
            </a:r>
            <a:endParaRPr lang="en-US" sz="1800" dirty="0"/>
          </a:p>
        </p:txBody>
      </p:sp>
      <p:sp>
        <p:nvSpPr>
          <p:cNvPr id="7" name="badge"/>
          <p:cNvSpPr/>
          <p:nvPr/>
        </p:nvSpPr>
        <p:spPr>
          <a:xfrm>
            <a:off x="548640" y="2834640"/>
            <a:ext cx="640080" cy="640080"/>
          </a:xfrm>
          <a:prstGeom prst="ellipse">
            <a:avLst/>
          </a:prstGeom>
          <a:solidFill>
            <a:schemeClr val="accent1"/>
          </a:solidFill>
        </p:spPr>
      </p:sp>
      <p:sp>
        <p:nvSpPr>
          <p:cNvPr id="8" name="Text 6"/>
          <p:cNvSpPr txBox="1"/>
          <p:nvPr/>
        </p:nvSpPr>
        <p:spPr>
          <a:xfrm>
            <a:off x="548640" y="2834640"/>
            <a:ext cx="640080" cy="640080"/>
          </a:xfrm>
          <a:prstGeom prst="rect">
            <a:avLst/>
          </a:prstGeom>
          <a:noFill/>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ext 7"/>
          <p:cNvSpPr txBox="1"/>
          <p:nvPr/>
        </p:nvSpPr>
        <p:spPr>
          <a:xfrm>
            <a:off x="1463040" y="2743200"/>
            <a:ext cx="10058400" cy="457200"/>
          </a:xfrm>
          <a:prstGeom prst="rect">
            <a:avLst/>
          </a:prstGeom>
          <a:noFill/>
        </p:spPr>
        <p:txBody>
          <a:bodyPr wrap="square" lIns="0" tIns="0" rIns="0" bIns="0" rtlCol="0" anchor="ctr"/>
          <a:lstStyle/>
          <a:p>
            <a:pPr marL="0" indent="0">
              <a:buNone/>
            </a:pPr>
            <a:r>
              <a:rPr lang="en-US" sz="2400" b="1" dirty="0">
                <a:solidFill>
                  <a:schemeClr val="bg1"/>
                </a:solidFill>
              </a:rPr>
              <a:t>A finish-line gap</a:t>
            </a:r>
            <a:endParaRPr lang="en-US" sz="2400" dirty="0"/>
          </a:p>
        </p:txBody>
      </p:sp>
      <p:sp>
        <p:nvSpPr>
          <p:cNvPr id="10" name="Text 8"/>
          <p:cNvSpPr txBox="1"/>
          <p:nvPr/>
        </p:nvSpPr>
        <p:spPr>
          <a:xfrm>
            <a:off x="1463040" y="3246120"/>
            <a:ext cx="10058400" cy="457200"/>
          </a:xfrm>
          <a:prstGeom prst="rect">
            <a:avLst/>
          </a:prstGeom>
          <a:noFill/>
        </p:spPr>
        <p:txBody>
          <a:bodyPr wrap="square" lIns="0" tIns="0" rIns="0" bIns="0" rtlCol="0" anchor="t"/>
          <a:lstStyle/>
          <a:p>
            <a:pPr marL="0" indent="0">
              <a:buNone/>
            </a:pPr>
            <a:r>
              <a:rPr lang="en-US" sz="1800" dirty="0">
                <a:solidFill>
                  <a:schemeClr val="accent3"/>
                </a:solidFill>
              </a:rPr>
              <a:t>Viewers watch ~88% of a title but only 39.93% of views complete.</a:t>
            </a:r>
            <a:endParaRPr lang="en-US" sz="1800" dirty="0"/>
          </a:p>
        </p:txBody>
      </p:sp>
      <p:sp>
        <p:nvSpPr>
          <p:cNvPr id="11" name="badge"/>
          <p:cNvSpPr/>
          <p:nvPr/>
        </p:nvSpPr>
        <p:spPr>
          <a:xfrm>
            <a:off x="548640" y="4069080"/>
            <a:ext cx="640080" cy="640080"/>
          </a:xfrm>
          <a:prstGeom prst="ellipse">
            <a:avLst/>
          </a:prstGeom>
          <a:solidFill>
            <a:schemeClr val="accent1"/>
          </a:solidFill>
        </p:spPr>
      </p:sp>
      <p:sp>
        <p:nvSpPr>
          <p:cNvPr id="12" name="Text 10"/>
          <p:cNvSpPr txBox="1"/>
          <p:nvPr/>
        </p:nvSpPr>
        <p:spPr>
          <a:xfrm>
            <a:off x="548640" y="4069080"/>
            <a:ext cx="640080" cy="640080"/>
          </a:xfrm>
          <a:prstGeom prst="rect">
            <a:avLst/>
          </a:prstGeom>
          <a:noFill/>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Text 11"/>
          <p:cNvSpPr txBox="1"/>
          <p:nvPr/>
        </p:nvSpPr>
        <p:spPr>
          <a:xfrm>
            <a:off x="1463040" y="3977640"/>
            <a:ext cx="10058400" cy="457200"/>
          </a:xfrm>
          <a:prstGeom prst="rect">
            <a:avLst/>
          </a:prstGeom>
          <a:noFill/>
        </p:spPr>
        <p:txBody>
          <a:bodyPr wrap="square" lIns="0" tIns="0" rIns="0" bIns="0" rtlCol="0" anchor="ctr"/>
          <a:lstStyle/>
          <a:p>
            <a:pPr marL="0" indent="0">
              <a:buNone/>
            </a:pPr>
            <a:r>
              <a:rPr lang="en-US" sz="2400" b="1" dirty="0">
                <a:solidFill>
                  <a:schemeClr val="bg1"/>
                </a:solidFill>
              </a:rPr>
              <a:t>Churn is not an engagement problem</a:t>
            </a:r>
            <a:endParaRPr lang="en-US" sz="2400" dirty="0"/>
          </a:p>
        </p:txBody>
      </p:sp>
      <p:sp>
        <p:nvSpPr>
          <p:cNvPr id="14" name="Text 12"/>
          <p:cNvSpPr txBox="1"/>
          <p:nvPr/>
        </p:nvSpPr>
        <p:spPr>
          <a:xfrm>
            <a:off x="1463040" y="4480560"/>
            <a:ext cx="10058400" cy="457200"/>
          </a:xfrm>
          <a:prstGeom prst="rect">
            <a:avLst/>
          </a:prstGeom>
          <a:noFill/>
        </p:spPr>
        <p:txBody>
          <a:bodyPr wrap="square" lIns="0" tIns="0" rIns="0" bIns="0" rtlCol="0" anchor="t"/>
          <a:lstStyle/>
          <a:p>
            <a:pPr marL="0" indent="0">
              <a:buNone/>
            </a:pPr>
            <a:r>
              <a:rPr lang="en-US" sz="1800" dirty="0">
                <a:solidFill>
                  <a:schemeClr val="accent3"/>
                </a:solidFill>
              </a:rPr>
              <a:t>Leavers watched almost as much as stayers, so look at price, plan and renewal timing.</a:t>
            </a:r>
            <a:endParaRPr lang="en-US" sz="1800" dirty="0"/>
          </a:p>
        </p:txBody>
      </p:sp>
      <p:sp>
        <p:nvSpPr>
          <p:cNvPr id="15" name="analyst-card"/>
          <p:cNvSpPr/>
          <p:nvPr/>
        </p:nvSpPr>
        <p:spPr>
          <a:xfrm>
            <a:off x="548640" y="5257800"/>
            <a:ext cx="11091672" cy="1005840"/>
          </a:xfrm>
          <a:prstGeom prst="roundRect">
            <a:avLst>
              <a:gd name="adj" fmla="val 10909"/>
            </a:avLst>
          </a:prstGeom>
          <a:solidFill>
            <a:schemeClr val="accent1"/>
          </a:solidFill>
        </p:spPr>
      </p:sp>
      <p:sp>
        <p:nvSpPr>
          <p:cNvPr id="16" name="Text 14"/>
          <p:cNvSpPr txBox="1"/>
          <p:nvPr/>
        </p:nvSpPr>
        <p:spPr>
          <a:xfrm>
            <a:off x="868680" y="5349240"/>
            <a:ext cx="3657600" cy="274320"/>
          </a:xfrm>
          <a:prstGeom prst="rect">
            <a:avLst/>
          </a:prstGeom>
          <a:noFill/>
        </p:spPr>
        <p:txBody>
          <a:bodyPr wrap="square" lIns="0" tIns="0" rIns="0" bIns="0" rtlCol="0" anchor="t"/>
          <a:lstStyle/>
          <a:p>
            <a:pPr marL="0" indent="0">
              <a:buNone/>
            </a:pPr>
            <a:r>
              <a:rPr lang="en-US" sz="1200" dirty="0">
                <a:solidFill>
                  <a:schemeClr val="accent3"/>
                </a:solidFill>
              </a:rPr>
              <a:t>Prepared by</a:t>
            </a:r>
            <a:endParaRPr lang="en-US" sz="1200" dirty="0"/>
          </a:p>
        </p:txBody>
      </p:sp>
      <p:sp>
        <p:nvSpPr>
          <p:cNvPr id="17" name="Text 15"/>
          <p:cNvSpPr txBox="1"/>
          <p:nvPr/>
        </p:nvSpPr>
        <p:spPr>
          <a:xfrm>
            <a:off x="868680" y="5623560"/>
            <a:ext cx="6400800" cy="457200"/>
          </a:xfrm>
          <a:prstGeom prst="rect">
            <a:avLst/>
          </a:prstGeom>
          <a:noFill/>
        </p:spPr>
        <p:txBody>
          <a:bodyPr wrap="square" lIns="0" tIns="0" rIns="0" bIns="0" rtlCol="0" anchor="t"/>
          <a:lstStyle/>
          <a:p>
            <a:pPr marL="0" indent="0">
              <a:buNone/>
            </a:pPr>
            <a:r>
              <a:rPr lang="en-GB" altLang="en-US" sz="2400" b="1" dirty="0">
                <a:solidFill>
                  <a:schemeClr val="bg1"/>
                </a:solidFill>
              </a:rPr>
              <a:t>Iheanyi Okwara</a:t>
            </a:r>
            <a:endParaRPr lang="en-GB" altLang="en-US" sz="2400" b="1" dirty="0">
              <a:solidFill>
                <a:schemeClr val="bg1"/>
              </a:solidFill>
            </a:endParaRPr>
          </a:p>
        </p:txBody>
      </p:sp>
      <p:sp>
        <p:nvSpPr>
          <p:cNvPr id="18" name="Text 16"/>
          <p:cNvSpPr txBox="1"/>
          <p:nvPr/>
        </p:nvSpPr>
        <p:spPr>
          <a:xfrm>
            <a:off x="6400800" y="5440680"/>
            <a:ext cx="5029200" cy="731520"/>
          </a:xfrm>
          <a:prstGeom prst="rect">
            <a:avLst/>
          </a:prstGeom>
          <a:noFill/>
        </p:spPr>
        <p:txBody>
          <a:bodyPr wrap="square" lIns="0" tIns="0" rIns="0" bIns="0" rtlCol="0" anchor="ctr"/>
          <a:lstStyle/>
          <a:p>
            <a:pPr marL="0" indent="0" algn="r">
              <a:buNone/>
            </a:pPr>
            <a:r>
              <a:rPr lang="en-US" sz="1400" dirty="0">
                <a:solidFill>
                  <a:schemeClr val="bg1"/>
                </a:solidFill>
              </a:rPr>
              <a:t>Data Analyst</a:t>
            </a:r>
            <a:endParaRPr lang="en-US" sz="1400" dirty="0"/>
          </a:p>
          <a:p>
            <a:pPr marL="0" indent="0" algn="r">
              <a:buNone/>
            </a:pPr>
            <a:r>
              <a:rPr lang="en-US" sz="1400" dirty="0">
                <a:solidFill>
                  <a:schemeClr val="bg1"/>
                </a:solidFill>
              </a:rPr>
              <a:t>StreamWave Viewer Engagement &amp; Retention Analytics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3"/>
                </a:solidFill>
              </a:defRPr>
            </a:lvl1pPr>
          </a:lstStyle>
          <a:p>
            <a:pPr algn="l"/>
            <a:fld id="{F7021451-1387-4CA6-816F-3879F97B5CBC}" type="slidenum">
              <a:rPr lang="en-US" b="0"/>
            </a:fld>
            <a:endParaRPr lang="en-US"/>
          </a:p>
        </p:txBody>
      </p:sp>
    </p:spTree>
  </p:cSld>
  <p:clrMapOvr>
    <a:masterClrMapping/>
  </p:clrMapOvr>
</p:sld>
</file>

<file path=ppt/tags/tag1.xml><?xml version="1.0" encoding="utf-8"?>
<p:tagLst xmlns:p="http://schemas.openxmlformats.org/presentationml/2006/main">
  <p:tag name="KSO_DOCER_RESOURCE_TRACE_INFO" val="{&quot;id&quot;:&quot;54500922&quot;,&quot;origin&quot;:0,&quot;type&quot;:&quot;pictures&quot;,&quot;user&quot;:&quot;3865958374591&quot;}"/>
</p:tagLst>
</file>

<file path=ppt/theme/theme1.xml><?xml version="1.0" encoding="utf-8"?>
<a:theme xmlns:a="http://schemas.openxmlformats.org/drawingml/2006/main" name="StreamWave Plum">
  <a:themeElements>
    <a:clrScheme name="StreamWave Plum">
      <a:dk1>
        <a:srgbClr val="2B1A26"/>
      </a:dk1>
      <a:lt1>
        <a:srgbClr val="FFFFFF"/>
      </a:lt1>
      <a:dk2>
        <a:srgbClr val="7A2560"/>
      </a:dk2>
      <a:lt2>
        <a:srgbClr val="FBE6F1"/>
      </a:lt2>
      <a:accent1>
        <a:srgbClr val="7A2560"/>
      </a:accent1>
      <a:accent2>
        <a:srgbClr val="C4458F"/>
      </a:accent2>
      <a:accent3>
        <a:srgbClr val="E58BBB"/>
      </a:accent3>
      <a:accent4>
        <a:srgbClr val="E8833A"/>
      </a:accent4>
      <a:accent5>
        <a:srgbClr val="4A1238"/>
      </a:accent5>
      <a:accent6>
        <a:srgbClr val="A8A0A5"/>
      </a:accent6>
      <a:hlink>
        <a:srgbClr val="C4458F"/>
      </a:hlink>
      <a:folHlink>
        <a:srgbClr val="7A2560"/>
      </a:folHlink>
    </a:clrScheme>
    <a:fontScheme name="StreamWave Plu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treamWave Plum">
  <a:themeElements>
    <a:clrScheme name="StreamWave Plum">
      <a:dk1>
        <a:srgbClr val="2B1A26"/>
      </a:dk1>
      <a:lt1>
        <a:srgbClr val="FFFFFF"/>
      </a:lt1>
      <a:dk2>
        <a:srgbClr val="7A2560"/>
      </a:dk2>
      <a:lt2>
        <a:srgbClr val="FBE6F1"/>
      </a:lt2>
      <a:accent1>
        <a:srgbClr val="7A2560"/>
      </a:accent1>
      <a:accent2>
        <a:srgbClr val="C4458F"/>
      </a:accent2>
      <a:accent3>
        <a:srgbClr val="E58BBB"/>
      </a:accent3>
      <a:accent4>
        <a:srgbClr val="E8833A"/>
      </a:accent4>
      <a:accent5>
        <a:srgbClr val="4A1238"/>
      </a:accent5>
      <a:accent6>
        <a:srgbClr val="A8A0A5"/>
      </a:accent6>
      <a:hlink>
        <a:srgbClr val="C4458F"/>
      </a:hlink>
      <a:folHlink>
        <a:srgbClr val="7A2560"/>
      </a:folHlink>
    </a:clrScheme>
    <a:fontScheme name="StreamWave Plu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6202</Words>
  <Application>WPS Presentation</Application>
  <PresentationFormat>On-screen Show (16:9)</PresentationFormat>
  <Paragraphs>471</Paragraphs>
  <Slides>14</Slides>
  <Notes>14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Arial</vt:lpstr>
      <vt:lpstr>SimSun</vt:lpstr>
      <vt:lpstr>Wingdings</vt:lpstr>
      <vt:lpstr>Arial</vt:lpstr>
      <vt:lpstr>Calibri</vt:lpstr>
      <vt:lpstr>Cambria</vt:lpstr>
      <vt:lpstr>Microsoft YaHei</vt:lpstr>
      <vt:lpstr>Arial Unicode MS</vt:lpstr>
      <vt:lpstr>StreamWave Plum</vt:lpstr>
      <vt:lpstr>StreamWave Viewer Engagement &amp; Retention Analytics</vt:lpstr>
      <vt:lpstr>Executive summary</vt:lpstr>
      <vt:lpstr>Four questions leadership needs answered</vt:lpstr>
      <vt:lpstr>Demand is concentrated in three genres</vt:lpstr>
      <vt:lpstr>A third of the catalogue goes unwatched</vt:lpstr>
      <vt:lpstr>High watch depth, low completion</vt:lpstr>
      <vt:lpstr>Genre scorecard</vt:lpstr>
      <vt:lpstr>A 25–44 core audience, spread worldwide</vt:lpstr>
      <vt:lpstr>Premium doesn't mean more engaged</vt:lpstr>
      <vt:lpstr>Leavers watched almost as much as stayers</vt:lpstr>
      <vt:lpstr>Cancellations stepped up after October 2024</vt:lpstr>
      <vt:lpstr>Recommendations</vt:lpstr>
      <vt:lpstr>Roadmap and success metrics</vt:lpstr>
      <vt:lpstr>Key takeaways</vt:lpstr>
    </vt:vector>
  </TitlesOfParts>
  <Company>StreamWave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StreamWave Viewer Engagement &amp; Retention Analytics</dc:title>
  <dc:creator>Iheanyi Okwara</dc:creator>
  <dc:subject>PptxGenJS Presentation</dc:subject>
  <cp:lastModifiedBy>Iheanyi Okwara</cp:lastModifiedBy>
  <cp:revision>3</cp:revision>
  <dcterms:created xsi:type="dcterms:W3CDTF">2026-10-09T13:13:00Z</dcterms:created>
  <dcterms:modified xsi:type="dcterms:W3CDTF">2026-10-09T13:52:51Z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D53592DCF7BC4A88A0F8EAA015103428_12</vt:lpwstr>
  </property>
</Properties>
</file>