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Outages</c:v>
                </c:pt>
              </c:strCache>
            </c:strRef>
          </c:tx>
          <c:spPr>
            <a:solidFill>
              <a:srgbClr val="1C7293"/>
            </a:solidFill>
            <a:ln w="3175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Jan24</c:v>
                  </c:pt>
                  <c:pt idx="1">
                    <c:v>Feb24</c:v>
                  </c:pt>
                  <c:pt idx="2">
                    <c:v>Mar24</c:v>
                  </c:pt>
                  <c:pt idx="3">
                    <c:v>Apr24</c:v>
                  </c:pt>
                  <c:pt idx="4">
                    <c:v>May24</c:v>
                  </c:pt>
                  <c:pt idx="5">
                    <c:v>Jun24</c:v>
                  </c:pt>
                  <c:pt idx="6">
                    <c:v>Jul24</c:v>
                  </c:pt>
                  <c:pt idx="7">
                    <c:v>Aug24</c:v>
                  </c:pt>
                  <c:pt idx="8">
                    <c:v>Sep24</c:v>
                  </c:pt>
                  <c:pt idx="9">
                    <c:v>Oct24</c:v>
                  </c:pt>
                  <c:pt idx="10">
                    <c:v>Nov24</c:v>
                  </c:pt>
                  <c:pt idx="11">
                    <c:v>Dec24</c:v>
                  </c:pt>
                  <c:pt idx="12">
                    <c:v>Jan25</c:v>
                  </c:pt>
                  <c:pt idx="13">
                    <c:v>Feb25</c:v>
                  </c:pt>
                  <c:pt idx="14">
                    <c:v>Mar25</c:v>
                  </c:pt>
                  <c:pt idx="15">
                    <c:v>Apr25</c:v>
                  </c:pt>
                  <c:pt idx="16">
                    <c:v>May25</c:v>
                  </c:pt>
                  <c:pt idx="17">
                    <c:v>Jun25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205</c:v>
                </c:pt>
                <c:pt idx="1">
                  <c:v>213</c:v>
                </c:pt>
                <c:pt idx="2">
                  <c:v>196</c:v>
                </c:pt>
                <c:pt idx="3">
                  <c:v>222</c:v>
                </c:pt>
                <c:pt idx="4">
                  <c:v>181</c:v>
                </c:pt>
                <c:pt idx="5">
                  <c:v>208</c:v>
                </c:pt>
                <c:pt idx="6">
                  <c:v>190</c:v>
                </c:pt>
                <c:pt idx="7">
                  <c:v>214</c:v>
                </c:pt>
                <c:pt idx="8">
                  <c:v>199</c:v>
                </c:pt>
                <c:pt idx="9">
                  <c:v>175</c:v>
                </c:pt>
                <c:pt idx="10">
                  <c:v>207</c:v>
                </c:pt>
                <c:pt idx="11">
                  <c:v>213</c:v>
                </c:pt>
                <c:pt idx="12">
                  <c:v>163</c:v>
                </c:pt>
                <c:pt idx="13">
                  <c:v>192</c:v>
                </c:pt>
                <c:pt idx="14">
                  <c:v>221</c:v>
                </c:pt>
                <c:pt idx="15">
                  <c:v>206</c:v>
                </c:pt>
                <c:pt idx="16">
                  <c:v>214</c:v>
                </c:pt>
                <c:pt idx="17">
                  <c:v>224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B6B8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150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B8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Outages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ZTE</c:v>
                  </c:pt>
                  <c:pt idx="1">
                    <c:v>Ericsson</c:v>
                  </c:pt>
                  <c:pt idx="2">
                    <c:v>Cisco</c:v>
                  </c:pt>
                  <c:pt idx="3">
                    <c:v>Huawei</c:v>
                  </c:pt>
                  <c:pt idx="4">
                    <c:v>Nokia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1032</c:v>
                </c:pt>
                <c:pt idx="1">
                  <c:v>1028</c:v>
                </c:pt>
                <c:pt idx="2">
                  <c:v>1012</c:v>
                </c:pt>
                <c:pt idx="3">
                  <c:v>974</c:v>
                </c:pt>
                <c:pt idx="4">
                  <c:v>954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Duration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Ericsson</c:v>
                  </c:pt>
                  <c:pt idx="1">
                    <c:v>Cisco</c:v>
                  </c:pt>
                  <c:pt idx="2">
                    <c:v>ZTE</c:v>
                  </c:pt>
                  <c:pt idx="3">
                    <c:v>Nokia</c:v>
                  </c:pt>
                  <c:pt idx="4">
                    <c:v>Huawei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37</c:v>
                </c:pt>
                <c:pt idx="2">
                  <c:v>37</c:v>
                </c:pt>
                <c:pt idx="3">
                  <c:v>36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SLA Breach</c:v>
                </c:pt>
              </c:strCache>
            </c:strRef>
          </c:tx>
          <c:spPr>
            <a:solidFill>
              <a:srgbClr val="E8622C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Ericsson</c:v>
                  </c:pt>
                  <c:pt idx="1">
                    <c:v>Cisco</c:v>
                  </c:pt>
                  <c:pt idx="2">
                    <c:v>Nokia</c:v>
                  </c:pt>
                  <c:pt idx="3">
                    <c:v>ZTE</c:v>
                  </c:pt>
                  <c:pt idx="4">
                    <c:v>Huawei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20.91</c:v>
                </c:pt>
                <c:pt idx="1">
                  <c:v>19.76</c:v>
                </c:pt>
                <c:pt idx="2">
                  <c:v>19.6</c:v>
                </c:pt>
                <c:pt idx="3">
                  <c:v>19.09</c:v>
                </c:pt>
                <c:pt idx="4">
                  <c:v>18.48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Outages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Hardware Failure</c:v>
                  </c:pt>
                  <c:pt idx="1">
                    <c:v>Power Failure</c:v>
                  </c:pt>
                  <c:pt idx="2">
                    <c:v>Software Failure</c:v>
                  </c:pt>
                  <c:pt idx="3">
                    <c:v>Fibre Cut</c:v>
                  </c:pt>
                  <c:pt idx="4">
                    <c:v>Transmission Issue</c:v>
                  </c:pt>
                  <c:pt idx="5">
                    <c:v>Weather Related</c:v>
                  </c:pt>
                  <c:pt idx="6">
                    <c:v>Vendor Related</c:v>
                  </c:pt>
                  <c:pt idx="7">
                    <c:v>Human Error</c:v>
                  </c:pt>
                  <c:pt idx="8">
                    <c:v>Planned Maint.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1076</c:v>
                </c:pt>
                <c:pt idx="1">
                  <c:v>864</c:v>
                </c:pt>
                <c:pt idx="2">
                  <c:v>728</c:v>
                </c:pt>
                <c:pt idx="3">
                  <c:v>588</c:v>
                </c:pt>
                <c:pt idx="4">
                  <c:v>512</c:v>
                </c:pt>
                <c:pt idx="5">
                  <c:v>485</c:v>
                </c:pt>
                <c:pt idx="6">
                  <c:v>320</c:v>
                </c:pt>
                <c:pt idx="7">
                  <c:v>264</c:v>
                </c:pt>
                <c:pt idx="8">
                  <c:v>163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Duration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Hardware Failure</c:v>
                  </c:pt>
                  <c:pt idx="1">
                    <c:v>Fibre Cut</c:v>
                  </c:pt>
                  <c:pt idx="2">
                    <c:v>Software Failure</c:v>
                  </c:pt>
                  <c:pt idx="3">
                    <c:v>Transmission Issue</c:v>
                  </c:pt>
                  <c:pt idx="4">
                    <c:v>Power Failure</c:v>
                  </c:pt>
                  <c:pt idx="5">
                    <c:v>Planned Maint.</c:v>
                  </c:pt>
                  <c:pt idx="6">
                    <c:v>Weather Related</c:v>
                  </c:pt>
                  <c:pt idx="7">
                    <c:v>Vendor Related</c:v>
                  </c:pt>
                  <c:pt idx="8">
                    <c:v>Human Error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46.1</c:v>
                </c:pt>
                <c:pt idx="1">
                  <c:v>45.4</c:v>
                </c:pt>
                <c:pt idx="2">
                  <c:v>38.4</c:v>
                </c:pt>
                <c:pt idx="3">
                  <c:v>31.3</c:v>
                </c:pt>
                <c:pt idx="4">
                  <c:v>30.8</c:v>
                </c:pt>
                <c:pt idx="5">
                  <c:v>30.8</c:v>
                </c:pt>
                <c:pt idx="6">
                  <c:v>29.8</c:v>
                </c:pt>
                <c:pt idx="7">
                  <c:v>28.7</c:v>
                </c:pt>
                <c:pt idx="8">
                  <c:v>28.2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8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 (K)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Hardware Failure</c:v>
                  </c:pt>
                  <c:pt idx="1">
                    <c:v>Power Failure</c:v>
                  </c:pt>
                  <c:pt idx="2">
                    <c:v>Software Failure</c:v>
                  </c:pt>
                  <c:pt idx="3">
                    <c:v>Fibre Cut</c:v>
                  </c:pt>
                  <c:pt idx="4">
                    <c:v>Weather Related</c:v>
                  </c:pt>
                  <c:pt idx="5">
                    <c:v>Transmission Issue</c:v>
                  </c:pt>
                  <c:pt idx="6">
                    <c:v>Vendor Related</c:v>
                  </c:pt>
                  <c:pt idx="7">
                    <c:v>Human Error</c:v>
                  </c:pt>
                  <c:pt idx="8">
                    <c:v>Planned Maint.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229.1</c:v>
                </c:pt>
                <c:pt idx="1">
                  <c:v>189.7</c:v>
                </c:pt>
                <c:pt idx="2">
                  <c:v>160.5</c:v>
                </c:pt>
                <c:pt idx="3">
                  <c:v>122.4</c:v>
                </c:pt>
                <c:pt idx="4">
                  <c:v>109.9</c:v>
                </c:pt>
                <c:pt idx="5">
                  <c:v>107.6</c:v>
                </c:pt>
                <c:pt idx="6">
                  <c:v>71.2</c:v>
                </c:pt>
                <c:pt idx="7">
                  <c:v>58.4</c:v>
                </c:pt>
                <c:pt idx="8">
                  <c:v>33.9</c:v>
                </c:pt>
              </c:numCache>
            </c:numRef>
          </c:val>
        </c:ser>
        <c:dLbls>
          <c:numFmt formatCode="0.0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8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Outages</c:v>
                </c:pt>
              </c:strCache>
            </c:strRef>
          </c:tx>
          <c:spPr>
            <a:solidFill>
              <a:srgbClr val="E862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62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London</c:v>
                  </c:pt>
                  <c:pt idx="1">
                    <c:v>South East</c:v>
                  </c:pt>
                  <c:pt idx="2">
                    <c:v>West Midlands</c:v>
                  </c:pt>
                  <c:pt idx="3">
                    <c:v>Yorks. &amp; Humber</c:v>
                  </c:pt>
                  <c:pt idx="4">
                    <c:v>South West</c:v>
                  </c:pt>
                  <c:pt idx="5">
                    <c:v>East Midlands</c:v>
                  </c:pt>
                  <c:pt idx="6">
                    <c:v>North West</c:v>
                  </c:pt>
                  <c:pt idx="7">
                    <c:v>East of England</c:v>
                  </c:pt>
                  <c:pt idx="8">
                    <c:v>Wales</c:v>
                  </c:pt>
                  <c:pt idx="9">
                    <c:v>Scotland</c:v>
                  </c:pt>
                  <c:pt idx="10">
                    <c:v>North East</c:v>
                  </c:pt>
                  <c:pt idx="11">
                    <c:v>N. Ireland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1308</c:v>
                </c:pt>
                <c:pt idx="1">
                  <c:v>638</c:v>
                </c:pt>
                <c:pt idx="2">
                  <c:v>482</c:v>
                </c:pt>
                <c:pt idx="3">
                  <c:v>475</c:v>
                </c:pt>
                <c:pt idx="4">
                  <c:v>426</c:v>
                </c:pt>
                <c:pt idx="5">
                  <c:v>364</c:v>
                </c:pt>
                <c:pt idx="6">
                  <c:v>345</c:v>
                </c:pt>
                <c:pt idx="7">
                  <c:v>297</c:v>
                </c:pt>
                <c:pt idx="8">
                  <c:v>215</c:v>
                </c:pt>
                <c:pt idx="9">
                  <c:v>183</c:v>
                </c:pt>
                <c:pt idx="10">
                  <c:v>157</c:v>
                </c:pt>
                <c:pt idx="11">
                  <c:v>110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Downtime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Sco0142</c:v>
                  </c:pt>
                  <c:pt idx="1">
                    <c:v>Wes0091</c:v>
                  </c:pt>
                  <c:pt idx="2">
                    <c:v>Eas0247</c:v>
                  </c:pt>
                  <c:pt idx="3">
                    <c:v>Lon0219</c:v>
                  </c:pt>
                  <c:pt idx="4">
                    <c:v>Lon0136</c:v>
                  </c:pt>
                  <c:pt idx="5">
                    <c:v>Lon0065</c:v>
                  </c:pt>
                  <c:pt idx="6">
                    <c:v>Eas0120</c:v>
                  </c:pt>
                  <c:pt idx="7">
                    <c:v>Lon0132</c:v>
                  </c:pt>
                  <c:pt idx="8">
                    <c:v>Yor0440</c:v>
                  </c:pt>
                  <c:pt idx="9">
                    <c:v>Sco0052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16.2</c:v>
                </c:pt>
                <c:pt idx="1">
                  <c:v>15.8</c:v>
                </c:pt>
                <c:pt idx="2">
                  <c:v>14.8</c:v>
                </c:pt>
                <c:pt idx="3">
                  <c:v>14.4</c:v>
                </c:pt>
                <c:pt idx="4">
                  <c:v>14.2</c:v>
                </c:pt>
                <c:pt idx="5">
                  <c:v>13.7</c:v>
                </c:pt>
                <c:pt idx="6">
                  <c:v>13.5</c:v>
                </c:pt>
                <c:pt idx="7">
                  <c:v>13.5</c:v>
                </c:pt>
                <c:pt idx="8">
                  <c:v>13.4</c:v>
                </c:pt>
                <c:pt idx="9">
                  <c:v>13.3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 (K)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&quot;K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Wes0476</c:v>
                  </c:pt>
                  <c:pt idx="1">
                    <c:v>Lon0083</c:v>
                  </c:pt>
                  <c:pt idx="2">
                    <c:v>Sco0189</c:v>
                  </c:pt>
                  <c:pt idx="3">
                    <c:v>Lon0400</c:v>
                  </c:pt>
                  <c:pt idx="4">
                    <c:v>Eas0376</c:v>
                  </c:pt>
                  <c:pt idx="5">
                    <c:v>Lon0136</c:v>
                  </c:pt>
                  <c:pt idx="6">
                    <c:v>Sou0412</c:v>
                  </c:pt>
                  <c:pt idx="7">
                    <c:v>Lon0222</c:v>
                  </c:pt>
                  <c:pt idx="8">
                    <c:v>Sco0052</c:v>
                  </c:pt>
                  <c:pt idx="9">
                    <c:v>Wes0029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5.7</c:v>
                </c:pt>
                <c:pt idx="1">
                  <c:v>5</c:v>
                </c:pt>
                <c:pt idx="2">
                  <c:v>4.9</c:v>
                </c:pt>
                <c:pt idx="3">
                  <c:v>4.9</c:v>
                </c:pt>
                <c:pt idx="4">
                  <c:v>4.8</c:v>
                </c:pt>
                <c:pt idx="5">
                  <c:v>4.8</c:v>
                </c:pt>
                <c:pt idx="6">
                  <c:v>4.4</c:v>
                </c:pt>
                <c:pt idx="7">
                  <c:v>4.4</c:v>
                </c:pt>
                <c:pt idx="8">
                  <c:v>4.4</c:v>
                </c:pt>
                <c:pt idx="9">
                  <c:v>4.4</c:v>
                </c:pt>
              </c:numCache>
            </c:numRef>
          </c:val>
        </c:ser>
        <c:dLbls>
          <c:numFmt formatCode="0.0&quot;K&quot;" sourceLinked="0"/>
          <c:txPr>
            <a:bodyPr/>
            <a:lstStyle/>
            <a:p>
              <a:pPr>
                <a:defRPr b="0" i="0" strike="noStrike" sz="8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Compliance %</c:v>
                </c:pt>
              </c:strCache>
            </c:strRef>
          </c:tx>
          <c:spPr>
            <a:solidFill>
              <a:srgbClr val="21C5A8"/>
            </a:solidFill>
            <a:ln w="31750" cap="flat">
              <a:solidFill>
                <a:srgbClr val="21C5A8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1C5A8"/>
              </a:solidFill>
              <a:ln w="9525" cap="flat">
                <a:solidFill>
                  <a:srgbClr val="21C5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Jan24</c:v>
                  </c:pt>
                  <c:pt idx="1">
                    <c:v/>
                  </c:pt>
                  <c:pt idx="2">
                    <c:v/>
                  </c:pt>
                  <c:pt idx="3">
                    <c:v>Apr24</c:v>
                  </c:pt>
                  <c:pt idx="4">
                    <c:v/>
                  </c:pt>
                  <c:pt idx="5">
                    <c:v/>
                  </c:pt>
                  <c:pt idx="6">
                    <c:v>Jul24</c:v>
                  </c:pt>
                  <c:pt idx="7">
                    <c:v/>
                  </c:pt>
                  <c:pt idx="8">
                    <c:v/>
                  </c:pt>
                  <c:pt idx="9">
                    <c:v>Oct24</c:v>
                  </c:pt>
                  <c:pt idx="10">
                    <c:v/>
                  </c:pt>
                  <c:pt idx="11">
                    <c:v/>
                  </c:pt>
                  <c:pt idx="12">
                    <c:v>Jan25</c:v>
                  </c:pt>
                  <c:pt idx="13">
                    <c:v/>
                  </c:pt>
                  <c:pt idx="14">
                    <c:v/>
                  </c:pt>
                  <c:pt idx="15">
                    <c:v>Apr25</c:v>
                  </c:pt>
                  <c:pt idx="16">
                    <c:v/>
                  </c:pt>
                  <c:pt idx="17">
                    <c:v/>
                  </c:pt>
                  <c:pt idx="18">
                    <c:v>Jul25</c:v>
                  </c:pt>
                  <c:pt idx="19">
                    <c:v/>
                  </c:pt>
                  <c:pt idx="20">
                    <c:v/>
                  </c:pt>
                  <c:pt idx="21">
                    <c:v>Oct25</c:v>
                  </c:pt>
                  <c:pt idx="22">
                    <c:v/>
                  </c:pt>
                  <c:pt idx="23">
                    <c:v/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77</c:v>
                </c:pt>
                <c:pt idx="1">
                  <c:v>82</c:v>
                </c:pt>
                <c:pt idx="2">
                  <c:v>75</c:v>
                </c:pt>
                <c:pt idx="3">
                  <c:v>80</c:v>
                </c:pt>
                <c:pt idx="4">
                  <c:v>78</c:v>
                </c:pt>
                <c:pt idx="5">
                  <c:v>84</c:v>
                </c:pt>
                <c:pt idx="6">
                  <c:v>79</c:v>
                </c:pt>
                <c:pt idx="7">
                  <c:v>82</c:v>
                </c:pt>
                <c:pt idx="8">
                  <c:v>80</c:v>
                </c:pt>
                <c:pt idx="9">
                  <c:v>76</c:v>
                </c:pt>
                <c:pt idx="10">
                  <c:v>81</c:v>
                </c:pt>
                <c:pt idx="11">
                  <c:v>83</c:v>
                </c:pt>
                <c:pt idx="12">
                  <c:v>74</c:v>
                </c:pt>
                <c:pt idx="13">
                  <c:v>79</c:v>
                </c:pt>
                <c:pt idx="14">
                  <c:v>83</c:v>
                </c:pt>
                <c:pt idx="15">
                  <c:v>80</c:v>
                </c:pt>
                <c:pt idx="16">
                  <c:v>84</c:v>
                </c:pt>
                <c:pt idx="17">
                  <c:v>82</c:v>
                </c:pt>
                <c:pt idx="18">
                  <c:v>79</c:v>
                </c:pt>
                <c:pt idx="19">
                  <c:v>81</c:v>
                </c:pt>
                <c:pt idx="20">
                  <c:v>84</c:v>
                </c:pt>
                <c:pt idx="21">
                  <c:v>86</c:v>
                </c:pt>
                <c:pt idx="22">
                  <c:v>83</c:v>
                </c:pt>
                <c:pt idx="23">
                  <c:v>88</c:v>
                </c:pt>
              </c:numCache>
            </c:numRef>
          </c:val>
          <c:smooth val="1"/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8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70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B8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Non-Compliant</c:v>
                </c:pt>
              </c:strCache>
            </c:strRef>
          </c:tx>
          <c:spPr>
            <a:solidFill>
              <a:srgbClr val="E862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Hardware Failure</c:v>
                  </c:pt>
                  <c:pt idx="1">
                    <c:v>Software Failure</c:v>
                  </c:pt>
                  <c:pt idx="2">
                    <c:v>Power Failure</c:v>
                  </c:pt>
                  <c:pt idx="3">
                    <c:v>Fibre Cut</c:v>
                  </c:pt>
                  <c:pt idx="4">
                    <c:v>Weather Related</c:v>
                  </c:pt>
                  <c:pt idx="5">
                    <c:v>Transmission Issue</c:v>
                  </c:pt>
                  <c:pt idx="6">
                    <c:v>Human Error</c:v>
                  </c:pt>
                  <c:pt idx="7">
                    <c:v>Vendor Related</c:v>
                  </c:pt>
                  <c:pt idx="8">
                    <c:v>Planned Maint.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171</c:v>
                </c:pt>
                <c:pt idx="1">
                  <c:v>110</c:v>
                </c:pt>
                <c:pt idx="2">
                  <c:v>105</c:v>
                </c:pt>
                <c:pt idx="3">
                  <c:v>99</c:v>
                </c:pt>
                <c:pt idx="4">
                  <c:v>53</c:v>
                </c:pt>
                <c:pt idx="5">
                  <c:v>49</c:v>
                </c:pt>
                <c:pt idx="6">
                  <c:v>35</c:v>
                </c:pt>
                <c:pt idx="7">
                  <c:v>35</c:v>
                </c:pt>
                <c:pt idx="8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Violations</c:v>
                </c:pt>
              </c:strCache>
            </c:strRef>
          </c:tx>
          <c:spPr>
            <a:solidFill>
              <a:srgbClr val="E862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Critical Outage</c:v>
                  </c:pt>
                  <c:pt idx="1">
                    <c:v>Major Outage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427</c:v>
                </c:pt>
                <c:pt idx="1">
                  <c:v>247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Violations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None</c:v>
                  </c:pt>
                  <c:pt idx="1">
                    <c:v>Vendor Delay</c:v>
                  </c:pt>
                  <c:pt idx="2">
                    <c:v>Resource Unavailable</c:v>
                  </c:pt>
                  <c:pt idx="3">
                    <c:v>Complex Issue</c:v>
                  </c:pt>
                  <c:pt idx="4">
                    <c:v>Part Availability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</c:v>
                </c:pt>
                <c:pt idx="1">
                  <c:v>216</c:v>
                </c:pt>
                <c:pt idx="2">
                  <c:v>118</c:v>
                </c:pt>
                <c:pt idx="3">
                  <c:v>60</c:v>
                </c:pt>
                <c:pt idx="4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Compliance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Huawei</c:v>
                  </c:pt>
                  <c:pt idx="1">
                    <c:v>Cisco</c:v>
                  </c:pt>
                  <c:pt idx="2">
                    <c:v>ZTE</c:v>
                  </c:pt>
                  <c:pt idx="3">
                    <c:v>Nokia</c:v>
                  </c:pt>
                  <c:pt idx="4">
                    <c:v>Ericsson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82.2</c:v>
                </c:pt>
                <c:pt idx="1">
                  <c:v>81.1</c:v>
                </c:pt>
                <c:pt idx="2">
                  <c:v>80.5</c:v>
                </c:pt>
                <c:pt idx="3">
                  <c:v>79.9</c:v>
                </c:pt>
                <c:pt idx="4">
                  <c:v>78.7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Alarms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Minor</c:v>
                  </c:pt>
                  <c:pt idx="1">
                    <c:v>Info</c:v>
                  </c:pt>
                  <c:pt idx="2">
                    <c:v>Major</c:v>
                  </c:pt>
                  <c:pt idx="3">
                    <c:v>Critical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4809</c:v>
                </c:pt>
                <c:pt idx="1">
                  <c:v>4067</c:v>
                </c:pt>
                <c:pt idx="2">
                  <c:v>3600</c:v>
                </c:pt>
                <c:pt idx="3">
                  <c:v>2524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</c:v>
                </c:pt>
              </c:strCache>
            </c:strRef>
          </c:tx>
          <c:spPr>
            <a:solidFill>
              <a:srgbClr val="E862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Critical</c:v>
                  </c:pt>
                  <c:pt idx="1">
                    <c:v>Major</c:v>
                  </c:pt>
                  <c:pt idx="2">
                    <c:v>Minor</c:v>
                  </c:pt>
                  <c:pt idx="3">
                    <c:v>Info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9.1</c:v>
                </c:pt>
                <c:pt idx="2">
                  <c:v>7.7</c:v>
                </c:pt>
                <c:pt idx="3">
                  <c:v>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Medium-High</c:v>
                  </c:pt>
                  <c:pt idx="1">
                    <c:v>High</c:v>
                  </c:pt>
                  <c:pt idx="2">
                    <c:v>Medium</c:v>
                  </c:pt>
                  <c:pt idx="3">
                    <c:v>Low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1287</c:v>
                </c:pt>
                <c:pt idx="1">
                  <c:v>982</c:v>
                </c:pt>
                <c:pt idx="2">
                  <c:v>678</c:v>
                </c:pt>
                <c:pt idx="3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High</c:v>
                  </c:pt>
                  <c:pt idx="1">
                    <c:v>Medium-High</c:v>
                  </c:pt>
                  <c:pt idx="2">
                    <c:v>Medium</c:v>
                  </c:pt>
                  <c:pt idx="3">
                    <c:v>Low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46.3</c:v>
                </c:pt>
                <c:pt idx="1">
                  <c:v>22.6</c:v>
                </c:pt>
                <c:pt idx="2">
                  <c:v>11.2</c:v>
                </c:pt>
                <c:pt idx="3">
                  <c:v>3.6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£&quot;0.0&quot;K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Planned</c:v>
                  </c:pt>
                  <c:pt idx="1">
                    <c:v>Corrective</c:v>
                  </c:pt>
                  <c:pt idx="2">
                    <c:v>Emergency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597.6</c:v>
                </c:pt>
                <c:pt idx="1">
                  <c:v>251.3</c:v>
                </c:pt>
                <c:pt idx="2">
                  <c:v>224.8</c:v>
                </c:pt>
              </c:numCache>
            </c:numRef>
          </c:val>
        </c:ser>
        <c:dLbls>
          <c:numFmt formatCode="&quot;£&quot;0.0&quot;K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Corrective</c:v>
                  </c:pt>
                  <c:pt idx="1">
                    <c:v>Planned</c:v>
                  </c:pt>
                  <c:pt idx="2">
                    <c:v>Emergency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95.5</c:v>
                </c:pt>
                <c:pt idx="1">
                  <c:v>95.1</c:v>
                </c:pt>
                <c:pt idx="2">
                  <c:v>91.8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£&quot;0.0&quot;K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Cisco</c:v>
                  </c:pt>
                  <c:pt idx="1">
                    <c:v>Ericsson</c:v>
                  </c:pt>
                  <c:pt idx="2">
                    <c:v>ZTE</c:v>
                  </c:pt>
                  <c:pt idx="3">
                    <c:v>Nokia</c:v>
                  </c:pt>
                  <c:pt idx="4">
                    <c:v>Huawei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271.8</c:v>
                </c:pt>
                <c:pt idx="1">
                  <c:v>211.6</c:v>
                </c:pt>
                <c:pt idx="2">
                  <c:v>211.1</c:v>
                </c:pt>
                <c:pt idx="3">
                  <c:v>204.1</c:v>
                </c:pt>
                <c:pt idx="4">
                  <c:v>175.1</c:v>
                </c:pt>
              </c:numCache>
            </c:numRef>
          </c:val>
        </c:ser>
        <c:dLbls>
          <c:numFmt formatCode="&quot;£&quot;0.0&quot;K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Nokia</c:v>
                  </c:pt>
                  <c:pt idx="1">
                    <c:v>Huawei</c:v>
                  </c:pt>
                  <c:pt idx="2">
                    <c:v>Cisco</c:v>
                  </c:pt>
                  <c:pt idx="3">
                    <c:v>ZTE</c:v>
                  </c:pt>
                  <c:pt idx="4">
                    <c:v>Ericsson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97.4</c:v>
                </c:pt>
                <c:pt idx="1">
                  <c:v>95.6</c:v>
                </c:pt>
                <c:pt idx="2">
                  <c:v>95.6</c:v>
                </c:pt>
                <c:pt idx="3">
                  <c:v>92.6</c:v>
                </c:pt>
                <c:pt idx="4">
                  <c:v>92.3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chart" Target="/ppt/charts/chart22.xml"/><Relationship Id="rId4" Type="http://schemas.openxmlformats.org/officeDocument/2006/relationships/chart" Target="/ppt/charts/chart23.xm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B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91440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8275320" y="1417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5" name="Shape 3"/>
          <p:cNvSpPr/>
          <p:nvPr/>
        </p:nvSpPr>
        <p:spPr>
          <a:xfrm>
            <a:off x="7772400" y="192024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7269480" y="242316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7" name="Shape 5"/>
          <p:cNvSpPr/>
          <p:nvPr/>
        </p:nvSpPr>
        <p:spPr>
          <a:xfrm>
            <a:off x="9052560" y="-2377440"/>
            <a:ext cx="6583680" cy="6583680"/>
          </a:xfrm>
          <a:prstGeom prst="ellipse">
            <a:avLst/>
          </a:prstGeom>
          <a:ln w="19050">
            <a:solidFill>
              <a:srgbClr val="1C729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0" y="-1828800"/>
            <a:ext cx="5486400" cy="5486400"/>
          </a:xfrm>
          <a:prstGeom prst="ellipse">
            <a:avLst/>
          </a:prstGeom>
          <a:ln w="19050">
            <a:solidFill>
              <a:srgbClr val="21C5A8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49840" y="-1280160"/>
            <a:ext cx="4389120" cy="4389120"/>
          </a:xfrm>
          <a:prstGeom prst="ellipse">
            <a:avLst/>
          </a:prstGeom>
          <a:ln w="19050">
            <a:solidFill>
              <a:srgbClr val="1C7293">
                <a:alpha val="5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1C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NETWORK OPERATIONS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Outage Performance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Reliability Analytics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31520" y="4160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5,000 outages and 1.08M customer impacts into a targeted reliability roadmap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49808" y="4800600"/>
            <a:ext cx="1463040" cy="0"/>
          </a:xfrm>
          <a:prstGeom prst="line">
            <a:avLst/>
          </a:prstGeom>
          <a:noFill/>
          <a:ln w="31750">
            <a:solidFill>
              <a:srgbClr val="21C5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Review  |  FY2024 – FY2025  |  500 Sites  •  5 Vendors  •  12 UK Regions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1C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Outages Are Eroding Service Reliability and Customer Trust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D6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FY2024–FY2025 the network recorded 5,000 outages spanning 500 sites and 5 vendors. Nearly 1 in 5 SLA assessments breached target, and customer-facing impact reached over a million incidents — translating directly into complaints, escalated trouble tickets, and rising maintenance spend.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3337560"/>
            <a:ext cx="384048" cy="38404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60" dirty="0"/>
          </a:p>
        </p:txBody>
      </p:sp>
      <p:sp>
        <p:nvSpPr>
          <p:cNvPr id="7" name="Text 5"/>
          <p:cNvSpPr/>
          <p:nvPr/>
        </p:nvSpPr>
        <p:spPr>
          <a:xfrm>
            <a:off x="1097280" y="331012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Brand Risk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97280" y="35935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19.58% SLA breach rate puts penalty exposure and renewal risk on the table.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297680"/>
            <a:ext cx="384048" cy="38404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60" dirty="0"/>
          </a:p>
        </p:txBody>
      </p:sp>
      <p:sp>
        <p:nvSpPr>
          <p:cNvPr id="11" name="Text 9"/>
          <p:cNvSpPr/>
          <p:nvPr/>
        </p:nvSpPr>
        <p:spPr>
          <a:xfrm>
            <a:off x="1097280" y="427024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Experience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97280" y="45537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complaints and 610 escalated tickets trace back to unresolved outages.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384048" cy="38404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60" dirty="0"/>
          </a:p>
        </p:txBody>
      </p:sp>
      <p:sp>
        <p:nvSpPr>
          <p:cNvPr id="15" name="Text 13"/>
          <p:cNvSpPr/>
          <p:nvPr/>
        </p:nvSpPr>
        <p:spPr>
          <a:xfrm>
            <a:off x="1097280" y="523036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Cost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97280" y="551383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£1.07M in maintenance spend, with emergency callouts the least reliable category.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0" y="1417320"/>
            <a:ext cx="4754880" cy="4709160"/>
          </a:xfrm>
          <a:prstGeom prst="roundRect">
            <a:avLst>
              <a:gd name="adj" fmla="val 1942"/>
            </a:avLst>
          </a:prstGeom>
          <a:solidFill>
            <a:srgbClr val="12224A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1C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FY2024–FY2025 AT A GLANCE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78040" y="2148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144000" y="2258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network outages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78040" y="2807208"/>
            <a:ext cx="4114800" cy="0"/>
          </a:xfrm>
          <a:prstGeom prst="line">
            <a:avLst/>
          </a:prstGeom>
          <a:noFill/>
          <a:ln w="12700">
            <a:solidFill>
              <a:srgbClr val="2738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78040" y="30449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3,049 hrs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9144000" y="31546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downtime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178040" y="3703320"/>
            <a:ext cx="4114800" cy="0"/>
          </a:xfrm>
          <a:prstGeom prst="line">
            <a:avLst/>
          </a:prstGeom>
          <a:noFill/>
          <a:ln w="12700">
            <a:solidFill>
              <a:srgbClr val="273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78040" y="39410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1.08M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144000" y="405079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impact events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178040" y="4599432"/>
            <a:ext cx="4114800" cy="0"/>
          </a:xfrm>
          <a:prstGeom prst="line">
            <a:avLst/>
          </a:prstGeom>
          <a:noFill/>
          <a:ln w="12700">
            <a:solidFill>
              <a:srgbClr val="273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040" y="483717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19.58%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9144000" y="494690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breach rate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178040" y="5495544"/>
            <a:ext cx="4114800" cy="0"/>
          </a:xfrm>
          <a:prstGeom prst="line">
            <a:avLst/>
          </a:prstGeom>
          <a:noFill/>
          <a:ln w="12700">
            <a:solidFill>
              <a:srgbClr val="2738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Executive Overview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Outage Scorecard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6112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18488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0080" y="223113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Outages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41448" y="1508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32888" y="1618488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36.6 min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532888" y="223113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Outage Duration (MTTR)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4256" y="1508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25696" y="1618488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3,049.2 hrs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425696" y="223113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Downtime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27064" y="1508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18504" y="1618488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1,082,653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318504" y="223113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Impact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19872" y="1508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11312" y="1618488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19.58%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8211312" y="223113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Breach Rate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012680" y="1508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104120" y="1618488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9.64 min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0104120" y="223113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Alarm Time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2926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Outage Trend</a:t>
            </a:r>
            <a:endParaRPr lang="en-US" sz="13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57200" y="3246120"/>
          <a:ext cx="55778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6355080" y="29260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by Vendor</a:t>
            </a:r>
            <a:endParaRPr lang="en-US" sz="1300" dirty="0"/>
          </a:p>
        </p:txBody>
      </p:sp>
      <p:graphicFrame>
        <p:nvGraphicFramePr>
          <p:cNvPr id="27" name="Chart 1" descr=""/>
          <p:cNvGraphicFramePr/>
          <p:nvPr/>
        </p:nvGraphicFramePr>
        <p:xfrm>
          <a:off x="6263640" y="3246120"/>
          <a:ext cx="544068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Text 24"/>
          <p:cNvSpPr/>
          <p:nvPr/>
        </p:nvSpPr>
        <p:spPr>
          <a:xfrm>
            <a:off x="548640" y="5989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frequency held broadly steady in the 160–225/month band with no runaway growth — but vendor volumes cluster tightly (954–1,032), meaning the difference between vendors shows up in resolution speed and SLA outcomes, not raw incident count (see slide 4).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—  Executive Overview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&amp; VENDOR 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Volume Is Even — Vendor Reliability Is Not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6112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VENDORS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Outage Duration by Vendor (min)</a:t>
            </a:r>
            <a:endParaRPr lang="en-US" sz="12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37360"/>
          <a:ext cx="54864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263640" y="14173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Breach Rate by Vendor</a:t>
            </a:r>
            <a:endParaRPr lang="en-US" sz="12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172200" y="1737360"/>
          <a:ext cx="55321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4114800"/>
            <a:ext cx="11155680" cy="1691640"/>
          </a:xfrm>
          <a:prstGeom prst="roundRect">
            <a:avLst>
              <a:gd name="adj" fmla="val 4324"/>
            </a:avLst>
          </a:prstGeom>
          <a:solidFill>
            <a:srgbClr val="EAF2F6"/>
          </a:solidFill>
          <a:ln/>
        </p:spPr>
      </p:sp>
      <p:sp>
        <p:nvSpPr>
          <p:cNvPr id="11" name="Shape 7"/>
          <p:cNvSpPr/>
          <p:nvPr/>
        </p:nvSpPr>
        <p:spPr>
          <a:xfrm>
            <a:off x="868680" y="4407408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8"/>
          <p:cNvSpPr/>
          <p:nvPr/>
        </p:nvSpPr>
        <p:spPr>
          <a:xfrm>
            <a:off x="86868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1600200" y="434340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Reliability, not volume, separates vendors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600200" y="470916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posts the longest average outage duration (38 min) and the highest SLA breach rate (20.91%) despite ranking only #2 by outage count. Huawei, by contrast, has the fewest outages (954) and the best SLA performance (18.48% breach). Vendor contracts should weight time-to-restore and SLA adherence, not just incident volume.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Vendor Performance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Failure Is the Single Largest Driver of Outages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77824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ROOT CAUSE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27048"/>
            <a:ext cx="2423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Failure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19568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Root Cause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417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29000" y="1527048"/>
            <a:ext cx="2423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1,076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429000" y="19568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Caused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527048"/>
            <a:ext cx="2423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826.5 hrs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217920" y="19568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Caused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15400" y="1417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006840" y="1527048"/>
            <a:ext cx="2423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229.1K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006840" y="19568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Impacted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by Root Cause</a:t>
            </a:r>
            <a:endParaRPr lang="en-US" sz="125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92608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7269480" y="2926080"/>
            <a:ext cx="4343400" cy="3566160"/>
          </a:xfrm>
          <a:prstGeom prst="roundRect">
            <a:avLst>
              <a:gd name="adj" fmla="val 2564"/>
            </a:avLst>
          </a:prstGeom>
          <a:solidFill>
            <a:srgbClr val="0B1B33"/>
          </a:solidFill>
          <a:ln/>
        </p:spPr>
      </p:sp>
      <p:sp>
        <p:nvSpPr>
          <p:cNvPr id="21" name="Text 18"/>
          <p:cNvSpPr/>
          <p:nvPr/>
        </p:nvSpPr>
        <p:spPr>
          <a:xfrm>
            <a:off x="7589520" y="3154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1C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589520" y="352044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failure tops all three lenses at once — most outages (1,076), most downtime hours (826.5), and most customers affected (229.1K). It is not just the most frequent fault; it is also the most disruptive per incident, making it the highest-leverage fix in the entire outage portfolio.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589520" y="5212080"/>
            <a:ext cx="3749040" cy="0"/>
          </a:xfrm>
          <a:prstGeom prst="line">
            <a:avLst/>
          </a:prstGeom>
          <a:noFill/>
          <a:ln w="12700">
            <a:solidFill>
              <a:srgbClr val="27385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89520" y="5349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causes (Hardware, Power, Software) account for 53% of all outages.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Root Cause Analysis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Causes Fail in Different 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77824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ROOT CAUSE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Outage Duration by Root Cause (min)</a:t>
            </a:r>
            <a:endParaRPr lang="en-US" sz="11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19072"/>
          <a:ext cx="548640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263640" y="1417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Impact by Root Cause</a:t>
            </a:r>
            <a:endParaRPr lang="en-US" sz="11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172200" y="1719072"/>
          <a:ext cx="553212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47091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EAF2F6"/>
          </a:solidFill>
          <a:ln/>
        </p:spPr>
      </p:sp>
      <p:sp>
        <p:nvSpPr>
          <p:cNvPr id="11" name="Shape 7"/>
          <p:cNvSpPr/>
          <p:nvPr/>
        </p:nvSpPr>
        <p:spPr>
          <a:xfrm>
            <a:off x="822960" y="495604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8"/>
          <p:cNvSpPr/>
          <p:nvPr/>
        </p:nvSpPr>
        <p:spPr>
          <a:xfrm>
            <a:off x="82296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463040" y="489204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 cuts are rarer (588 events) but take almost as long to fix as hardware failures (45.4 vs 46.1 min avg) — physical repair and truck-roll dependency make them a repair-complexity outlier worth its own escalation path, distinct from the hardware-failure volume problem.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—  Root Cause Analysis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&amp; REGIONAL 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London Is a Structural Outlier, Not Just the Biggest Region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6112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HOTSPOTS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270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19110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Sites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417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29000" y="15270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29000" y="19110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Vendors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5270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London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17920" y="19110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Outage Region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15400" y="1417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006840" y="15270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ZTE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006840" y="19110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Outage Vendor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by Region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880360"/>
          <a:ext cx="5532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6263640" y="2880360"/>
            <a:ext cx="5440680" cy="3611880"/>
          </a:xfrm>
          <a:prstGeom prst="roundRect">
            <a:avLst>
              <a:gd name="adj" fmla="val 2532"/>
            </a:avLst>
          </a:prstGeom>
          <a:solidFill>
            <a:srgbClr val="0B1B33"/>
          </a:solidFill>
          <a:ln/>
        </p:spPr>
      </p:sp>
      <p:sp>
        <p:nvSpPr>
          <p:cNvPr id="21" name="Text 18"/>
          <p:cNvSpPr/>
          <p:nvPr/>
        </p:nvSpPr>
        <p:spPr>
          <a:xfrm>
            <a:off x="6583680" y="3108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1C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583680" y="349300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accounts for 1,308 outages — 26% of the network total from a single region — and 827.5 of the 3,049 downtime hours (27%). That share is disproportionate to any one-region average (which would sit near 8% across 12 regions), pointing to concentrated density, aging estate, or capacity strain rather than a UK-wide fault pattern.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83680" y="5166360"/>
            <a:ext cx="4846320" cy="0"/>
          </a:xfrm>
          <a:prstGeom prst="line">
            <a:avLst/>
          </a:prstGeom>
          <a:noFill/>
          <a:ln w="12700">
            <a:solidFill>
              <a:srgbClr val="27385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0" y="53035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East (638) and West Midlands (482) are distant second-tier hotspots — London needs a dedicated remediation track.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—  Site &amp; Regional Performance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SITE-LEVEL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Set of Repeat-Offender Sites Needs Direct Intervention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6112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HOTSPOTS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Sites by Downtime (hrs)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263640" y="1463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Sites by Customer Impact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263640" y="178308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610819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Lon0136 and Sco0052 appear on both leaderboards — high downtime AND high customer impact — making them the clearest candidates for root-cause site audits ahead of the next maintenance cycle.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—  Site-Level Analysis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&amp; SERVICE 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 Climbing — Hardware Still Drives Breaches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6112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SLA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270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3,456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0080" y="19110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Assessments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417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29000" y="15270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80.50%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429000" y="19110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5270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674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217920" y="19110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15400" y="1417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006840" y="15270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37.1 min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006840" y="19110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Resolution Time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2606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Compliance Rate by Month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907792"/>
          <a:ext cx="5577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/>
          <p:nvPr/>
        </p:nvSpPr>
        <p:spPr>
          <a:xfrm>
            <a:off x="6263640" y="2606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Non-Compliant Assessments by Root Cause</a:t>
            </a:r>
            <a:endParaRPr lang="en-US" sz="12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6263640" y="2907792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—  SLA &amp; Service Performance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&amp; SERVICE 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Outages and Vendor Delay Drive Most SLA Violations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6112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SLA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Violations by Type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35204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611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Violations by Reason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57200" y="3931920"/>
          <a:ext cx="35204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434340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Compliance by Vendor</a:t>
            </a:r>
            <a:endParaRPr lang="en-US" sz="120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4251960" y="1783080"/>
          <a:ext cx="370332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8183880" y="1463040"/>
            <a:ext cx="3429000" cy="4983480"/>
          </a:xfrm>
          <a:prstGeom prst="roundRect">
            <a:avLst>
              <a:gd name="adj" fmla="val 2667"/>
            </a:avLst>
          </a:prstGeom>
          <a:solidFill>
            <a:srgbClr val="0B1B33"/>
          </a:solidFill>
          <a:ln/>
        </p:spPr>
      </p:sp>
      <p:sp>
        <p:nvSpPr>
          <p:cNvPr id="13" name="Text 8"/>
          <p:cNvSpPr/>
          <p:nvPr/>
        </p:nvSpPr>
        <p:spPr>
          <a:xfrm>
            <a:off x="845820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C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8458200" y="2057400"/>
            <a:ext cx="2926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6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 of SLA violations (427 of 674) stem from Critical Outages, and vendor delay is the single largest attributed cause (216 cases) after “none recorded.” Ericsson's SLA compliance (78.7%) trails the vendor average even though its outage volume is mid-pack — confirming that resolution speed, not fault frequency, is its weak point.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458200" y="5212080"/>
            <a:ext cx="2926080" cy="0"/>
          </a:xfrm>
          <a:prstGeom prst="line">
            <a:avLst/>
          </a:prstGeom>
          <a:noFill/>
          <a:ln w="12700">
            <a:solidFill>
              <a:srgbClr val="27385F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458200" y="5349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East leads regional SLA compliance (85.0%); West Midlands lags (80.1%).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—  SLA &amp; Service Performance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&amp; DETECTION 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Is Fast — Automated Resolution Still Lags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6112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ALARMS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15,000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Alarms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8892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036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4,750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8036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w/ Alarms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2064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4,542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2064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Auto-Resolved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26948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6092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30.28%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36092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Auto-Resolution Rate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0976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60120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9.64 min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0120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Alarm Time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25786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by Severity</a:t>
            </a:r>
            <a:endParaRPr lang="en-US" sz="12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457200" y="2880360"/>
          <a:ext cx="53949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/>
          <p:nvPr/>
        </p:nvSpPr>
        <p:spPr>
          <a:xfrm>
            <a:off x="548640" y="4892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Time to First Alarm by Severity (min)</a:t>
            </a:r>
            <a:endParaRPr lang="en-US" sz="12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57200" y="516636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hape 21"/>
          <p:cNvSpPr/>
          <p:nvPr/>
        </p:nvSpPr>
        <p:spPr>
          <a:xfrm>
            <a:off x="6263640" y="2578608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0B1B33"/>
          </a:solidFill>
          <a:ln/>
        </p:spPr>
      </p:sp>
      <p:sp>
        <p:nvSpPr>
          <p:cNvPr id="26" name="Text 22"/>
          <p:cNvSpPr/>
          <p:nvPr/>
        </p:nvSpPr>
        <p:spPr>
          <a:xfrm>
            <a:off x="6583680" y="2816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1C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583680" y="32004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alarms take the longest to surface (11.2 min vs 6.6 min for Info) — the opposite of what a well-tuned monitoring stack should show. Meanwhile only 30.28% of alarms auto-resolve, so roughly 7 in 10 still require manual triage across a 12-type, evenly-distributed alarm mix (1,167–1,328 events each), signalling a systemic monitoring/automation gap rather than one bad alarm type.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583680" y="5212080"/>
            <a:ext cx="4846320" cy="0"/>
          </a:xfrm>
          <a:prstGeom prst="line">
            <a:avLst/>
          </a:prstGeom>
          <a:noFill/>
          <a:ln w="12700">
            <a:solidFill>
              <a:srgbClr val="27385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583680" y="53492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LINK_DOWN has the best auto-resolution rate (32.2%); MEMORY_HIGH the weakest (29.0%) — a narrow 3-point spread across all alarm types.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—  Alarm &amp; Detection Performance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SERVICE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Issues Are Surfacing as Complaints and Escalations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77824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CUSTOMER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2,000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Complaints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8892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036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84.55%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8036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Resolution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2064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2064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 Tickets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26948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6092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610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36092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Tickets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0976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60120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20.33%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0120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Rate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25786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 Tickets by Priority</a:t>
            </a:r>
            <a:endParaRPr lang="en-US" sz="12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457200" y="2880360"/>
          <a:ext cx="539496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/>
          <p:nvPr/>
        </p:nvSpPr>
        <p:spPr>
          <a:xfrm>
            <a:off x="548640" y="4983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Ticket Resolution Time by Priority (hrs)</a:t>
            </a:r>
            <a:endParaRPr lang="en-US" sz="12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57200" y="5257800"/>
          <a:ext cx="5394960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hape 21"/>
          <p:cNvSpPr/>
          <p:nvPr/>
        </p:nvSpPr>
        <p:spPr>
          <a:xfrm>
            <a:off x="6263640" y="2578608"/>
            <a:ext cx="5440680" cy="3913632"/>
          </a:xfrm>
          <a:prstGeom prst="roundRect">
            <a:avLst>
              <a:gd name="adj" fmla="val 2336"/>
            </a:avLst>
          </a:prstGeom>
          <a:solidFill>
            <a:srgbClr val="0B1B33"/>
          </a:solidFill>
          <a:ln/>
        </p:spPr>
      </p:sp>
      <p:sp>
        <p:nvSpPr>
          <p:cNvPr id="26" name="Text 22"/>
          <p:cNvSpPr/>
          <p:nvPr/>
        </p:nvSpPr>
        <p:spPr>
          <a:xfrm>
            <a:off x="6583680" y="2816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1C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583680" y="320040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High-priority tickets take 46.3 hours to resolve on average — nearly 13x longer than low-priority tickets (3.6 hrs) — and Medium/Medium-High tickets make up 65% of total ticket volume, so this is where resolution-time investment has the widest reach. Complaint channels are evenly split (App, Store, Web, Social, Phone all 393–406), confirming the issue is service reliability itself, not any single contact channel.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583680" y="5486400"/>
            <a:ext cx="4846320" cy="0"/>
          </a:xfrm>
          <a:prstGeom prst="line">
            <a:avLst/>
          </a:prstGeom>
          <a:noFill/>
          <a:ln w="12700">
            <a:solidFill>
              <a:srgbClr val="27385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583680" y="5623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rate climbs with priority (18.9% Low → 20.9% Medium), suggesting current triage isn't fully protecting urgent cases from further escalation.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—  Customer &amp; Service Impact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RELIABILITY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Planned Spend Is High — Emergency Risk Is Higher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77824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MAINTENANCE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Activities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8892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036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94.70%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8036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Rate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2064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£1.07M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2064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26948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6092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36092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Duration (hrs)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09760" y="1417320"/>
            <a:ext cx="2121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4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601200" y="15270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01200" y="19110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Activities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25786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Cost by Type</a:t>
            </a:r>
            <a:endParaRPr lang="en-US" sz="12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457200" y="2880360"/>
          <a:ext cx="53949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/>
          <p:nvPr/>
        </p:nvSpPr>
        <p:spPr>
          <a:xfrm>
            <a:off x="548640" y="4709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Rate by Type</a:t>
            </a:r>
            <a:endParaRPr lang="en-US" sz="12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57200" y="4983480"/>
          <a:ext cx="539496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 21"/>
          <p:cNvSpPr/>
          <p:nvPr/>
        </p:nvSpPr>
        <p:spPr>
          <a:xfrm>
            <a:off x="6263640" y="25786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Cost by Vendor</a:t>
            </a:r>
            <a:endParaRPr lang="en-US" sz="1200" dirty="0"/>
          </a:p>
        </p:txBody>
      </p:sp>
      <p:graphicFrame>
        <p:nvGraphicFramePr>
          <p:cNvPr id="26" name="Chart 2" descr=""/>
          <p:cNvGraphicFramePr/>
          <p:nvPr/>
        </p:nvGraphicFramePr>
        <p:xfrm>
          <a:off x="6263640" y="2880360"/>
          <a:ext cx="54406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 22"/>
          <p:cNvSpPr/>
          <p:nvPr/>
        </p:nvSpPr>
        <p:spPr>
          <a:xfrm>
            <a:off x="6263640" y="470916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Rate by Vendor</a:t>
            </a:r>
            <a:endParaRPr lang="en-US" sz="1200" dirty="0"/>
          </a:p>
        </p:txBody>
      </p:sp>
      <p:graphicFrame>
        <p:nvGraphicFramePr>
          <p:cNvPr id="28" name="Chart 3" descr=""/>
          <p:cNvGraphicFramePr/>
          <p:nvPr/>
        </p:nvGraphicFramePr>
        <p:xfrm>
          <a:off x="6263640" y="4983480"/>
          <a:ext cx="54406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9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—  Maintenance &amp; Reliability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Insights That Should Shape the Reliability 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77824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777240" cy="896112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17320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08760" y="15087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failure is the #1 lever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508760" y="183794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drives the most outages (1,076), the most downtime (826.5 hrs) and the most customer impact (229.1K) — fixing it moves every KPI at once.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414016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414016"/>
            <a:ext cx="777240" cy="896112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414016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08760" y="2505456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sites and one region carry outsized risk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508760" y="28346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alone accounts for 26% of outages; Lon0136 and Sco0052 top both the downtime and customer-impact leaderboards.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410712"/>
            <a:ext cx="777240" cy="896112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410712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35021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risk is about speed, not frequency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383133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has mid-pack outage volume but the longest repair time (38 min) and highest SLA breach rate (20.91%).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407408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4407408"/>
            <a:ext cx="777240" cy="896112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407408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508760" y="449884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is under-leveraged in alarm response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508760" y="482803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30.28% of 15,000 alarms auto-resolve, and critical alarms take the longest (11.2 min) to even surface.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404104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5404104"/>
            <a:ext cx="777240" cy="896112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5404104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508760" y="5495544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maintenance is the weak link in reliability spend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508760" y="582472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the lowest completion rate (91.8%) of any maintenance type, despite being the fastest and not the costliest to run.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—  Key Insights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Five-Point Plan to Rebuild SLA Confidence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77824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PLAN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764792"/>
            <a:ext cx="457200" cy="457200"/>
          </a:xfrm>
          <a:prstGeom prst="ellipse">
            <a:avLst/>
          </a:prstGeom>
          <a:solidFill>
            <a:srgbClr val="21C5A8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37744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Hardware Refresh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2880360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the top 20 hardware-failure sites (incl. Lon0136, Sco0052) with condition-based replacement ahead of failure, not after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15968" y="150876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0B1B33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1764792"/>
            <a:ext cx="457200" cy="457200"/>
          </a:xfrm>
          <a:prstGeom prst="ellipse">
            <a:avLst/>
          </a:prstGeom>
          <a:solidFill>
            <a:srgbClr val="21C5A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37744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SLA Renegotiation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880360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Ericsson's contract around time-to-restore and SLA-adherence penalties, not just fault volume; benchmark against Huawei's 18.48% breach rate.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150876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0B1B33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9328" y="1764792"/>
            <a:ext cx="457200" cy="457200"/>
          </a:xfrm>
          <a:prstGeom prst="ellipse">
            <a:avLst/>
          </a:prstGeom>
          <a:solidFill>
            <a:srgbClr val="21C5A8"/>
          </a:solidFill>
          <a:ln/>
        </p:spPr>
      </p:sp>
      <p:sp>
        <p:nvSpPr>
          <p:cNvPr id="18" name="Text 16"/>
          <p:cNvSpPr/>
          <p:nvPr/>
        </p:nvSpPr>
        <p:spPr>
          <a:xfrm>
            <a:off x="833932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9328" y="237744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AIOps Auto-Remediation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39328" y="2880360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automated triage/runbooks to lift the 30.28% alarm auto-resolution rate, prioritizing Critical-severity alarms first.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32511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04672" y="493776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Regional Hardening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5440680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dedicated remediation programme for London given its 26% share of outages and 27% share of downtime hours.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15968" y="406908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432511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0" y="493776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the Maintenance Mix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5440680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planned/preventive coverage to reduce reliance on Emergency maintenance, currently the least reliable category at 91.8% completion.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—  Recommendations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Phased Path From Quick Wins to Structural Fixes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61120" y="365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0" y="3657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508760"/>
            <a:ext cx="361188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148840"/>
            <a:ext cx="3611880" cy="320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 Months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1956816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Stabilize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22960" y="2816352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6974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top 10 repeat-offender sites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3712464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59359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Renegotiate Ericsson SLA terms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608576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489704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London incident task force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43400" y="150876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1508760"/>
            <a:ext cx="361188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</p:sp>
      <p:sp>
        <p:nvSpPr>
          <p:cNvPr id="19" name="Shape 17"/>
          <p:cNvSpPr/>
          <p:nvPr/>
        </p:nvSpPr>
        <p:spPr>
          <a:xfrm>
            <a:off x="4343400" y="2148840"/>
            <a:ext cx="361188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3–9 Months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17720" y="1956816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617720" y="2816352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26974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AIOps auto-remediation pilots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17720" y="3712464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359359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Re-tune critical alarm thresholds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17720" y="4608576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4489704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10% of emergency work to planned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38160" y="150876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4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8160" y="1508760"/>
            <a:ext cx="3611880" cy="960120"/>
          </a:xfrm>
          <a:prstGeom prst="roundRect">
            <a:avLst>
              <a:gd name="adj" fmla="val 9524"/>
            </a:avLst>
          </a:prstGeom>
          <a:solidFill>
            <a:srgbClr val="21C5A8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8160" y="2148840"/>
            <a:ext cx="3611880" cy="320040"/>
          </a:xfrm>
          <a:prstGeom prst="rect">
            <a:avLst/>
          </a:prstGeom>
          <a:solidFill>
            <a:srgbClr val="21C5A8"/>
          </a:solidFill>
          <a:ln/>
        </p:spPr>
      </p:sp>
      <p:sp>
        <p:nvSpPr>
          <p:cNvPr id="31" name="Text 29"/>
          <p:cNvSpPr/>
          <p:nvPr/>
        </p:nvSpPr>
        <p:spPr>
          <a:xfrm>
            <a:off x="8412480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9–18 Months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12480" y="1956816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8412480" y="2816352"/>
            <a:ext cx="109728" cy="109728"/>
          </a:xfrm>
          <a:prstGeom prst="ellipse">
            <a:avLst/>
          </a:prstGeom>
          <a:solidFill>
            <a:srgbClr val="21C5A8"/>
          </a:solidFill>
          <a:ln/>
        </p:spPr>
      </p:sp>
      <p:sp>
        <p:nvSpPr>
          <p:cNvPr id="34" name="Text 32"/>
          <p:cNvSpPr/>
          <p:nvPr/>
        </p:nvSpPr>
        <p:spPr>
          <a:xfrm>
            <a:off x="8641080" y="26974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hardware refresh at hotspot sites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12480" y="3712464"/>
            <a:ext cx="109728" cy="109728"/>
          </a:xfrm>
          <a:prstGeom prst="ellipse">
            <a:avLst/>
          </a:prstGeom>
          <a:solidFill>
            <a:srgbClr val="21C5A8"/>
          </a:solidFill>
          <a:ln/>
        </p:spPr>
      </p:sp>
      <p:sp>
        <p:nvSpPr>
          <p:cNvPr id="36" name="Text 34"/>
          <p:cNvSpPr/>
          <p:nvPr/>
        </p:nvSpPr>
        <p:spPr>
          <a:xfrm>
            <a:off x="8641080" y="359359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vendor scorecards network-wide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412480" y="4608576"/>
            <a:ext cx="109728" cy="109728"/>
          </a:xfrm>
          <a:prstGeom prst="ellipse">
            <a:avLst/>
          </a:prstGeom>
          <a:solidFill>
            <a:srgbClr val="21C5A8"/>
          </a:solidFill>
          <a:ln/>
        </p:spPr>
      </p:sp>
      <p:sp>
        <p:nvSpPr>
          <p:cNvPr id="38" name="Text 36"/>
          <p:cNvSpPr/>
          <p:nvPr/>
        </p:nvSpPr>
        <p:spPr>
          <a:xfrm>
            <a:off x="8641080" y="4489704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Re-baseline SLA targets on new data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—  Implementation Roadmap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2377440"/>
            <a:ext cx="6583680" cy="6583680"/>
          </a:xfrm>
          <a:prstGeom prst="ellipse">
            <a:avLst/>
          </a:prstGeom>
          <a:ln w="19050">
            <a:solidFill>
              <a:srgbClr val="1C7293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-1828800"/>
            <a:ext cx="5486400" cy="5486400"/>
          </a:xfrm>
          <a:prstGeom prst="ellipse">
            <a:avLst/>
          </a:prstGeom>
          <a:ln w="19050">
            <a:solidFill>
              <a:srgbClr val="21C5A8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1C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 TO DIRECTION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Turn These Insights Into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Measurable Reliability Gain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49808" y="4160520"/>
            <a:ext cx="1463040" cy="0"/>
          </a:xfrm>
          <a:prstGeom prst="line">
            <a:avLst/>
          </a:prstGeom>
          <a:noFill/>
          <a:ln w="31750">
            <a:solidFill>
              <a:srgbClr val="21C5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3434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Network Operations &amp; Vendor Management review board.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—  Thank You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Outage Performance Review  |  FY2024–FY2025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2026-09-27T13:34:26Z</dcterms:created>
  <dcterms:modified xsi:type="dcterms:W3CDTF">2026-09-27T13:34:26Z</dcterms:modified>
</cp:coreProperties>
</file>