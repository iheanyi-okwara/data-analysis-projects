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4297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97680"/>
            <a:ext cx="12191999" cy="2560320"/>
          </a:xfrm>
          <a:prstGeom prst="rect">
            <a:avLst/>
          </a:prstGeom>
          <a:solidFill>
            <a:srgbClr val="26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36592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GREENTECH MANUFACTURING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13248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Production Bottlenecks Through Downtime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2531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Iheanyi Okwara  | 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Evaluating Production Bottlenecks Through Downtime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Validated SQL + Power BI findings • March–August 2025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50876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23160" y="117043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7752B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536192"/>
            <a:ext cx="8869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Identify where production downtime occurs, how much time is lost, which factors and operators are most exposed, and whether scheduling patterns warrant operational attention.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972800" cy="1325880"/>
          </a:xfrm>
          <a:prstGeom prst="roundRect">
            <a:avLst/>
          </a:prstGeom>
          <a:solidFill>
            <a:srgbClr val="EDF6E9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Analytical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8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752B"/>
                </a:solidFill>
                <a:latin typeface="Aptos"/>
              </a:rPr>
              <a:t>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6974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752B"/>
                </a:solidFill>
                <a:latin typeface="Aptos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974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752B"/>
                </a:solidFill>
                <a:latin typeface="Aptos"/>
              </a:rPr>
              <a:t>Root causes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6974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9748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752B"/>
                </a:solidFill>
                <a:latin typeface="Aptos"/>
              </a:rP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974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69748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752B"/>
                </a:solidFill>
                <a:latin typeface="Aptos"/>
              </a:rPr>
              <a:t>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1874519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SQL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709160"/>
            <a:ext cx="1874519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4828032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Power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4709160"/>
            <a:ext cx="1874519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59" y="4828032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DAX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199" y="4709160"/>
            <a:ext cx="1874519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4828032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Data Modelling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709160"/>
            <a:ext cx="1874519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828032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PowerPoint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666666"/>
                </a:solidFill>
                <a:latin typeface="Aptos"/>
              </a:rPr>
              <a:t>Core principle: frequency and duration are analysed separately, and scheduling results are treated as association rather than causation.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Validated against the final SQL model and upgraded Power BI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Batches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645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Delayed Batches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363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Delay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56.3%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Downtime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885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Distinct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1143000"/>
            <a:ext cx="1719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2" y="1216152"/>
            <a:ext cx="15727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Days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1453896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21.74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2880360"/>
            <a:ext cx="2194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2953512"/>
            <a:ext cx="204825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Max Downtime Events /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191256"/>
            <a:ext cx="204825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2880360"/>
            <a:ext cx="2194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2953512"/>
            <a:ext cx="204825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Multiple-Batch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3191256"/>
            <a:ext cx="204825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51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880360"/>
            <a:ext cx="2194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953512"/>
            <a:ext cx="204825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Batches in Multi-Batch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191256"/>
            <a:ext cx="204825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2880360"/>
            <a:ext cx="2194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2953512"/>
            <a:ext cx="204825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Downtime Events in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3191256"/>
            <a:ext cx="204825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131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80160" y="4343400"/>
            <a:ext cx="9464040" cy="1188720"/>
          </a:xfrm>
          <a:prstGeom prst="roundRect">
            <a:avLst/>
          </a:prstGeom>
          <a:solidFill>
            <a:srgbClr val="EDF6E9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455371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7752B"/>
                </a:solidFill>
                <a:latin typeface="Aptos"/>
              </a:rPr>
              <a:t>Headline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07408"/>
            <a:ext cx="7680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More than half of production batches experienced at least one recorded downtime factor, with 21.74 days of aggregate production time lost across the analysis period.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Product Downtime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GreenFoam Hand Soap recorded the highest number of downtime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6766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Downtime Events by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45920"/>
            <a:ext cx="1645920" cy="689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GreenFoam Hand Soap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700784"/>
            <a:ext cx="4008337" cy="441106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7801" y="1645920"/>
            <a:ext cx="502920" cy="661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64891"/>
            <a:ext cx="1645920" cy="689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BioWipe Cleaning Sheets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619756"/>
            <a:ext cx="2531581" cy="441106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1045" y="2564891"/>
            <a:ext cx="502920" cy="661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204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83863"/>
            <a:ext cx="1645920" cy="689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RePack Recycled Film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538727"/>
            <a:ext cx="2295797" cy="441106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5261" y="3483863"/>
            <a:ext cx="502920" cy="661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02836"/>
            <a:ext cx="1645920" cy="689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EcoWash Liquid Detergent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4457699"/>
            <a:ext cx="2146880" cy="441106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6344" y="4402836"/>
            <a:ext cx="502920" cy="661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173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143000"/>
            <a:ext cx="3886200" cy="4434840"/>
          </a:xfrm>
          <a:prstGeom prst="roundRect">
            <a:avLst/>
          </a:prstGeom>
          <a:solidFill>
            <a:srgbClr val="EDF6E9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41732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1874519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GreenFoam accounts for the largest event count: 323.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14600"/>
            <a:ext cx="3246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Product frequency should be interpreted alongside production volume and duration.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33756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The dashboard enables product filtering to investigate the factors behind each product's delays.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343400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18423"/>
                </a:solidFill>
                <a:latin typeface="Aptos"/>
              </a:rPr>
              <a:t>Avoided 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645152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A higher event count alone does not prove a product is inherently less efficient.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Root Causes of Downtime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Separate event frequency from time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029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4663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Downtime Days by Cause Type</a:t>
            </a:r>
          </a:p>
        </p:txBody>
      </p:sp>
      <p:sp>
        <p:nvSpPr>
          <p:cNvPr id="7" name="Oval 6"/>
          <p:cNvSpPr/>
          <p:nvPr/>
        </p:nvSpPr>
        <p:spPr>
          <a:xfrm>
            <a:off x="1442466" y="2517800"/>
            <a:ext cx="2217420" cy="2217420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08124" y="2983458"/>
            <a:ext cx="1286103" cy="12861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5079" y="3425342"/>
            <a:ext cx="1552193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70.1%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6" y="1920240"/>
            <a:ext cx="13578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7752B"/>
                </a:solidFill>
                <a:latin typeface="Aptos"/>
              </a:rPr>
              <a:t>Non-operator
15.25 days • 70.14%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2560320"/>
            <a:ext cx="13578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Operator-related
6.49 days • 29.86%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143000"/>
            <a:ext cx="5623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52728"/>
            <a:ext cx="5257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Leading Root Causes by Event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45920"/>
            <a:ext cx="1645920" cy="551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Cleaning / Sanitation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700784"/>
            <a:ext cx="3058160" cy="352885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5424" y="1645920"/>
            <a:ext cx="502920" cy="529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81097"/>
            <a:ext cx="1645920" cy="551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Raw Material Shortage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435961"/>
            <a:ext cx="2738120" cy="352885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5384" y="2381097"/>
            <a:ext cx="502920" cy="529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116275"/>
            <a:ext cx="1645920" cy="551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Scheduling / Coordination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171139"/>
            <a:ext cx="2702560" cy="352885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29824" y="3116275"/>
            <a:ext cx="502920" cy="529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851452"/>
            <a:ext cx="1645920" cy="551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Machine Breakdown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906316"/>
            <a:ext cx="2667000" cy="352885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94264" y="3851452"/>
            <a:ext cx="502920" cy="529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86630"/>
            <a:ext cx="1645920" cy="5513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Safety Lockout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641494"/>
            <a:ext cx="2524760" cy="352885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2024" y="4586630"/>
            <a:ext cx="502920" cy="529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666666"/>
                </a:solidFill>
                <a:latin typeface="Aptos"/>
              </a:rPr>
              <a:t>Non-operator factors account for most downtime duration. Operator-related factors remain material, but they represent less than one-third of total days lost.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Downtime Trends • March–August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Event frequency and downtime hours tell different parts of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Monthly Downtime Event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Apr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May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Jul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Aug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143000" y="1783079"/>
            <a:ext cx="923544" cy="3383280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66544" y="1783079"/>
            <a:ext cx="923544" cy="349995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90088" y="2133074"/>
            <a:ext cx="923544" cy="699989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13632" y="2833063"/>
            <a:ext cx="923544" cy="583324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37176" y="1899744"/>
            <a:ext cx="923544" cy="1516643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01852" y="5125212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5546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128</a:t>
            </a:r>
          </a:p>
        </p:txBody>
      </p:sp>
      <p:sp>
        <p:nvSpPr>
          <p:cNvPr id="20" name="Oval 19"/>
          <p:cNvSpPr/>
          <p:nvPr/>
        </p:nvSpPr>
        <p:spPr>
          <a:xfrm>
            <a:off x="2025396" y="1741931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1472183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157</a:t>
            </a:r>
          </a:p>
        </p:txBody>
      </p:sp>
      <p:sp>
        <p:nvSpPr>
          <p:cNvPr id="22" name="Oval 21"/>
          <p:cNvSpPr/>
          <p:nvPr/>
        </p:nvSpPr>
        <p:spPr>
          <a:xfrm>
            <a:off x="2948940" y="2091926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182217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154</a:t>
            </a:r>
          </a:p>
        </p:txBody>
      </p:sp>
      <p:sp>
        <p:nvSpPr>
          <p:cNvPr id="24" name="Oval 23"/>
          <p:cNvSpPr/>
          <p:nvPr/>
        </p:nvSpPr>
        <p:spPr>
          <a:xfrm>
            <a:off x="3872484" y="2791915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2522167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148</a:t>
            </a:r>
          </a:p>
        </p:txBody>
      </p:sp>
      <p:sp>
        <p:nvSpPr>
          <p:cNvPr id="26" name="Oval 25"/>
          <p:cNvSpPr/>
          <p:nvPr/>
        </p:nvSpPr>
        <p:spPr>
          <a:xfrm>
            <a:off x="4796028" y="3375239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105491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143</a:t>
            </a:r>
          </a:p>
        </p:txBody>
      </p:sp>
      <p:sp>
        <p:nvSpPr>
          <p:cNvPr id="28" name="Oval 27"/>
          <p:cNvSpPr/>
          <p:nvPr/>
        </p:nvSpPr>
        <p:spPr>
          <a:xfrm>
            <a:off x="5719572" y="1858596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158884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156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252728"/>
            <a:ext cx="4983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Monthly Downtime Hours Trend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Apr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May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Jun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Jul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91088" y="5230368"/>
            <a:ext cx="5120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ptos"/>
              </a:rPr>
              <a:t>Aug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75120" y="3741821"/>
            <a:ext cx="914400" cy="1424538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589520" y="2495349"/>
            <a:ext cx="914400" cy="2671010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03920" y="2495349"/>
            <a:ext cx="914400" cy="890337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418320" y="3385686"/>
            <a:ext cx="914400" cy="356135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332720" y="1783079"/>
            <a:ext cx="914400" cy="1958742"/>
          </a:xfrm>
          <a:prstGeom prst="line">
            <a:avLst/>
          </a:prstGeom>
          <a:ln w="31750">
            <a:solidFill>
              <a:srgbClr val="4F9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633972" y="3700673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430925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85</a:t>
            </a:r>
          </a:p>
        </p:txBody>
      </p:sp>
      <p:sp>
        <p:nvSpPr>
          <p:cNvPr id="45" name="Oval 44"/>
          <p:cNvSpPr/>
          <p:nvPr/>
        </p:nvSpPr>
        <p:spPr>
          <a:xfrm>
            <a:off x="7548372" y="5125212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85546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77</a:t>
            </a:r>
          </a:p>
        </p:txBody>
      </p:sp>
      <p:sp>
        <p:nvSpPr>
          <p:cNvPr id="47" name="Oval 46"/>
          <p:cNvSpPr/>
          <p:nvPr/>
        </p:nvSpPr>
        <p:spPr>
          <a:xfrm>
            <a:off x="8462772" y="2454201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184453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92</a:t>
            </a:r>
          </a:p>
        </p:txBody>
      </p:sp>
      <p:sp>
        <p:nvSpPr>
          <p:cNvPr id="49" name="Oval 48"/>
          <p:cNvSpPr/>
          <p:nvPr/>
        </p:nvSpPr>
        <p:spPr>
          <a:xfrm>
            <a:off x="9377172" y="3344538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07479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87</a:t>
            </a:r>
          </a:p>
        </p:txBody>
      </p:sp>
      <p:sp>
        <p:nvSpPr>
          <p:cNvPr id="51" name="Oval 50"/>
          <p:cNvSpPr/>
          <p:nvPr/>
        </p:nvSpPr>
        <p:spPr>
          <a:xfrm>
            <a:off x="10291572" y="3700673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3430925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85</a:t>
            </a:r>
          </a:p>
        </p:txBody>
      </p:sp>
      <p:sp>
        <p:nvSpPr>
          <p:cNvPr id="53" name="Oval 52"/>
          <p:cNvSpPr/>
          <p:nvPr/>
        </p:nvSpPr>
        <p:spPr>
          <a:xfrm>
            <a:off x="11205972" y="1741931"/>
            <a:ext cx="82296" cy="82296"/>
          </a:xfrm>
          <a:prstGeom prst="ellipse">
            <a:avLst/>
          </a:prstGeom>
          <a:solidFill>
            <a:srgbClr val="377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18520" y="1472183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666666"/>
                </a:solidFill>
                <a:latin typeface="Aptos"/>
              </a:rPr>
              <a:t>96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715000"/>
            <a:ext cx="10561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666666"/>
                </a:solidFill>
                <a:latin typeface="Aptos"/>
              </a:rPr>
              <a:t>August recorded the highest downtime-hours level in the period, while April had the highest event frequency. This reinforces why frequency and duration should not be treated as interchangeable.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Consistent Downtime Causes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Recurring causes appearing prominently across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18488"/>
            <a:ext cx="685800" cy="685800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0472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Cleaning / Sanitation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4767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High frequency and substantial time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618488"/>
            <a:ext cx="685800" cy="685800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18488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490472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Raw Material Shortage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4767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Recurring supply constraint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675888"/>
            <a:ext cx="685800" cy="685800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75888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47872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Scheduling /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00507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Operational planning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291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3675888"/>
            <a:ext cx="685800" cy="685800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675888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47872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Machine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00507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Reliability and maintenance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5440680"/>
            <a:ext cx="8366760" cy="658368"/>
          </a:xfrm>
          <a:prstGeom prst="roundRect">
            <a:avLst/>
          </a:prstGeom>
          <a:solidFill>
            <a:srgbClr val="EDF6E9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5559552"/>
            <a:ext cx="8001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37752B"/>
                </a:solidFill>
                <a:latin typeface="Aptos"/>
              </a:rPr>
              <a:t>Priority: reduce recurring controllable causes while strengthening supply and equipment reliability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Operator Downtime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Compare frequency, time lost and delayed-batch rate rather than relying on one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52728"/>
            <a:ext cx="5074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Downtime Events by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45920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Paul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700784"/>
            <a:ext cx="2911019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0483" y="1645920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66188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James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321052"/>
            <a:ext cx="2556016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5480" y="2266188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6456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Emily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941320"/>
            <a:ext cx="1988013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7477" y="2886456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06724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Mike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561588"/>
            <a:ext cx="1899262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8726" y="3506724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126992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Rita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4181856"/>
            <a:ext cx="1295758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5222" y="4126992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747260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Alex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4802123"/>
            <a:ext cx="1171507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0971" y="4747260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66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252728"/>
            <a:ext cx="4983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Downtime Hours by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645920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Paul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700784"/>
            <a:ext cx="2779775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1645920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266188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James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321052"/>
            <a:ext cx="2399385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0969" y="2266188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886456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Emily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941320"/>
            <a:ext cx="1931212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2796" y="2886456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506724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Mike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561588"/>
            <a:ext cx="1843430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5014" y="3506724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26992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Alex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181856"/>
            <a:ext cx="1287475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89059" y="4126992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747260"/>
            <a:ext cx="1645920" cy="465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Linda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802123"/>
            <a:ext cx="1199692" cy="297728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1276" y="4747260"/>
            <a:ext cx="502920" cy="446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742432"/>
            <a:ext cx="10561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666666"/>
                </a:solidFill>
                <a:latin typeface="Aptos"/>
              </a:rPr>
              <a:t>Paul, James and Emily rank highly on both event frequency and hours lost. This identifies where deeper process review may be useful; it does not by itself establish individual performance or fault.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Downtime Impact: Time Lost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Duration analysis changes the prioritisation conversation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2402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61872"/>
            <a:ext cx="2093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Total Days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20939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21.74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2402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261872"/>
            <a:ext cx="2093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Non-Operator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499616"/>
            <a:ext cx="20939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15.25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901952"/>
            <a:ext cx="209397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666666"/>
                </a:solidFill>
                <a:latin typeface="Aptos"/>
              </a:rPr>
              <a:t>70.14% of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188720"/>
            <a:ext cx="22402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1261872"/>
            <a:ext cx="2093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Operator-Related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499616"/>
            <a:ext cx="20939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6.49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1901952"/>
            <a:ext cx="209397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666666"/>
                </a:solidFill>
                <a:latin typeface="Aptos"/>
              </a:rPr>
              <a:t>29.86% of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22402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261872"/>
            <a:ext cx="2093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Delay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499616"/>
            <a:ext cx="20939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56.3%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10789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346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Operational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High-frequency causes deserve attention, but duration determines how much production capacity is actually lost.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69080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Cleaning/sanitation, scheduling/coordination and raw-material issues remain important recurring themes.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37560"/>
            <a:ext cx="4663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Maintenance and supply-chain interventions should be evaluated using hours recovered, not only event 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06908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Operator analysis should be paired with workload, product mix and scheduling context before drawing performance conclusions.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Operator Scheduling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Multiple-batch scheduling is analysed as context, not as a proven cause of downtime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24688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23225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Multiple-Batch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53896"/>
            <a:ext cx="2322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43000"/>
            <a:ext cx="24688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216152"/>
            <a:ext cx="23225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Batches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453896"/>
            <a:ext cx="2322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24688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216152"/>
            <a:ext cx="23225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Downtime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453896"/>
            <a:ext cx="2322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131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143000"/>
            <a:ext cx="24688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1" y="1216152"/>
            <a:ext cx="23225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Delayed-Batch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1" y="1453896"/>
            <a:ext cx="2322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47.71%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1460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24328"/>
            <a:ext cx="4892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Multiple-Batch Days by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17520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Paul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072384"/>
            <a:ext cx="2607868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3052" y="3017520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70732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Mike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625596"/>
            <a:ext cx="1700784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3570732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23944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James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178807"/>
            <a:ext cx="907084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2268" y="4123944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77156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Emily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4732020"/>
            <a:ext cx="680313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5497" y="4677156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51460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624328"/>
            <a:ext cx="4892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Downtime Events in Multi-Batch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017520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Paul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072384"/>
            <a:ext cx="2680023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1607" y="3017520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570732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Mike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625596"/>
            <a:ext cx="1906939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08523" y="3570732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23944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James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178807"/>
            <a:ext cx="1185394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6978" y="4123944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677156"/>
            <a:ext cx="1645920" cy="4149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Aptos"/>
              </a:rPr>
              <a:t>Emily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732020"/>
            <a:ext cx="979239" cy="265541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80823" y="4677156"/>
            <a:ext cx="502920" cy="398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66666"/>
                </a:solidFill>
                <a:latin typeface="Aptos"/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715000"/>
            <a:ext cx="10561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666666"/>
                </a:solidFill>
                <a:latin typeface="Aptos"/>
              </a:rPr>
              <a:t>Single-batch operator-days recorded a 58.02% delayed-batch rate versus 47.71% in the multiple-batch context. The data therefore does not support claiming that multiple-batch scheduling increases delay probability.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Recommendations for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914400" cy="50292"/>
          </a:xfrm>
          <a:prstGeom prst="rect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Actions aligned to the validated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45389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0759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Supply chain &amp;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2763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Strengthen material availability monitoring and low-stock alerts to reduce shortage-related downtime.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45389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5389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30759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Cleaning &amp; changeover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2763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Standardise cleaning windows and review sequencing to reduce recurring sanitation delays.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9748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00837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0837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6207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Preventive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8211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Prioritise equipment with repeated breakdown-related downtime and track hours recovered.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9748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00837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0837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86207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Scheduling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18211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Use workload and multi-batch indicators as planning signals; test changes before attributing causality.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5196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56285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6285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41655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Operator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3659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Target training and process support using root-cause context, product mix and workload—not event counts alone.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251960"/>
            <a:ext cx="5349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4562856"/>
            <a:ext cx="530352" cy="530352"/>
          </a:xfrm>
          <a:prstGeom prst="ellipse">
            <a:avLst/>
          </a:prstGeom>
          <a:solidFill>
            <a:srgbClr val="4F9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56285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416552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Aptos"/>
              </a:rPr>
              <a:t>Monthly downtime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736592"/>
            <a:ext cx="4160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Track event frequency, hours lost, delay rate and root-cause movement together in a recurring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567F"/>
                </a:solidFill>
                <a:latin typeface="Aptos"/>
              </a:rPr>
              <a:t>Prepared by Iheanyi Okwara | Data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GreenTech Manufacturing Analytics  •  Iheanyi Okwara | Data 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6666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