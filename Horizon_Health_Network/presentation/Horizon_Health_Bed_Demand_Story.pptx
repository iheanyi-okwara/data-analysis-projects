
<file path=[Content_Types].xml><?xml version="1.0" encoding="utf-8"?>
<Types xmlns="http://schemas.openxmlformats.org/package/2006/content-types">
  <Default Extension="xlsx" ContentType="application/vnd.openxmlformats-officedocument.spreadsheetml.sheet"/>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Admissions</c:v>
                </c:pt>
              </c:strCache>
            </c:strRef>
          </c:tx>
          <c:spPr>
            <a:solidFill>
              <a:srgbClr val="028090"/>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100" b="0" i="0" u="none" strike="noStrike" kern="1200" baseline="0">
                    <a:solidFill>
                      <a:srgbClr val="222222"/>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Surgery</c:v>
                </c:pt>
                <c:pt idx="1">
                  <c:v>Cardiology</c:v>
                </c:pt>
                <c:pt idx="2">
                  <c:v>Medicine</c:v>
                </c:pt>
                <c:pt idx="3">
                  <c:v>Neurology</c:v>
                </c:pt>
                <c:pt idx="4">
                  <c:v>Orthopaedics</c:v>
                </c:pt>
              </c:strCache>
            </c:strRef>
          </c:cat>
          <c:val>
            <c:numRef>
              <c:f>Sheet1!$B$2:$B$6</c:f>
              <c:numCache>
                <c:formatCode>General</c:formatCode>
                <c:ptCount val="5"/>
                <c:pt idx="0">
                  <c:v>1653</c:v>
                </c:pt>
                <c:pt idx="1">
                  <c:v>1664</c:v>
                </c:pt>
                <c:pt idx="2">
                  <c:v>1756</c:v>
                </c:pt>
                <c:pt idx="3">
                  <c:v>1757</c:v>
                </c:pt>
                <c:pt idx="4">
                  <c:v>1790</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l"/>
        <c:numFmt formatCode="General" sourceLinked="1"/>
        <c:majorTickMark val="out"/>
        <c:minorTickMark val="none"/>
        <c:tickLblPos val="nextTo"/>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222222"/>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solidFill>
          <a:srgbClr val="FFFFFF"/>
        </a:solidFill>
        <a:ln>
          <a:noFill/>
        </a:ln>
        <a:effectLst/>
      </c:spPr>
    </c:plotArea>
    <c:plotVisOnly val="1"/>
    <c:dispBlanksAs val="span"/>
    <c:showDLblsOverMax val="0"/>
    <c:extLst>
      <c:ext uri="{0b15fc19-7d7d-44ad-8c2d-2c3a37ce22c3}">
        <chartProps xmlns="https://web.wps.cn/et/2018/main" chartId="{a88cab57-3bfc-4afc-934f-8eaa9bfedf57}"/>
      </c:ext>
    </c:extLst>
  </c:chart>
  <c:spPr>
    <a:noFill/>
    <a:ln>
      <a:noFill/>
    </a:ln>
    <a:effectLst/>
  </c:spPr>
  <c:txPr>
    <a:bodyPr/>
    <a:lstStyle/>
    <a:p>
      <a:pPr>
        <a:defRPr lang="en-US"/>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Admissions</c:v>
                </c:pt>
              </c:strCache>
            </c:strRef>
          </c:tx>
          <c:spPr>
            <a:solidFill>
              <a:srgbClr val="028090"/>
            </a:solidFill>
            <a:effectLst/>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222222"/>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Sheet1!$A$2:$A$6</c:f>
              <c:strCache>
                <c:ptCount val="5"/>
                <c:pt idx="0">
                  <c:v>General
Medicine</c:v>
                </c:pt>
                <c:pt idx="1">
                  <c:v>Orthopaedics</c:v>
                </c:pt>
                <c:pt idx="2">
                  <c:v>HDU</c:v>
                </c:pt>
                <c:pt idx="3">
                  <c:v>Surgery</c:v>
                </c:pt>
                <c:pt idx="4">
                  <c:v>ICU</c:v>
                </c:pt>
              </c:strCache>
            </c:strRef>
          </c:cat>
          <c:val>
            <c:numRef>
              <c:f>Sheet1!$B$2:$B$6</c:f>
              <c:numCache>
                <c:formatCode>General</c:formatCode>
                <c:ptCount val="5"/>
                <c:pt idx="0">
                  <c:v>784</c:v>
                </c:pt>
                <c:pt idx="1">
                  <c:v>266</c:v>
                </c:pt>
                <c:pt idx="2">
                  <c:v>254</c:v>
                </c:pt>
                <c:pt idx="3">
                  <c:v>253</c:v>
                </c:pt>
                <c:pt idx="4">
                  <c:v>195</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200" b="0" i="0" u="none" strike="noStrike" kern="1200" baseline="0">
                <a:solidFill>
                  <a:srgbClr val="222222"/>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solidFill>
          <a:srgbClr val="FFFFFF"/>
        </a:solidFill>
        <a:ln>
          <a:noFill/>
        </a:ln>
        <a:effectLst/>
      </c:spPr>
    </c:plotArea>
    <c:plotVisOnly val="1"/>
    <c:dispBlanksAs val="span"/>
    <c:showDLblsOverMax val="0"/>
    <c:extLst>
      <c:ext uri="{0b15fc19-7d7d-44ad-8c2d-2c3a37ce22c3}">
        <chartProps xmlns="https://web.wps.cn/et/2018/main" chartId="{e35d7a18-38b6-4e70-ab31-3121444a7542}"/>
      </c:ext>
    </c:extLst>
  </c:chart>
  <c:spPr>
    <a:noFill/>
    <a:ln>
      <a:noFill/>
    </a:ln>
    <a:effectLst/>
  </c:spPr>
  <c:txPr>
    <a:bodyPr/>
    <a:lstStyle/>
    <a:p>
      <a:pPr>
        <a:defRPr lang="en-US"/>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Staffing ratio %</c:v>
                </c:pt>
              </c:strCache>
            </c:strRef>
          </c:tx>
          <c:spPr>
            <a:solidFill>
              <a:srgbClr val="00A896"/>
            </a:solidFill>
            <a:effectLst/>
          </c:spPr>
          <c:invertIfNegative val="0"/>
          <c:dLbls>
            <c:numFmt formatCode="0&quot;%&quot;"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222222"/>
                    </a:solidFill>
                    <a:latin typeface="Arial" panose="020B0604020202020204"/>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Sheet1!$A$2:$A$7</c:f>
              <c:strCache>
                <c:ptCount val="6"/>
                <c:pt idx="0">
                  <c:v>ICU</c:v>
                </c:pt>
                <c:pt idx="1">
                  <c:v>General
Medicine</c:v>
                </c:pt>
                <c:pt idx="2">
                  <c:v>Surgery</c:v>
                </c:pt>
                <c:pt idx="3">
                  <c:v>Orthopaedics</c:v>
                </c:pt>
                <c:pt idx="4">
                  <c:v>Maternity</c:v>
                </c:pt>
                <c:pt idx="5">
                  <c:v>HDU</c:v>
                </c:pt>
              </c:strCache>
            </c:strRef>
          </c:cat>
          <c:val>
            <c:numRef>
              <c:f>Sheet1!$B$2:$B$7</c:f>
              <c:numCache>
                <c:formatCode>General</c:formatCode>
                <c:ptCount val="6"/>
                <c:pt idx="0">
                  <c:v>89</c:v>
                </c:pt>
                <c:pt idx="1">
                  <c:v>89</c:v>
                </c:pt>
                <c:pt idx="2">
                  <c:v>87</c:v>
                </c:pt>
                <c:pt idx="3">
                  <c:v>85</c:v>
                </c:pt>
                <c:pt idx="4">
                  <c:v>84</c:v>
                </c:pt>
                <c:pt idx="5">
                  <c:v>79</c:v>
                </c:pt>
              </c:numCache>
            </c:numRef>
          </c:val>
        </c:ser>
        <c:dLbls>
          <c:showLegendKey val="0"/>
          <c:showVal val="1"/>
          <c:showCatName val="0"/>
          <c:showSerName val="0"/>
          <c:showPercent val="0"/>
          <c:showBubbleSize val="0"/>
        </c:dLbls>
        <c:gapWidth val="150"/>
        <c:overlap val="0"/>
        <c:axId val="2094734554"/>
        <c:axId val="2094734552"/>
      </c:bar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222222"/>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max val="100"/>
          <c:min val="0"/>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solidFill>
          <a:srgbClr val="FFFFFF"/>
        </a:solidFill>
        <a:ln>
          <a:noFill/>
        </a:ln>
        <a:effectLst/>
      </c:spPr>
    </c:plotArea>
    <c:plotVisOnly val="1"/>
    <c:dispBlanksAs val="span"/>
    <c:showDLblsOverMax val="0"/>
    <c:extLst>
      <c:ext uri="{0b15fc19-7d7d-44ad-8c2d-2c3a37ce22c3}">
        <chartProps xmlns="https://web.wps.cn/et/2018/main" chartId="{1be64b5a-f367-4318-8c6f-cf4ef20209f6}"/>
      </c:ext>
    </c:extLst>
  </c:chart>
  <c:spPr>
    <a:noFill/>
    <a:ln>
      <a:noFill/>
    </a:ln>
    <a:effectLst/>
  </c:spPr>
  <c:txPr>
    <a:bodyPr/>
    <a:lstStyle/>
    <a:p>
      <a:pPr>
        <a:defRPr lang="en-US"/>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none"/>
        <c:varyColors val="0"/>
        <c:ser>
          <c:idx val="0"/>
          <c:order val="0"/>
          <c:tx>
            <c:strRef>
              <c:f>Sheet1!$B$1</c:f>
              <c:strCache>
                <c:ptCount val="1"/>
                <c:pt idx="0">
                  <c:v>Staffing Ratio %</c:v>
                </c:pt>
              </c:strCache>
            </c:strRef>
          </c:tx>
          <c:spPr>
            <a:ln w="38100" cap="flat" cmpd="sng" algn="ctr">
              <a:solidFill>
                <a:srgbClr val="E0A030"/>
              </a:solidFill>
              <a:prstDash val="solid"/>
              <a:round/>
            </a:ln>
            <a:effectLst/>
          </c:spPr>
          <c:marker>
            <c:symbol val="circle"/>
            <c:size val="6"/>
            <c:spPr>
              <a:solidFill>
                <a:srgbClr val="E0A030"/>
              </a:solidFill>
              <a:ln w="9525" cap="flat" cmpd="sng" algn="ctr">
                <a:solidFill>
                  <a:srgbClr val="E0A030"/>
                </a:solidFill>
                <a:prstDash val="solid"/>
                <a:round/>
              </a:ln>
              <a:effectLst/>
            </c:spPr>
          </c:marker>
          <c:dLbls>
            <c:dLbl>
              <c:idx val="0"/>
              <c:delete val="1"/>
            </c:dLbl>
            <c:dLbl>
              <c:idx val="1"/>
              <c:delete val="1"/>
            </c:dLbl>
            <c:dLbl>
              <c:idx val="2"/>
              <c:delete val="1"/>
            </c:dLbl>
            <c:dLbl>
              <c:idx val="3"/>
              <c:delete val="1"/>
            </c:dLbl>
            <c:dLbl>
              <c:idx val="4"/>
              <c:delete val="1"/>
            </c:dLbl>
            <c:dLbl>
              <c:idx val="5"/>
              <c:delete val="1"/>
            </c:dLbl>
            <c:dLbl>
              <c:idx val="6"/>
              <c:delete val="1"/>
            </c:dLbl>
            <c:dLbl>
              <c:idx val="7"/>
              <c:delete val="1"/>
            </c:dLbl>
            <c:dLbl>
              <c:idx val="8"/>
              <c:delete val="1"/>
            </c:dLbl>
            <c:dLbl>
              <c:idx val="9"/>
              <c:delete val="1"/>
            </c:dLbl>
            <c:dLbl>
              <c:idx val="10"/>
              <c:delete val="1"/>
            </c:dLbl>
            <c:dLbl>
              <c:idx val="11"/>
              <c:delete val="1"/>
            </c:dLbl>
            <c:numFmt formatCode="#,##0" sourceLinked="0"/>
            <c:spPr>
              <a:noFill/>
              <a:ln>
                <a:noFill/>
              </a:ln>
              <a:effectLst/>
            </c:spPr>
            <c:txPr>
              <a:bodyPr rot="0" spcFirstLastPara="0" vertOverflow="ellipsis" vert="horz" wrap="square" lIns="38100" tIns="19050" rIns="38100" bIns="19050" anchor="ctr" anchorCtr="1"/>
              <a:lstStyle/>
              <a:p>
                <a:pPr>
                  <a:defRPr lang="en-US" sz="1200" b="0" i="0" u="none" strike="noStrike" kern="1200" baseline="0">
                    <a:solidFill>
                      <a:srgbClr val="000000"/>
                    </a:solidFill>
                    <a:latin typeface="Arial" panose="020B0604020202020204"/>
                    <a:ea typeface="+mn-ea"/>
                    <a:cs typeface="+mn-cs"/>
                  </a:defRPr>
                </a:pPr>
              </a:p>
            </c:txPr>
            <c:dLblPos val="r"/>
            <c:showLegendKey val="0"/>
            <c:showVal val="0"/>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86.2</c:v>
                </c:pt>
                <c:pt idx="1">
                  <c:v>86</c:v>
                </c:pt>
                <c:pt idx="2">
                  <c:v>86.1</c:v>
                </c:pt>
                <c:pt idx="3">
                  <c:v>86.3</c:v>
                </c:pt>
                <c:pt idx="4">
                  <c:v>86.4</c:v>
                </c:pt>
                <c:pt idx="5">
                  <c:v>86.3</c:v>
                </c:pt>
                <c:pt idx="6">
                  <c:v>86.5</c:v>
                </c:pt>
                <c:pt idx="7">
                  <c:v>86.6</c:v>
                </c:pt>
                <c:pt idx="8">
                  <c:v>86.3</c:v>
                </c:pt>
                <c:pt idx="9">
                  <c:v>86.2</c:v>
                </c:pt>
                <c:pt idx="10">
                  <c:v>86.5</c:v>
                </c:pt>
                <c:pt idx="11">
                  <c:v>86</c:v>
                </c:pt>
              </c:numCache>
            </c:numRef>
          </c:val>
          <c:smooth val="0"/>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cmpd="sng" algn="ctr">
            <a:solidFill>
              <a:srgbClr val="888888"/>
            </a:solidFill>
            <a:prstDash val="solid"/>
            <a:round/>
          </a:ln>
        </c:spPr>
        <c:txPr>
          <a:bodyPr rot="-60000000" spcFirstLastPara="0" vertOverflow="ellipsis" vert="horz" wrap="square" anchor="ctr" anchorCtr="1"/>
          <a:lstStyle/>
          <a:p>
            <a:pPr>
              <a:defRPr lang="en-US" sz="1100" b="0" i="0" u="none" strike="noStrike" kern="1200" baseline="0">
                <a:solidFill>
                  <a:srgbClr val="222222"/>
                </a:solidFill>
                <a:latin typeface="Arial" panose="020B0604020202020204"/>
                <a:ea typeface="+mn-ea"/>
                <a:cs typeface="+mn-cs"/>
              </a:defRPr>
            </a:pPr>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txPr>
          <a:bodyPr rot="-60000000" spcFirstLastPara="0" vertOverflow="ellipsis" vert="horz" wrap="square" anchor="ctr" anchorCtr="1"/>
          <a:lstStyle/>
          <a:p>
            <a:pPr>
              <a:defRPr lang="en-US" sz="1200" b="0" i="0" u="none" strike="noStrike" kern="1200" baseline="0">
                <a:solidFill>
                  <a:srgbClr val="000000"/>
                </a:solidFill>
                <a:latin typeface="Arial" panose="020B0604020202020204"/>
                <a:ea typeface="+mn-ea"/>
                <a:cs typeface="+mn-cs"/>
              </a:defRPr>
            </a:pPr>
          </a:p>
        </c:txPr>
        <c:crossAx val="2094734554"/>
        <c:crosses val="autoZero"/>
        <c:crossBetween val="between"/>
      </c:valAx>
      <c:spPr>
        <a:solidFill>
          <a:srgbClr val="FFFFFF"/>
        </a:solidFill>
        <a:ln>
          <a:noFill/>
        </a:ln>
        <a:effectLst/>
      </c:spPr>
    </c:plotArea>
    <c:plotVisOnly val="1"/>
    <c:dispBlanksAs val="span"/>
    <c:showDLblsOverMax val="0"/>
    <c:extLst>
      <c:ext uri="{0b15fc19-7d7d-44ad-8c2d-2c3a37ce22c3}">
        <chartProps xmlns="https://web.wps.cn/et/2018/main" chartId="{f03a9e87-f36e-421a-8025-e9531d650814}"/>
      </c:ext>
    </c:extLst>
  </c:chart>
  <c:spPr>
    <a:noFill/>
    <a:ln>
      <a:noFill/>
    </a:ln>
    <a:effectLst/>
  </c:spPr>
  <c:txPr>
    <a:bodyPr/>
    <a:lstStyle/>
    <a:p>
      <a:pPr>
        <a:defRPr lang="en-US"/>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chart" Target="../charts/char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chart" Target="../charts/char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chart" Target="../charts/chart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chart" Target="../charts/char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1F23"/>
        </a:solidFill>
        <a:effectLst/>
      </p:bgPr>
    </p:bg>
    <p:spTree>
      <p:nvGrpSpPr>
        <p:cNvPr id="1" name=""/>
        <p:cNvGrpSpPr/>
        <p:nvPr/>
      </p:nvGrpSpPr>
      <p:grpSpPr>
        <a:xfrm>
          <a:off x="0" y="0"/>
          <a:ext cx="0" cy="0"/>
          <a:chOff x="0" y="0"/>
          <a:chExt cx="0" cy="0"/>
        </a:xfrm>
      </p:grpSpPr>
      <p:sp>
        <p:nvSpPr>
          <p:cNvPr id="2" name="Shape 0"/>
          <p:cNvSpPr/>
          <p:nvPr/>
        </p:nvSpPr>
        <p:spPr>
          <a:xfrm>
            <a:off x="9692640" y="-1188720"/>
            <a:ext cx="4114800" cy="4114800"/>
          </a:xfrm>
          <a:prstGeom prst="ellipse">
            <a:avLst/>
          </a:prstGeom>
          <a:solidFill>
            <a:srgbClr val="028090">
              <a:alpha val="45000"/>
            </a:srgbClr>
          </a:solidFill>
        </p:spPr>
      </p:sp>
      <p:sp>
        <p:nvSpPr>
          <p:cNvPr id="3" name="Shape 1"/>
          <p:cNvSpPr/>
          <p:nvPr/>
        </p:nvSpPr>
        <p:spPr>
          <a:xfrm>
            <a:off x="10789920" y="4297680"/>
            <a:ext cx="2743200" cy="2743200"/>
          </a:xfrm>
          <a:prstGeom prst="ellipse">
            <a:avLst/>
          </a:prstGeom>
          <a:solidFill>
            <a:srgbClr val="00A896">
              <a:alpha val="40000"/>
            </a:srgbClr>
          </a:solidFill>
        </p:spPr>
      </p:sp>
      <p:sp>
        <p:nvSpPr>
          <p:cNvPr id="4" name="Text 2"/>
          <p:cNvSpPr/>
          <p:nvPr/>
        </p:nvSpPr>
        <p:spPr>
          <a:xfrm>
            <a:off x="731520" y="1828800"/>
            <a:ext cx="9144000" cy="457200"/>
          </a:xfrm>
          <a:prstGeom prst="rect">
            <a:avLst/>
          </a:prstGeom>
          <a:noFill/>
        </p:spPr>
        <p:txBody>
          <a:bodyPr wrap="square" rtlCol="0" anchor="ctr"/>
          <a:lstStyle/>
          <a:p>
            <a:pPr marL="0" indent="0">
              <a:buNone/>
            </a:pPr>
            <a:r>
              <a:rPr lang="en-US" sz="2000" b="1" kern="0" spc="300" dirty="0">
                <a:solidFill>
                  <a:srgbClr val="02C39A"/>
                </a:solidFill>
                <a:latin typeface="Calibri" panose="020F0502020204030204" pitchFamily="34" charset="0"/>
                <a:ea typeface="Calibri" panose="020F0502020204030204" pitchFamily="34" charset="-122"/>
                <a:cs typeface="Calibri" panose="020F0502020204030204" pitchFamily="34" charset="-120"/>
              </a:rPr>
              <a:t>HORIZON HEALTH NETWORK</a:t>
            </a:r>
            <a:endParaRPr lang="en-US" sz="2000" dirty="0"/>
          </a:p>
        </p:txBody>
      </p:sp>
      <p:sp>
        <p:nvSpPr>
          <p:cNvPr id="5" name="Text 3"/>
          <p:cNvSpPr/>
          <p:nvPr/>
        </p:nvSpPr>
        <p:spPr>
          <a:xfrm>
            <a:off x="731520" y="2286000"/>
            <a:ext cx="10515600" cy="1188720"/>
          </a:xfrm>
          <a:prstGeom prst="rect">
            <a:avLst/>
          </a:prstGeom>
          <a:noFill/>
        </p:spPr>
        <p:txBody>
          <a:bodyPr wrap="square" rtlCol="0" anchor="ctr"/>
          <a:lstStyle/>
          <a:p>
            <a:pPr marL="0" indent="0">
              <a:buNone/>
            </a:pPr>
            <a:r>
              <a:rPr lang="en-US" sz="48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rPr>
              <a:t>Full Beds, Thin Margins</a:t>
            </a:r>
            <a:endParaRPr lang="en-US" sz="4800" dirty="0"/>
          </a:p>
        </p:txBody>
      </p:sp>
      <p:sp>
        <p:nvSpPr>
          <p:cNvPr id="6" name="Text 4"/>
          <p:cNvSpPr/>
          <p:nvPr/>
        </p:nvSpPr>
        <p:spPr>
          <a:xfrm>
            <a:off x="731520" y="3291840"/>
            <a:ext cx="9875520" cy="548640"/>
          </a:xfrm>
          <a:prstGeom prst="rect">
            <a:avLst/>
          </a:prstGeom>
          <a:noFill/>
        </p:spPr>
        <p:txBody>
          <a:bodyPr wrap="square" rtlCol="0" anchor="ctr"/>
          <a:lstStyle/>
          <a:p>
            <a:pPr marL="0" indent="0">
              <a:buNone/>
            </a:pPr>
            <a:r>
              <a:rPr lang="en-US" sz="2400" i="1" dirty="0">
                <a:solidFill>
                  <a:srgbClr val="E5E7EB"/>
                </a:solidFill>
                <a:latin typeface="Calibri" panose="020F0502020204030204" pitchFamily="34" charset="0"/>
                <a:ea typeface="Calibri" panose="020F0502020204030204" pitchFamily="34" charset="-122"/>
                <a:cs typeface="Calibri" panose="020F0502020204030204" pitchFamily="34" charset="-120"/>
              </a:rPr>
              <a:t>The winter risk hiding inside our capacity numbers</a:t>
            </a:r>
            <a:endParaRPr lang="en-US" sz="2400" dirty="0"/>
          </a:p>
        </p:txBody>
      </p:sp>
      <p:sp>
        <p:nvSpPr>
          <p:cNvPr id="7" name="Text 5"/>
          <p:cNvSpPr/>
          <p:nvPr/>
        </p:nvSpPr>
        <p:spPr>
          <a:xfrm>
            <a:off x="731520" y="5989320"/>
            <a:ext cx="7315200" cy="365760"/>
          </a:xfrm>
          <a:prstGeom prst="rect">
            <a:avLst/>
          </a:prstGeom>
          <a:noFill/>
        </p:spPr>
        <p:txBody>
          <a:bodyPr wrap="square" rtlCol="0" anchor="ctr"/>
          <a:lstStyle/>
          <a:p>
            <a:pPr marL="0" indent="0">
              <a:buNone/>
            </a:pPr>
            <a:r>
              <a:rPr lang="en-US" sz="1600" dirty="0">
                <a:solidFill>
                  <a:srgbClr val="9CA3AF"/>
                </a:solidFill>
                <a:latin typeface="Calibri" panose="020F0502020204030204" pitchFamily="34" charset="0"/>
                <a:ea typeface="Calibri" panose="020F0502020204030204" pitchFamily="34" charset="-122"/>
                <a:cs typeface="Calibri" panose="020F0502020204030204" pitchFamily="34" charset="-120"/>
              </a:rPr>
              <a:t>Bed Demand &amp; Workforce Analytics  |  </a:t>
            </a:r>
            <a:r>
              <a:rPr lang="en-GB" altLang="en-US" sz="1600" dirty="0">
                <a:solidFill>
                  <a:srgbClr val="9CA3AF"/>
                </a:solidFill>
                <a:latin typeface="Calibri" panose="020F0502020204030204" pitchFamily="34" charset="0"/>
                <a:ea typeface="Calibri" panose="020F0502020204030204" pitchFamily="34" charset="-122"/>
                <a:cs typeface="Calibri" panose="020F0502020204030204" pitchFamily="34" charset="-120"/>
              </a:rPr>
              <a:t>Presented  By Iheanyi Okwara</a:t>
            </a:r>
            <a:endParaRPr lang="en-GB" altLang="en-US" sz="1600" dirty="0">
              <a:solidFill>
                <a:srgbClr val="9CA3AF"/>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9"/>
        </a:solidFill>
        <a:effectLst/>
      </p:bgPr>
    </p:bg>
    <p:spTree>
      <p:nvGrpSpPr>
        <p:cNvPr id="1" name=""/>
        <p:cNvGrpSpPr/>
        <p:nvPr/>
      </p:nvGrpSpPr>
      <p:grpSpPr>
        <a:xfrm>
          <a:off x="0" y="0"/>
          <a:ext cx="0" cy="0"/>
          <a:chOff x="0" y="0"/>
          <a:chExt cx="0" cy="0"/>
        </a:xfrm>
      </p:grpSpPr>
      <p:sp>
        <p:nvSpPr>
          <p:cNvPr id="2" name="Text 0"/>
          <p:cNvSpPr/>
          <p:nvPr/>
        </p:nvSpPr>
        <p:spPr>
          <a:xfrm>
            <a:off x="548640" y="411480"/>
            <a:ext cx="7315200" cy="548640"/>
          </a:xfrm>
          <a:prstGeom prst="rect">
            <a:avLst/>
          </a:prstGeom>
          <a:noFill/>
        </p:spPr>
        <p:txBody>
          <a:bodyPr wrap="square" rtlCol="0" anchor="ctr"/>
          <a:lstStyle/>
          <a:p>
            <a:pPr marL="0" indent="0">
              <a:buNone/>
            </a:pPr>
            <a:r>
              <a:rPr lang="en-US" sz="32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The Big Picture</a:t>
            </a:r>
            <a:endParaRPr lang="en-US" sz="3200" dirty="0"/>
          </a:p>
        </p:txBody>
      </p:sp>
      <p:sp>
        <p:nvSpPr>
          <p:cNvPr id="3" name="Text 1"/>
          <p:cNvSpPr/>
          <p:nvPr/>
        </p:nvSpPr>
        <p:spPr>
          <a:xfrm>
            <a:off x="548640" y="960120"/>
            <a:ext cx="8229600" cy="365760"/>
          </a:xfrm>
          <a:prstGeom prst="rect">
            <a:avLst/>
          </a:prstGeom>
          <a:noFill/>
        </p:spPr>
        <p:txBody>
          <a:bodyPr wrap="square" rtlCol="0" anchor="ctr"/>
          <a:lstStyle/>
          <a:p>
            <a:pPr marL="0" indent="0">
              <a:buNone/>
            </a:pPr>
            <a:r>
              <a:rPr lang="en-US" i="1" dirty="0">
                <a:solidFill>
                  <a:srgbClr val="6B7280"/>
                </a:solidFill>
                <a:latin typeface="Calibri" panose="020F0502020204030204" pitchFamily="34" charset="0"/>
                <a:ea typeface="Calibri" panose="020F0502020204030204" pitchFamily="34" charset="-122"/>
                <a:cs typeface="Calibri" panose="020F0502020204030204" pitchFamily="34" charset="-120"/>
              </a:rPr>
              <a:t>One idea to remember from this whole story</a:t>
            </a:r>
            <a:endParaRPr lang="en-US" i="1"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Shape 2"/>
          <p:cNvSpPr/>
          <p:nvPr/>
        </p:nvSpPr>
        <p:spPr>
          <a:xfrm>
            <a:off x="548640" y="1600200"/>
            <a:ext cx="11064240" cy="2194560"/>
          </a:xfrm>
          <a:prstGeom prst="roundRect">
            <a:avLst>
              <a:gd name="adj" fmla="val 5000"/>
            </a:avLst>
          </a:prstGeom>
          <a:solidFill>
            <a:srgbClr val="1B1F23"/>
          </a:solidFill>
          <a:effectLst>
            <a:outerShdw blurRad="101600" dist="38100" dir="5400000" algn="bl" rotWithShape="0">
              <a:srgbClr val="000000">
                <a:alpha val="25000"/>
              </a:srgbClr>
            </a:outerShdw>
          </a:effectLst>
        </p:spPr>
      </p:sp>
      <p:sp>
        <p:nvSpPr>
          <p:cNvPr id="5" name="Text 3"/>
          <p:cNvSpPr/>
          <p:nvPr/>
        </p:nvSpPr>
        <p:spPr>
          <a:xfrm>
            <a:off x="1005840" y="1783080"/>
            <a:ext cx="10241280" cy="1828800"/>
          </a:xfrm>
          <a:prstGeom prst="rect">
            <a:avLst/>
          </a:prstGeom>
          <a:noFill/>
        </p:spPr>
        <p:txBody>
          <a:bodyPr wrap="square" rtlCol="0" anchor="ctr"/>
          <a:lstStyle/>
          <a:p>
            <a:pPr marL="0" indent="0">
              <a:lnSpc>
                <a:spcPct val="115000"/>
              </a:lnSpc>
              <a:buNone/>
            </a:pPr>
            <a:r>
              <a:rPr lang="en-US" sz="23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rPr>
              <a:t>Our hospitals stay almost full all year, and safe staffing already passes less than half the time. Our own data shows staffing gets even weaker in winter—right when patients need us most.</a:t>
            </a:r>
            <a:endParaRPr lang="en-US" sz="2300" dirty="0"/>
          </a:p>
        </p:txBody>
      </p:sp>
      <p:sp>
        <p:nvSpPr>
          <p:cNvPr id="6" name="Shape 4"/>
          <p:cNvSpPr/>
          <p:nvPr/>
        </p:nvSpPr>
        <p:spPr>
          <a:xfrm>
            <a:off x="548640" y="4069080"/>
            <a:ext cx="3566160" cy="1965960"/>
          </a:xfrm>
          <a:prstGeom prst="roundRect">
            <a:avLst>
              <a:gd name="adj" fmla="val 4651"/>
            </a:avLst>
          </a:prstGeom>
          <a:solidFill>
            <a:srgbClr val="FFFFFF"/>
          </a:solidFill>
          <a:ln w="12700">
            <a:solidFill>
              <a:srgbClr val="E5E7EB"/>
            </a:solidFill>
            <a:prstDash val="solid"/>
          </a:ln>
          <a:effectLst>
            <a:outerShdw blurRad="76200" dist="25400" dir="5400000" algn="bl" rotWithShape="0">
              <a:srgbClr val="000000">
                <a:alpha val="12000"/>
              </a:srgbClr>
            </a:outerShdw>
          </a:effectLst>
        </p:spPr>
      </p:sp>
      <p:sp>
        <p:nvSpPr>
          <p:cNvPr id="7" name="Text 5"/>
          <p:cNvSpPr/>
          <p:nvPr/>
        </p:nvSpPr>
        <p:spPr>
          <a:xfrm>
            <a:off x="548640" y="4206240"/>
            <a:ext cx="3566160" cy="914400"/>
          </a:xfrm>
          <a:prstGeom prst="rect">
            <a:avLst/>
          </a:prstGeom>
          <a:noFill/>
        </p:spPr>
        <p:txBody>
          <a:bodyPr wrap="square" rtlCol="0" anchor="ctr"/>
          <a:lstStyle/>
          <a:p>
            <a:pPr marL="0" indent="0" algn="ctr">
              <a:buNone/>
            </a:pPr>
            <a:r>
              <a:rPr lang="en-US" sz="4400" b="1" dirty="0">
                <a:solidFill>
                  <a:srgbClr val="028090"/>
                </a:solidFill>
                <a:latin typeface="Bookman Old Style" panose="02050604050505020204" pitchFamily="34" charset="0"/>
                <a:ea typeface="Bookman Old Style" panose="02050604050505020204" pitchFamily="34" charset="-122"/>
                <a:cs typeface="Bookman Old Style" panose="02050604050505020204" pitchFamily="34" charset="-120"/>
              </a:rPr>
              <a:t>86%</a:t>
            </a:r>
            <a:endParaRPr lang="en-US" sz="4400" dirty="0"/>
          </a:p>
        </p:txBody>
      </p:sp>
      <p:sp>
        <p:nvSpPr>
          <p:cNvPr id="8" name="Text 6"/>
          <p:cNvSpPr/>
          <p:nvPr/>
        </p:nvSpPr>
        <p:spPr>
          <a:xfrm>
            <a:off x="822960" y="5166360"/>
            <a:ext cx="3017520" cy="731520"/>
          </a:xfrm>
          <a:prstGeom prst="rect">
            <a:avLst/>
          </a:prstGeom>
          <a:noFill/>
        </p:spPr>
        <p:txBody>
          <a:bodyPr wrap="square" rtlCol="0" anchor="ctr"/>
          <a:lstStyle/>
          <a:p>
            <a:pPr marL="0" indent="0" algn="ctr">
              <a:buNone/>
            </a:pPr>
            <a:r>
              <a:rPr lang="en-US" sz="1600" dirty="0">
                <a:solidFill>
                  <a:srgbClr val="222222"/>
                </a:solidFill>
                <a:latin typeface="Calibri" panose="020F0502020204030204" pitchFamily="34" charset="0"/>
                <a:ea typeface="Calibri" panose="020F0502020204030204" pitchFamily="34" charset="-122"/>
                <a:cs typeface="Calibri" panose="020F0502020204030204" pitchFamily="34" charset="-120"/>
              </a:rPr>
              <a:t>Beds are full, all year round</a:t>
            </a:r>
            <a:endParaRPr lang="en-US" sz="1600" dirty="0">
              <a:solidFill>
                <a:srgbClr val="222222"/>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Shape 7"/>
          <p:cNvSpPr/>
          <p:nvPr/>
        </p:nvSpPr>
        <p:spPr>
          <a:xfrm>
            <a:off x="4434840" y="4069080"/>
            <a:ext cx="3566160" cy="1965960"/>
          </a:xfrm>
          <a:prstGeom prst="roundRect">
            <a:avLst>
              <a:gd name="adj" fmla="val 4651"/>
            </a:avLst>
          </a:prstGeom>
          <a:solidFill>
            <a:srgbClr val="FFFFFF"/>
          </a:solidFill>
          <a:ln w="12700">
            <a:solidFill>
              <a:srgbClr val="E5E7EB"/>
            </a:solidFill>
            <a:prstDash val="solid"/>
          </a:ln>
          <a:effectLst>
            <a:outerShdw blurRad="76200" dist="25400" dir="5400000" algn="bl" rotWithShape="0">
              <a:srgbClr val="000000">
                <a:alpha val="12000"/>
              </a:srgbClr>
            </a:outerShdw>
          </a:effectLst>
        </p:spPr>
      </p:sp>
      <p:sp>
        <p:nvSpPr>
          <p:cNvPr id="10" name="Text 8"/>
          <p:cNvSpPr/>
          <p:nvPr/>
        </p:nvSpPr>
        <p:spPr>
          <a:xfrm>
            <a:off x="4434840" y="4206240"/>
            <a:ext cx="3566160" cy="914400"/>
          </a:xfrm>
          <a:prstGeom prst="rect">
            <a:avLst/>
          </a:prstGeom>
          <a:noFill/>
        </p:spPr>
        <p:txBody>
          <a:bodyPr wrap="square" rtlCol="0" anchor="ctr"/>
          <a:lstStyle/>
          <a:p>
            <a:pPr marL="0" indent="0" algn="ctr">
              <a:buNone/>
            </a:pPr>
            <a:r>
              <a:rPr lang="en-US" sz="4400" b="1" dirty="0">
                <a:solidFill>
                  <a:srgbClr val="D64545"/>
                </a:solidFill>
                <a:latin typeface="Bookman Old Style" panose="02050604050505020204" pitchFamily="34" charset="0"/>
                <a:ea typeface="Bookman Old Style" panose="02050604050505020204" pitchFamily="34" charset="-122"/>
                <a:cs typeface="Bookman Old Style" panose="02050604050505020204" pitchFamily="34" charset="-120"/>
              </a:rPr>
              <a:t>47%</a:t>
            </a:r>
            <a:endParaRPr lang="en-US" sz="4400" dirty="0"/>
          </a:p>
        </p:txBody>
      </p:sp>
      <p:sp>
        <p:nvSpPr>
          <p:cNvPr id="11" name="Text 9"/>
          <p:cNvSpPr/>
          <p:nvPr/>
        </p:nvSpPr>
        <p:spPr>
          <a:xfrm>
            <a:off x="4709160" y="5166360"/>
            <a:ext cx="3017520" cy="731520"/>
          </a:xfrm>
          <a:prstGeom prst="rect">
            <a:avLst/>
          </a:prstGeom>
          <a:noFill/>
        </p:spPr>
        <p:txBody>
          <a:bodyPr wrap="square" rtlCol="0" anchor="ctr"/>
          <a:lstStyle/>
          <a:p>
            <a:pPr marL="0" indent="0" algn="ctr">
              <a:buNone/>
            </a:pPr>
            <a:r>
              <a:rPr lang="en-US" sz="1600" dirty="0">
                <a:solidFill>
                  <a:srgbClr val="222222"/>
                </a:solidFill>
                <a:latin typeface="Calibri" panose="020F0502020204030204" pitchFamily="34" charset="0"/>
                <a:ea typeface="Calibri" panose="020F0502020204030204" pitchFamily="34" charset="-122"/>
                <a:cs typeface="Calibri" panose="020F0502020204030204" pitchFamily="34" charset="-120"/>
              </a:rPr>
              <a:t>Shifts are SAFELY staffed</a:t>
            </a:r>
            <a:endParaRPr lang="en-US" sz="1600" dirty="0">
              <a:solidFill>
                <a:srgbClr val="222222"/>
              </a:solidFill>
              <a:latin typeface="Calibri" panose="020F0502020204030204" pitchFamily="34" charset="0"/>
              <a:ea typeface="Calibri" panose="020F0502020204030204" pitchFamily="34" charset="-122"/>
              <a:cs typeface="Calibri" panose="020F0502020204030204" pitchFamily="34" charset="-120"/>
            </a:endParaRPr>
          </a:p>
        </p:txBody>
      </p:sp>
      <p:sp>
        <p:nvSpPr>
          <p:cNvPr id="12" name="Shape 10"/>
          <p:cNvSpPr/>
          <p:nvPr/>
        </p:nvSpPr>
        <p:spPr>
          <a:xfrm>
            <a:off x="8321040" y="4069080"/>
            <a:ext cx="3566160" cy="1965960"/>
          </a:xfrm>
          <a:prstGeom prst="roundRect">
            <a:avLst>
              <a:gd name="adj" fmla="val 4651"/>
            </a:avLst>
          </a:prstGeom>
          <a:solidFill>
            <a:srgbClr val="FFFFFF"/>
          </a:solidFill>
          <a:ln w="12700">
            <a:solidFill>
              <a:srgbClr val="E5E7EB"/>
            </a:solidFill>
            <a:prstDash val="solid"/>
          </a:ln>
          <a:effectLst>
            <a:outerShdw blurRad="76200" dist="25400" dir="5400000" algn="bl" rotWithShape="0">
              <a:srgbClr val="000000">
                <a:alpha val="12000"/>
              </a:srgbClr>
            </a:outerShdw>
          </a:effectLst>
        </p:spPr>
      </p:sp>
      <p:sp>
        <p:nvSpPr>
          <p:cNvPr id="13" name="Text 11"/>
          <p:cNvSpPr/>
          <p:nvPr/>
        </p:nvSpPr>
        <p:spPr>
          <a:xfrm>
            <a:off x="8321040" y="4206240"/>
            <a:ext cx="3566160" cy="914400"/>
          </a:xfrm>
          <a:prstGeom prst="rect">
            <a:avLst/>
          </a:prstGeom>
          <a:noFill/>
        </p:spPr>
        <p:txBody>
          <a:bodyPr wrap="square" rtlCol="0" anchor="ctr"/>
          <a:lstStyle/>
          <a:p>
            <a:pPr marL="0" indent="0" algn="ctr">
              <a:buNone/>
            </a:pPr>
            <a:r>
              <a:rPr lang="en-US" sz="4400" b="1" dirty="0">
                <a:solidFill>
                  <a:srgbClr val="E0A030"/>
                </a:solidFill>
                <a:latin typeface="Bookman Old Style" panose="02050604050505020204" pitchFamily="34" charset="0"/>
                <a:ea typeface="Bookman Old Style" panose="02050604050505020204" pitchFamily="34" charset="-122"/>
                <a:cs typeface="Bookman Old Style" panose="02050604050505020204" pitchFamily="34" charset="-120"/>
              </a:rPr>
              <a:t>Dec</a:t>
            </a:r>
            <a:endParaRPr lang="en-US" sz="4400" dirty="0"/>
          </a:p>
        </p:txBody>
      </p:sp>
      <p:sp>
        <p:nvSpPr>
          <p:cNvPr id="14" name="Text 12"/>
          <p:cNvSpPr/>
          <p:nvPr/>
        </p:nvSpPr>
        <p:spPr>
          <a:xfrm>
            <a:off x="8595360" y="5166360"/>
            <a:ext cx="3017520" cy="731520"/>
          </a:xfrm>
          <a:prstGeom prst="rect">
            <a:avLst/>
          </a:prstGeom>
          <a:noFill/>
        </p:spPr>
        <p:txBody>
          <a:bodyPr wrap="square" rtlCol="0" anchor="ctr"/>
          <a:lstStyle/>
          <a:p>
            <a:pPr marL="0" indent="0" algn="ctr">
              <a:buNone/>
            </a:pPr>
            <a:r>
              <a:rPr lang="en-US" sz="1600" dirty="0">
                <a:solidFill>
                  <a:srgbClr val="222222"/>
                </a:solidFill>
                <a:latin typeface="Calibri" panose="020F0502020204030204" pitchFamily="34" charset="0"/>
                <a:ea typeface="Calibri" panose="020F0502020204030204" pitchFamily="34" charset="-122"/>
                <a:cs typeface="Calibri" panose="020F0502020204030204" pitchFamily="34" charset="-120"/>
              </a:rPr>
              <a:t>Staffing dips lowest, historicall</a:t>
            </a: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y</a:t>
            </a:r>
            <a:endParaRPr lang="en-US" sz="1400" dirty="0"/>
          </a:p>
        </p:txBody>
      </p:sp>
      <p:sp>
        <p:nvSpPr>
          <p:cNvPr id="15" name="Text 13"/>
          <p:cNvSpPr/>
          <p:nvPr/>
        </p:nvSpPr>
        <p:spPr>
          <a:xfrm>
            <a:off x="11521440" y="6492240"/>
            <a:ext cx="457200" cy="274320"/>
          </a:xfrm>
          <a:prstGeom prst="rect">
            <a:avLst/>
          </a:prstGeom>
          <a:noFill/>
        </p:spPr>
        <p:txBody>
          <a:bodyPr wrap="square"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p:spPr>
        <p:txBody>
          <a:bodyPr wrap="square" rtlCol="0" anchor="ctr"/>
          <a:lstStyle/>
          <a:p>
            <a:pPr marL="0" indent="0">
              <a:buNone/>
            </a:pPr>
            <a:r>
              <a:rPr lang="en-US" sz="28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Demand Stays Steady, Month to Month</a:t>
            </a:r>
            <a:endParaRPr lang="en-US" sz="2800" dirty="0"/>
          </a:p>
        </p:txBody>
      </p:sp>
      <p:sp>
        <p:nvSpPr>
          <p:cNvPr id="3" name="Text 1"/>
          <p:cNvSpPr/>
          <p:nvPr/>
        </p:nvSpPr>
        <p:spPr>
          <a:xfrm>
            <a:off x="548640" y="960120"/>
            <a:ext cx="10058400" cy="365760"/>
          </a:xfrm>
          <a:prstGeom prst="rect">
            <a:avLst/>
          </a:prstGeom>
          <a:noFill/>
        </p:spPr>
        <p:txBody>
          <a:bodyPr wrap="square" rtlCol="0" anchor="ctr"/>
          <a:lstStyle/>
          <a:p>
            <a:pPr marL="0" indent="0">
              <a:buNone/>
            </a:pPr>
            <a:r>
              <a:rPr lang="en-US" sz="1600" i="1" dirty="0">
                <a:solidFill>
                  <a:srgbClr val="6B7280"/>
                </a:solidFill>
                <a:latin typeface="Calibri" panose="020F0502020204030204" pitchFamily="34" charset="0"/>
                <a:ea typeface="Calibri" panose="020F0502020204030204" pitchFamily="34" charset="-122"/>
                <a:cs typeface="Calibri" panose="020F0502020204030204" pitchFamily="34" charset="-120"/>
              </a:rPr>
              <a:t>A closer look at January 2024 confirms the same pattern we see all year</a:t>
            </a:r>
            <a:endParaRPr lang="en-US" sz="1600" i="1"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Shape 2"/>
          <p:cNvSpPr/>
          <p:nvPr/>
        </p:nvSpPr>
        <p:spPr>
          <a:xfrm>
            <a:off x="548640" y="1600200"/>
            <a:ext cx="3200400" cy="868680"/>
          </a:xfrm>
          <a:prstGeom prst="roundRect">
            <a:avLst>
              <a:gd name="adj" fmla="val 8421"/>
            </a:avLst>
          </a:prstGeom>
          <a:solidFill>
            <a:srgbClr val="F7F9F9"/>
          </a:solidFill>
        </p:spPr>
      </p:sp>
      <p:sp>
        <p:nvSpPr>
          <p:cNvPr id="5" name="Text 3"/>
          <p:cNvSpPr/>
          <p:nvPr/>
        </p:nvSpPr>
        <p:spPr>
          <a:xfrm>
            <a:off x="731520" y="1600200"/>
            <a:ext cx="1463040" cy="868680"/>
          </a:xfrm>
          <a:prstGeom prst="rect">
            <a:avLst/>
          </a:prstGeom>
          <a:noFill/>
        </p:spPr>
        <p:txBody>
          <a:bodyPr wrap="square" rtlCol="0" anchor="ctr"/>
          <a:lstStyle/>
          <a:p>
            <a:pPr marL="0" indent="0">
              <a:buNone/>
            </a:pPr>
            <a:r>
              <a:rPr lang="en-US" sz="2600" b="1" dirty="0">
                <a:solidFill>
                  <a:srgbClr val="028090"/>
                </a:solidFill>
                <a:latin typeface="Bookman Old Style" panose="02050604050505020204" pitchFamily="34" charset="0"/>
                <a:ea typeface="Bookman Old Style" panose="02050604050505020204" pitchFamily="34" charset="-122"/>
                <a:cs typeface="Bookman Old Style" panose="02050604050505020204" pitchFamily="34" charset="-120"/>
              </a:rPr>
              <a:t>278</a:t>
            </a:r>
            <a:endParaRPr lang="en-US" sz="2600" dirty="0"/>
          </a:p>
        </p:txBody>
      </p:sp>
      <p:sp>
        <p:nvSpPr>
          <p:cNvPr id="6" name="Text 4"/>
          <p:cNvSpPr/>
          <p:nvPr/>
        </p:nvSpPr>
        <p:spPr>
          <a:xfrm>
            <a:off x="2148840" y="1600200"/>
            <a:ext cx="1508760" cy="868680"/>
          </a:xfrm>
          <a:prstGeom prst="rect">
            <a:avLst/>
          </a:prstGeom>
          <a:noFill/>
        </p:spPr>
        <p:txBody>
          <a:bodyPr wrap="square" rtlCol="0" anchor="ct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Patients admitted per day</a:t>
            </a:r>
            <a:endPar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5"/>
          <p:cNvSpPr/>
          <p:nvPr/>
        </p:nvSpPr>
        <p:spPr>
          <a:xfrm>
            <a:off x="548640" y="2651760"/>
            <a:ext cx="3200400" cy="868680"/>
          </a:xfrm>
          <a:prstGeom prst="roundRect">
            <a:avLst>
              <a:gd name="adj" fmla="val 8421"/>
            </a:avLst>
          </a:prstGeom>
          <a:solidFill>
            <a:srgbClr val="F7F9F9"/>
          </a:solidFill>
        </p:spPr>
      </p:sp>
      <p:sp>
        <p:nvSpPr>
          <p:cNvPr id="8" name="Text 6"/>
          <p:cNvSpPr/>
          <p:nvPr/>
        </p:nvSpPr>
        <p:spPr>
          <a:xfrm>
            <a:off x="731520" y="2651760"/>
            <a:ext cx="1463040" cy="868680"/>
          </a:xfrm>
          <a:prstGeom prst="rect">
            <a:avLst/>
          </a:prstGeom>
          <a:noFill/>
        </p:spPr>
        <p:txBody>
          <a:bodyPr wrap="square" rtlCol="0" anchor="ctr"/>
          <a:lstStyle/>
          <a:p>
            <a:pPr marL="0" indent="0">
              <a:buNone/>
            </a:pPr>
            <a:r>
              <a:rPr lang="en-US" sz="2600" b="1" dirty="0">
                <a:solidFill>
                  <a:srgbClr val="028090"/>
                </a:solidFill>
                <a:latin typeface="Bookman Old Style" panose="02050604050505020204" pitchFamily="34" charset="0"/>
                <a:ea typeface="Bookman Old Style" panose="02050604050505020204" pitchFamily="34" charset="-122"/>
                <a:cs typeface="Bookman Old Style" panose="02050604050505020204" pitchFamily="34" charset="-120"/>
              </a:rPr>
              <a:t>4 days</a:t>
            </a:r>
            <a:endParaRPr lang="en-US" sz="2600" dirty="0"/>
          </a:p>
        </p:txBody>
      </p:sp>
      <p:sp>
        <p:nvSpPr>
          <p:cNvPr id="9" name="Text 7"/>
          <p:cNvSpPr/>
          <p:nvPr/>
        </p:nvSpPr>
        <p:spPr>
          <a:xfrm>
            <a:off x="2148840" y="2651760"/>
            <a:ext cx="1508760" cy="868680"/>
          </a:xfrm>
          <a:prstGeom prst="rect">
            <a:avLst/>
          </a:prstGeom>
          <a:noFill/>
        </p:spPr>
        <p:txBody>
          <a:bodyPr wrap="square" rtlCol="0" anchor="ct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Average hospital stay</a:t>
            </a:r>
            <a:endPar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548640" y="3703320"/>
            <a:ext cx="3200400" cy="868680"/>
          </a:xfrm>
          <a:prstGeom prst="roundRect">
            <a:avLst>
              <a:gd name="adj" fmla="val 8421"/>
            </a:avLst>
          </a:prstGeom>
          <a:solidFill>
            <a:srgbClr val="F7F9F9"/>
          </a:solidFill>
        </p:spPr>
      </p:sp>
      <p:sp>
        <p:nvSpPr>
          <p:cNvPr id="11" name="Text 9"/>
          <p:cNvSpPr/>
          <p:nvPr/>
        </p:nvSpPr>
        <p:spPr>
          <a:xfrm>
            <a:off x="731520" y="3703320"/>
            <a:ext cx="1463040" cy="868680"/>
          </a:xfrm>
          <a:prstGeom prst="rect">
            <a:avLst/>
          </a:prstGeom>
          <a:noFill/>
        </p:spPr>
        <p:txBody>
          <a:bodyPr wrap="square" rtlCol="0" anchor="ctr"/>
          <a:lstStyle/>
          <a:p>
            <a:pPr marL="0" indent="0">
              <a:buNone/>
            </a:pPr>
            <a:r>
              <a:rPr lang="en-US" sz="2600" b="1" dirty="0">
                <a:solidFill>
                  <a:srgbClr val="028090"/>
                </a:solidFill>
                <a:latin typeface="Bookman Old Style" panose="02050604050505020204" pitchFamily="34" charset="0"/>
                <a:ea typeface="Bookman Old Style" panose="02050604050505020204" pitchFamily="34" charset="-122"/>
                <a:cs typeface="Bookman Old Style" panose="02050604050505020204" pitchFamily="34" charset="-120"/>
              </a:rPr>
              <a:t>37</a:t>
            </a:r>
            <a:endParaRPr lang="en-US" sz="2600" dirty="0"/>
          </a:p>
        </p:txBody>
      </p:sp>
      <p:sp>
        <p:nvSpPr>
          <p:cNvPr id="12" name="Text 10"/>
          <p:cNvSpPr/>
          <p:nvPr/>
        </p:nvSpPr>
        <p:spPr>
          <a:xfrm>
            <a:off x="2148840" y="3703320"/>
            <a:ext cx="1508760" cy="868680"/>
          </a:xfrm>
          <a:prstGeom prst="rect">
            <a:avLst/>
          </a:prstGeom>
          <a:noFill/>
        </p:spPr>
        <p:txBody>
          <a:bodyPr wrap="square" rtlCol="0" anchor="ctr"/>
          <a:lstStyle/>
          <a:p>
            <a:pPr marL="0" indent="0">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Hospitals in the network</a:t>
            </a:r>
            <a:endPar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p:nvPr/>
        </p:nvSpPr>
        <p:spPr>
          <a:xfrm>
            <a:off x="4114800" y="1554480"/>
            <a:ext cx="7498080" cy="320040"/>
          </a:xfrm>
          <a:prstGeom prst="rect">
            <a:avLst/>
          </a:prstGeom>
          <a:noFill/>
        </p:spPr>
        <p:txBody>
          <a:bodyPr wrap="square" rtlCol="0" anchor="ctr"/>
          <a:lstStyle/>
          <a:p>
            <a:pPr marL="0" indent="0">
              <a:buNone/>
            </a:pPr>
            <a:r>
              <a:rPr lang="en-US" sz="1600" b="1" dirty="0">
                <a:solidFill>
                  <a:srgbClr val="222222"/>
                </a:solidFill>
                <a:latin typeface="Calibri" panose="020F0502020204030204" pitchFamily="34" charset="0"/>
                <a:ea typeface="Calibri" panose="020F0502020204030204" pitchFamily="34" charset="-122"/>
                <a:cs typeface="Calibri" panose="020F0502020204030204" pitchFamily="34" charset="-120"/>
              </a:rPr>
              <a:t>Specialty demand stays tightly balanced</a:t>
            </a:r>
            <a:endParaRPr lang="en-US" sz="1600" b="1" dirty="0">
              <a:solidFill>
                <a:srgbClr val="222222"/>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14" name="Chart 0"/>
          <p:cNvGraphicFramePr/>
          <p:nvPr/>
        </p:nvGraphicFramePr>
        <p:xfrm>
          <a:off x="4114800" y="1920240"/>
          <a:ext cx="7498080" cy="2286000"/>
        </p:xfrm>
        <a:graphic>
          <a:graphicData uri="http://schemas.openxmlformats.org/drawingml/2006/chart">
            <c:chart xmlns:c="http://schemas.openxmlformats.org/drawingml/2006/chart" xmlns:r="http://schemas.openxmlformats.org/officeDocument/2006/relationships" r:id="rId1"/>
          </a:graphicData>
        </a:graphic>
      </p:graphicFrame>
      <p:sp>
        <p:nvSpPr>
          <p:cNvPr id="15" name="Shape 12"/>
          <p:cNvSpPr/>
          <p:nvPr/>
        </p:nvSpPr>
        <p:spPr>
          <a:xfrm>
            <a:off x="4114800" y="4572000"/>
            <a:ext cx="7498080" cy="1508760"/>
          </a:xfrm>
          <a:prstGeom prst="roundRect">
            <a:avLst>
              <a:gd name="adj" fmla="val 4848"/>
            </a:avLst>
          </a:prstGeom>
          <a:solidFill>
            <a:srgbClr val="F7F9F9"/>
          </a:solidFill>
        </p:spPr>
      </p:sp>
      <p:sp>
        <p:nvSpPr>
          <p:cNvPr id="16" name="Text 13"/>
          <p:cNvSpPr/>
          <p:nvPr/>
        </p:nvSpPr>
        <p:spPr>
          <a:xfrm>
            <a:off x="4135120" y="4709160"/>
            <a:ext cx="7445375" cy="1280160"/>
          </a:xfrm>
          <a:prstGeom prst="rect">
            <a:avLst/>
          </a:prstGeom>
          <a:noFill/>
        </p:spPr>
        <p:txBody>
          <a:bodyPr wrap="square" rtlCol="0" anchor="t"/>
          <a:lstStyle/>
          <a:p>
            <a:pPr marL="0" indent="0" algn="just">
              <a:lnSpc>
                <a:spcPct val="115000"/>
              </a:lnSpc>
              <a:buNone/>
            </a:pPr>
            <a:r>
              <a:rPr lang="en-US" sz="1600" b="1" dirty="0">
                <a:solidFill>
                  <a:srgbClr val="028090"/>
                </a:solidFill>
                <a:latin typeface="Calibri" panose="020F0502020204030204" pitchFamily="34" charset="0"/>
                <a:ea typeface="Calibri" panose="020F0502020204030204" pitchFamily="34" charset="-122"/>
                <a:cs typeface="Calibri" panose="020F0502020204030204" pitchFamily="34" charset="-120"/>
              </a:rPr>
              <a:t>Where this points to:  </a:t>
            </a:r>
            <a:r>
              <a:rPr lang="en-GB" altLang="en-US" sz="1600" dirty="0">
                <a:solidFill>
                  <a:srgbClr val="222222"/>
                </a:solidFill>
                <a:latin typeface="Calibri" panose="020F0502020204030204" pitchFamily="34" charset="0"/>
                <a:ea typeface="Calibri" panose="020F0502020204030204" pitchFamily="34" charset="-122"/>
                <a:cs typeface="Calibri" panose="020F0502020204030204" pitchFamily="34" charset="-120"/>
              </a:rPr>
              <a:t>is the fact that t</a:t>
            </a:r>
            <a:r>
              <a:rPr lang="en-US" sz="1600" dirty="0">
                <a:solidFill>
                  <a:srgbClr val="222222"/>
                </a:solidFill>
                <a:latin typeface="Calibri" panose="020F0502020204030204" pitchFamily="34" charset="0"/>
                <a:ea typeface="Calibri" panose="020F0502020204030204" pitchFamily="34" charset="-122"/>
                <a:cs typeface="Calibri" panose="020F0502020204030204" pitchFamily="34" charset="-120"/>
              </a:rPr>
              <a:t>he lead specialty shuffles each month (this month it's Orthopaedics), but the range stays tight—this is broad, network-wide demand, not one specialty spiking.</a:t>
            </a:r>
            <a:endParaRPr lang="en-US" sz="1600" dirty="0">
              <a:solidFill>
                <a:srgbClr val="222222"/>
              </a:solidFill>
              <a:latin typeface="Calibri" panose="020F0502020204030204" pitchFamily="34" charset="0"/>
              <a:ea typeface="Calibri" panose="020F0502020204030204" pitchFamily="34" charset="-122"/>
              <a:cs typeface="Calibri" panose="020F0502020204030204" pitchFamily="34" charset="-120"/>
            </a:endParaRPr>
          </a:p>
        </p:txBody>
      </p:sp>
      <p:sp>
        <p:nvSpPr>
          <p:cNvPr id="17" name="Text 14"/>
          <p:cNvSpPr/>
          <p:nvPr/>
        </p:nvSpPr>
        <p:spPr>
          <a:xfrm>
            <a:off x="11521440" y="6492240"/>
            <a:ext cx="457200" cy="274320"/>
          </a:xfrm>
          <a:prstGeom prst="rect">
            <a:avLst/>
          </a:prstGeom>
          <a:noFill/>
        </p:spPr>
        <p:txBody>
          <a:bodyPr wrap="square"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9"/>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p:spPr>
        <p:txBody>
          <a:bodyPr wrap="square" rtlCol="0" anchor="ctr"/>
          <a:lstStyle/>
          <a:p>
            <a:pPr marL="0" indent="0">
              <a:buNone/>
            </a:pPr>
            <a:r>
              <a:rPr lang="en-US" sz="28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One Ward Still Carries Most of the Load</a:t>
            </a:r>
            <a:endParaRPr lang="en-US" sz="2800" dirty="0"/>
          </a:p>
        </p:txBody>
      </p:sp>
      <p:sp>
        <p:nvSpPr>
          <p:cNvPr id="3" name="Text 1"/>
          <p:cNvSpPr/>
          <p:nvPr/>
        </p:nvSpPr>
        <p:spPr>
          <a:xfrm>
            <a:off x="548640" y="960120"/>
            <a:ext cx="10058400" cy="365760"/>
          </a:xfrm>
          <a:prstGeom prst="rect">
            <a:avLst/>
          </a:prstGeom>
          <a:noFill/>
        </p:spPr>
        <p:txBody>
          <a:bodyPr wrap="square" rtlCol="0" anchor="ctr"/>
          <a:lstStyle/>
          <a:p>
            <a:pPr marL="0" indent="0">
              <a:buNone/>
            </a:pPr>
            <a:r>
              <a:rPr lang="en-US" sz="1600" i="1" dirty="0">
                <a:solidFill>
                  <a:srgbClr val="6B7280"/>
                </a:solidFill>
                <a:latin typeface="Calibri" panose="020F0502020204030204" pitchFamily="34" charset="0"/>
                <a:ea typeface="Calibri" panose="020F0502020204030204" pitchFamily="34" charset="-122"/>
                <a:cs typeface="Calibri" panose="020F0502020204030204" pitchFamily="34" charset="-120"/>
              </a:rPr>
              <a:t>General Medicine: </a:t>
            </a:r>
            <a:r>
              <a:rPr lang="en-GB" altLang="en-US" sz="1600" i="1" dirty="0">
                <a:solidFill>
                  <a:srgbClr val="6B7280"/>
                </a:solidFill>
                <a:latin typeface="Calibri" panose="020F0502020204030204" pitchFamily="34" charset="0"/>
                <a:ea typeface="Calibri" panose="020F0502020204030204" pitchFamily="34" charset="-122"/>
                <a:cs typeface="Calibri" panose="020F0502020204030204" pitchFamily="34" charset="-120"/>
              </a:rPr>
              <a:t>accounts for </a:t>
            </a:r>
            <a:r>
              <a:rPr lang="en-US" sz="1600" i="1" dirty="0">
                <a:solidFill>
                  <a:srgbClr val="6B7280"/>
                </a:solidFill>
                <a:latin typeface="Calibri" panose="020F0502020204030204" pitchFamily="34" charset="0"/>
                <a:ea typeface="Calibri" panose="020F0502020204030204" pitchFamily="34" charset="-122"/>
                <a:cs typeface="Calibri" panose="020F0502020204030204" pitchFamily="34" charset="-120"/>
              </a:rPr>
              <a:t>784 admissions this month—</a:t>
            </a:r>
            <a:r>
              <a:rPr lang="en-GB" altLang="en-US" sz="1600" i="1" dirty="0">
                <a:solidFill>
                  <a:srgbClr val="6B7280"/>
                </a:solidFill>
                <a:latin typeface="Calibri" panose="020F0502020204030204" pitchFamily="34" charset="0"/>
                <a:ea typeface="Calibri" panose="020F0502020204030204" pitchFamily="34" charset="-122"/>
                <a:cs typeface="Calibri" panose="020F0502020204030204" pitchFamily="34" charset="-120"/>
              </a:rPr>
              <a:t> which is </a:t>
            </a:r>
            <a:r>
              <a:rPr lang="en-US" sz="1600" i="1" dirty="0">
                <a:solidFill>
                  <a:srgbClr val="6B7280"/>
                </a:solidFill>
                <a:latin typeface="Calibri" panose="020F0502020204030204" pitchFamily="34" charset="0"/>
                <a:ea typeface="Calibri" panose="020F0502020204030204" pitchFamily="34" charset="-122"/>
                <a:cs typeface="Calibri" panose="020F0502020204030204" pitchFamily="34" charset="-120"/>
              </a:rPr>
              <a:t>3x the next busiest ward</a:t>
            </a:r>
            <a:endParaRPr lang="en-US" sz="1600" i="1"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4" name="Chart 0"/>
          <p:cNvGraphicFramePr/>
          <p:nvPr/>
        </p:nvGraphicFramePr>
        <p:xfrm>
          <a:off x="548640" y="1554480"/>
          <a:ext cx="6675120" cy="420624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7452360" y="1554480"/>
            <a:ext cx="4160520" cy="4206240"/>
          </a:xfrm>
          <a:prstGeom prst="roundRect">
            <a:avLst>
              <a:gd name="adj" fmla="val 2198"/>
            </a:avLst>
          </a:prstGeom>
          <a:solidFill>
            <a:srgbClr val="1B1F23"/>
          </a:solidFill>
        </p:spPr>
      </p:sp>
      <p:sp>
        <p:nvSpPr>
          <p:cNvPr id="6" name="Text 3"/>
          <p:cNvSpPr/>
          <p:nvPr/>
        </p:nvSpPr>
        <p:spPr>
          <a:xfrm>
            <a:off x="7772400" y="1783080"/>
            <a:ext cx="3566160" cy="365760"/>
          </a:xfrm>
          <a:prstGeom prst="rect">
            <a:avLst/>
          </a:prstGeom>
          <a:noFill/>
        </p:spPr>
        <p:txBody>
          <a:bodyPr wrap="square" rtlCol="0" anchor="ctr"/>
          <a:lstStyle/>
          <a:p>
            <a:pPr marL="0" indent="0">
              <a:buNone/>
            </a:pPr>
            <a:r>
              <a:rPr lang="en-US" b="1" dirty="0">
                <a:solidFill>
                  <a:srgbClr val="02C39A"/>
                </a:solidFill>
                <a:latin typeface="Bookman Old Style" panose="02050604050505020204" pitchFamily="34" charset="0"/>
                <a:ea typeface="Bookman Old Style" panose="02050604050505020204" pitchFamily="34" charset="-122"/>
                <a:cs typeface="Bookman Old Style" panose="02050604050505020204" pitchFamily="34" charset="-120"/>
              </a:rPr>
              <a:t>In </a:t>
            </a:r>
            <a:r>
              <a:rPr lang="en-GB" altLang="en-US" b="1" dirty="0">
                <a:solidFill>
                  <a:srgbClr val="02C39A"/>
                </a:solidFill>
                <a:latin typeface="Bookman Old Style" panose="02050604050505020204" pitchFamily="34" charset="0"/>
                <a:ea typeface="Bookman Old Style" panose="02050604050505020204" pitchFamily="34" charset="-122"/>
                <a:cs typeface="Bookman Old Style" panose="02050604050505020204" pitchFamily="34" charset="-120"/>
              </a:rPr>
              <a:t>Simple Terms:</a:t>
            </a:r>
            <a:endParaRPr lang="en-US" b="1" dirty="0">
              <a:solidFill>
                <a:srgbClr val="02C39A"/>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7" name="Text 4"/>
          <p:cNvSpPr/>
          <p:nvPr/>
        </p:nvSpPr>
        <p:spPr>
          <a:xfrm>
            <a:off x="7772400" y="2286000"/>
            <a:ext cx="3566160" cy="3291840"/>
          </a:xfrm>
          <a:prstGeom prst="rect">
            <a:avLst/>
          </a:prstGeom>
          <a:noFill/>
        </p:spPr>
        <p:txBody>
          <a:bodyPr wrap="square" rtlCol="0" anchor="t"/>
          <a:lstStyle/>
          <a:p>
            <a:pPr marL="342900" indent="-342900">
              <a:lnSpc>
                <a:spcPct val="120000"/>
              </a:lnSpc>
              <a:spcAft>
                <a:spcPts val="1400"/>
              </a:spcAft>
              <a:buSzPct val="100000"/>
              <a:buChar char="✦"/>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General Medicine holds steady as our busiest ward, month after month.</a:t>
            </a:r>
            <a:endParaRPr lang="en-US" sz="1400" dirty="0"/>
          </a:p>
          <a:p>
            <a:pPr marL="342900" indent="-342900">
              <a:lnSpc>
                <a:spcPct val="120000"/>
              </a:lnSpc>
              <a:spcAft>
                <a:spcPts val="1400"/>
              </a:spcAft>
              <a:buSzPct val="100000"/>
              <a:buChar char="✦"/>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This is where most unplanned, day-to-day demand lands first.</a:t>
            </a:r>
            <a:endParaRPr lang="en-US" sz="1400" dirty="0"/>
          </a:p>
          <a:p>
            <a:pPr marL="342900" indent="-342900">
              <a:lnSpc>
                <a:spcPct val="120000"/>
              </a:lnSpc>
              <a:spcAft>
                <a:spcPts val="1400"/>
              </a:spcAft>
              <a:buSzPct val="100000"/>
              <a:buChar char="✦"/>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It is also next to HDU, </a:t>
            </a:r>
            <a:r>
              <a:rPr lang="en-GB" alt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which is </a:t>
            </a: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our weakest-staffed ward.</a:t>
            </a:r>
            <a:endParaRPr lang="en-US" sz="1400" dirty="0"/>
          </a:p>
          <a:p>
            <a:pPr marL="342900" indent="-342900">
              <a:lnSpc>
                <a:spcPct val="120000"/>
              </a:lnSpc>
              <a:spcAft>
                <a:spcPts val="1400"/>
              </a:spcAft>
              <a:buSzPct val="100000"/>
              <a:buChar char="✦"/>
            </a:pPr>
            <a:r>
              <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rPr>
              <a:t>Any extra winter pressure will show up here first.</a:t>
            </a:r>
            <a:endParaRPr lang="en-US" sz="14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5"/>
          <p:cNvSpPr/>
          <p:nvPr/>
        </p:nvSpPr>
        <p:spPr>
          <a:xfrm>
            <a:off x="11521440" y="6492240"/>
            <a:ext cx="457200" cy="274320"/>
          </a:xfrm>
          <a:prstGeom prst="rect">
            <a:avLst/>
          </a:prstGeom>
          <a:noFill/>
        </p:spPr>
        <p:txBody>
          <a:bodyPr wrap="square" rtlCol="0" anchor="ctr"/>
          <a:lstStyle/>
          <a:p>
            <a:pPr marL="0" indent="0" algn="r">
              <a:buNone/>
            </a:pPr>
            <a:r>
              <a:rPr lang="en-US" sz="1000" dirty="0">
                <a:solidFill>
                  <a:srgbClr val="9CA3AF"/>
                </a:solidFill>
                <a:latin typeface="Calibri" panose="020F0502020204030204" pitchFamily="34" charset="0"/>
                <a:ea typeface="Calibri" panose="020F0502020204030204" pitchFamily="34" charset="-122"/>
                <a:cs typeface="Calibri" panose="020F0502020204030204"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1F23"/>
        </a:solidFill>
        <a:effectLst/>
      </p:bgPr>
    </p:bg>
    <p:spTree>
      <p:nvGrpSpPr>
        <p:cNvPr id="1" name=""/>
        <p:cNvGrpSpPr/>
        <p:nvPr/>
      </p:nvGrpSpPr>
      <p:grpSpPr>
        <a:xfrm>
          <a:off x="0" y="0"/>
          <a:ext cx="0" cy="0"/>
          <a:chOff x="0" y="0"/>
          <a:chExt cx="0" cy="0"/>
        </a:xfrm>
      </p:grpSpPr>
      <p:sp>
        <p:nvSpPr>
          <p:cNvPr id="2" name="Text 0"/>
          <p:cNvSpPr/>
          <p:nvPr/>
        </p:nvSpPr>
        <p:spPr>
          <a:xfrm>
            <a:off x="548640" y="502920"/>
            <a:ext cx="8229600" cy="548640"/>
          </a:xfrm>
          <a:prstGeom prst="rect">
            <a:avLst/>
          </a:prstGeom>
          <a:noFill/>
        </p:spPr>
        <p:txBody>
          <a:bodyPr wrap="square" rtlCol="0" anchor="ctr"/>
          <a:lstStyle/>
          <a:p>
            <a:pPr marL="0" indent="0">
              <a:buNone/>
            </a:pPr>
            <a:r>
              <a:rPr lang="en-US" sz="36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rPr>
              <a:t>The Staffing Problem</a:t>
            </a:r>
            <a:endParaRPr lang="en-US" sz="36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3" name="Text 1"/>
          <p:cNvSpPr/>
          <p:nvPr/>
        </p:nvSpPr>
        <p:spPr>
          <a:xfrm>
            <a:off x="548640" y="1051560"/>
            <a:ext cx="8229600" cy="365760"/>
          </a:xfrm>
          <a:prstGeom prst="rect">
            <a:avLst/>
          </a:prstGeom>
          <a:noFill/>
        </p:spPr>
        <p:txBody>
          <a:bodyPr wrap="square" rtlCol="0" anchor="ctr"/>
          <a:lstStyle/>
          <a:p>
            <a:pPr marL="0" indent="0">
              <a:buNone/>
            </a:pPr>
            <a:r>
              <a:rPr lang="en-US" i="1" dirty="0">
                <a:solidFill>
                  <a:srgbClr val="9CA3AF"/>
                </a:solidFill>
                <a:latin typeface="Calibri" panose="020F0502020204030204" pitchFamily="34" charset="0"/>
                <a:ea typeface="Calibri" panose="020F0502020204030204" pitchFamily="34" charset="-122"/>
                <a:cs typeface="Calibri" panose="020F0502020204030204" pitchFamily="34" charset="-120"/>
              </a:rPr>
              <a:t>This is the most important number in the whole story</a:t>
            </a:r>
            <a:endParaRPr lang="en-US" i="1" dirty="0">
              <a:solidFill>
                <a:srgbClr val="9CA3AF"/>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Shape 2"/>
          <p:cNvSpPr/>
          <p:nvPr/>
        </p:nvSpPr>
        <p:spPr>
          <a:xfrm>
            <a:off x="4023360" y="1828800"/>
            <a:ext cx="4114800" cy="4114800"/>
          </a:xfrm>
          <a:prstGeom prst="ellipse">
            <a:avLst/>
          </a:prstGeom>
          <a:solidFill>
            <a:srgbClr val="2A2E33"/>
          </a:solidFill>
          <a:ln w="38100">
            <a:solidFill>
              <a:srgbClr val="D64545"/>
            </a:solidFill>
            <a:prstDash val="solid"/>
          </a:ln>
        </p:spPr>
      </p:sp>
      <p:sp>
        <p:nvSpPr>
          <p:cNvPr id="5" name="Text 3"/>
          <p:cNvSpPr/>
          <p:nvPr/>
        </p:nvSpPr>
        <p:spPr>
          <a:xfrm>
            <a:off x="4023360" y="2834640"/>
            <a:ext cx="4114800" cy="1188720"/>
          </a:xfrm>
          <a:prstGeom prst="rect">
            <a:avLst/>
          </a:prstGeom>
          <a:noFill/>
        </p:spPr>
        <p:txBody>
          <a:bodyPr wrap="square" rtlCol="0" anchor="ctr"/>
          <a:lstStyle/>
          <a:p>
            <a:pPr marL="0" indent="0" algn="ctr">
              <a:buNone/>
            </a:pPr>
            <a:r>
              <a:rPr lang="en-US" sz="6000" b="1" dirty="0">
                <a:solidFill>
                  <a:srgbClr val="D64545"/>
                </a:solidFill>
                <a:latin typeface="Bookman Old Style" panose="02050604050505020204" pitchFamily="34" charset="0"/>
                <a:ea typeface="Bookman Old Style" panose="02050604050505020204" pitchFamily="34" charset="-122"/>
                <a:cs typeface="Bookman Old Style" panose="02050604050505020204" pitchFamily="34" charset="-120"/>
              </a:rPr>
              <a:t>46.7%</a:t>
            </a:r>
            <a:endParaRPr lang="en-US" sz="6000" dirty="0"/>
          </a:p>
        </p:txBody>
      </p:sp>
      <p:sp>
        <p:nvSpPr>
          <p:cNvPr id="6" name="Text 4"/>
          <p:cNvSpPr/>
          <p:nvPr/>
        </p:nvSpPr>
        <p:spPr>
          <a:xfrm>
            <a:off x="4206240" y="3931920"/>
            <a:ext cx="3749040" cy="822960"/>
          </a:xfrm>
          <a:prstGeom prst="rect">
            <a:avLst/>
          </a:prstGeom>
          <a:noFill/>
        </p:spPr>
        <p:txBody>
          <a:bodyPr wrap="square" rtlCol="0" anchor="t"/>
          <a:lstStyle/>
          <a:p>
            <a:pPr marL="0" indent="0" algn="ctr">
              <a:buNone/>
            </a:pPr>
            <a:r>
              <a:rPr lang="en-US" dirty="0">
                <a:solidFill>
                  <a:srgbClr val="FFFFFF"/>
                </a:solidFill>
                <a:latin typeface="Calibri" panose="020F0502020204030204" pitchFamily="34" charset="0"/>
                <a:ea typeface="Calibri" panose="020F0502020204030204" pitchFamily="34" charset="-122"/>
                <a:cs typeface="Calibri" panose="020F0502020204030204" pitchFamily="34" charset="-120"/>
              </a:rPr>
              <a:t>of the time, staffing meets</a:t>
            </a:r>
            <a:endParaRPr lang="en-US" dirty="0"/>
          </a:p>
          <a:p>
            <a:pPr marL="0" indent="0" algn="ctr">
              <a:buNone/>
            </a:pPr>
            <a:r>
              <a:rPr lang="en-US" dirty="0">
                <a:solidFill>
                  <a:srgbClr val="FFFFFF"/>
                </a:solidFill>
                <a:latin typeface="Calibri" panose="020F0502020204030204" pitchFamily="34" charset="0"/>
                <a:ea typeface="Calibri" panose="020F0502020204030204" pitchFamily="34" charset="-122"/>
                <a:cs typeface="Calibri" panose="020F0502020204030204" pitchFamily="34" charset="-120"/>
              </a:rPr>
              <a:t>the SAFE level</a:t>
            </a:r>
            <a:endParaRPr lang="en-US"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Text 5"/>
          <p:cNvSpPr/>
          <p:nvPr/>
        </p:nvSpPr>
        <p:spPr>
          <a:xfrm>
            <a:off x="548640" y="3063240"/>
            <a:ext cx="2560320" cy="914400"/>
          </a:xfrm>
          <a:prstGeom prst="rect">
            <a:avLst/>
          </a:prstGeom>
          <a:noFill/>
        </p:spPr>
        <p:txBody>
          <a:bodyPr wrap="square" rtlCol="0" anchor="ctr"/>
          <a:lstStyle/>
          <a:p>
            <a:pPr marL="0" indent="0" algn="ctr">
              <a:buNone/>
            </a:pPr>
            <a:r>
              <a:rPr lang="en-US" sz="3800" b="1" dirty="0">
                <a:solidFill>
                  <a:srgbClr val="00A896"/>
                </a:solidFill>
                <a:latin typeface="Bookman Old Style" panose="02050604050505020204" pitchFamily="34" charset="0"/>
                <a:ea typeface="Bookman Old Style" panose="02050604050505020204" pitchFamily="34" charset="-122"/>
                <a:cs typeface="Bookman Old Style" panose="02050604050505020204" pitchFamily="34" charset="-120"/>
              </a:rPr>
              <a:t>86%</a:t>
            </a:r>
            <a:endParaRPr lang="en-US" sz="3800" dirty="0"/>
          </a:p>
        </p:txBody>
      </p:sp>
      <p:sp>
        <p:nvSpPr>
          <p:cNvPr id="8" name="Text 6"/>
          <p:cNvSpPr/>
          <p:nvPr/>
        </p:nvSpPr>
        <p:spPr>
          <a:xfrm>
            <a:off x="365760" y="3840480"/>
            <a:ext cx="2926080" cy="731520"/>
          </a:xfrm>
          <a:prstGeom prst="rect">
            <a:avLst/>
          </a:prstGeom>
          <a:noFill/>
        </p:spPr>
        <p:txBody>
          <a:bodyPr wrap="square" rtlCol="0" anchor="ctr"/>
          <a:lstStyle/>
          <a:p>
            <a:pPr marL="0" indent="0" algn="ctr">
              <a:buNone/>
            </a:pPr>
            <a:r>
              <a:rPr lang="en-US" sz="1600" dirty="0">
                <a:solidFill>
                  <a:srgbClr val="D1D5DB"/>
                </a:solidFill>
                <a:latin typeface="Calibri" panose="020F0502020204030204" pitchFamily="34" charset="0"/>
                <a:ea typeface="Calibri" panose="020F0502020204030204" pitchFamily="34" charset="-122"/>
                <a:cs typeface="Calibri" panose="020F0502020204030204" pitchFamily="34" charset="-120"/>
              </a:rPr>
              <a:t>staff on duty vs. plan</a:t>
            </a:r>
            <a:endParaRPr lang="en-US" sz="1600" dirty="0"/>
          </a:p>
          <a:p>
            <a:pPr marL="0" indent="0" algn="ctr">
              <a:buNone/>
            </a:pPr>
            <a:r>
              <a:rPr lang="en-US" sz="1600" dirty="0">
                <a:solidFill>
                  <a:srgbClr val="D1D5DB"/>
                </a:solidFill>
                <a:latin typeface="Calibri" panose="020F0502020204030204" pitchFamily="34" charset="0"/>
                <a:ea typeface="Calibri" panose="020F0502020204030204" pitchFamily="34" charset="-122"/>
                <a:cs typeface="Calibri" panose="020F0502020204030204" pitchFamily="34" charset="-120"/>
              </a:rPr>
              <a:t>(on average)</a:t>
            </a:r>
            <a:endParaRPr lang="en-US" sz="1600" dirty="0">
              <a:solidFill>
                <a:srgbClr val="D1D5DB"/>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Text 7"/>
          <p:cNvSpPr/>
          <p:nvPr/>
        </p:nvSpPr>
        <p:spPr>
          <a:xfrm>
            <a:off x="9052560" y="3063240"/>
            <a:ext cx="2560320" cy="914400"/>
          </a:xfrm>
          <a:prstGeom prst="rect">
            <a:avLst/>
          </a:prstGeom>
          <a:noFill/>
        </p:spPr>
        <p:txBody>
          <a:bodyPr wrap="square" rtlCol="0" anchor="ctr"/>
          <a:lstStyle/>
          <a:p>
            <a:pPr marL="0" indent="0" algn="ctr">
              <a:buNone/>
            </a:pPr>
            <a:r>
              <a:rPr lang="en-US" sz="3800" b="1" dirty="0">
                <a:solidFill>
                  <a:srgbClr val="028090"/>
                </a:solidFill>
                <a:latin typeface="Bookman Old Style" panose="02050604050505020204" pitchFamily="34" charset="0"/>
                <a:ea typeface="Bookman Old Style" panose="02050604050505020204" pitchFamily="34" charset="-122"/>
                <a:cs typeface="Bookman Old Style" panose="02050604050505020204" pitchFamily="34" charset="-120"/>
              </a:rPr>
              <a:t>414</a:t>
            </a:r>
            <a:endParaRPr lang="en-US" sz="3800" dirty="0"/>
          </a:p>
        </p:txBody>
      </p:sp>
      <p:sp>
        <p:nvSpPr>
          <p:cNvPr id="10" name="Text 8"/>
          <p:cNvSpPr/>
          <p:nvPr/>
        </p:nvSpPr>
        <p:spPr>
          <a:xfrm>
            <a:off x="9052560" y="3840480"/>
            <a:ext cx="2560320" cy="731520"/>
          </a:xfrm>
          <a:prstGeom prst="rect">
            <a:avLst/>
          </a:prstGeom>
          <a:noFill/>
        </p:spPr>
        <p:txBody>
          <a:bodyPr wrap="square" rtlCol="0" anchor="ctr"/>
          <a:lstStyle/>
          <a:p>
            <a:pPr marL="0" indent="0" algn="ctr">
              <a:buNone/>
            </a:pPr>
            <a:r>
              <a:rPr lang="en-US" sz="1600" dirty="0">
                <a:solidFill>
                  <a:srgbClr val="D1D5DB"/>
                </a:solidFill>
                <a:latin typeface="Calibri" panose="020F0502020204030204" pitchFamily="34" charset="0"/>
                <a:ea typeface="Calibri" panose="020F0502020204030204" pitchFamily="34" charset="-122"/>
                <a:cs typeface="Calibri" panose="020F0502020204030204" pitchFamily="34" charset="-120"/>
              </a:rPr>
              <a:t>fewer staff per day</a:t>
            </a:r>
            <a:endParaRPr lang="en-US" sz="1600" dirty="0"/>
          </a:p>
          <a:p>
            <a:pPr marL="0" indent="0" algn="ctr">
              <a:buNone/>
            </a:pPr>
            <a:r>
              <a:rPr lang="en-US" sz="1600" dirty="0">
                <a:solidFill>
                  <a:srgbClr val="D1D5DB"/>
                </a:solidFill>
                <a:latin typeface="Calibri" panose="020F0502020204030204" pitchFamily="34" charset="0"/>
                <a:ea typeface="Calibri" panose="020F0502020204030204" pitchFamily="34" charset="-122"/>
                <a:cs typeface="Calibri" panose="020F0502020204030204" pitchFamily="34" charset="-120"/>
              </a:rPr>
              <a:t>than planned</a:t>
            </a:r>
            <a:endParaRPr lang="en-US" sz="1600" dirty="0">
              <a:solidFill>
                <a:srgbClr val="D1D5DB"/>
              </a:solidFill>
              <a:latin typeface="Calibri" panose="020F0502020204030204" pitchFamily="34" charset="0"/>
              <a:ea typeface="Calibri" panose="020F0502020204030204" pitchFamily="34" charset="-122"/>
              <a:cs typeface="Calibri" panose="020F0502020204030204" pitchFamily="34" charset="-120"/>
            </a:endParaRPr>
          </a:p>
        </p:txBody>
      </p:sp>
      <p:sp>
        <p:nvSpPr>
          <p:cNvPr id="11" name="Shape 9"/>
          <p:cNvSpPr/>
          <p:nvPr/>
        </p:nvSpPr>
        <p:spPr>
          <a:xfrm>
            <a:off x="822960" y="5806440"/>
            <a:ext cx="10515600" cy="777240"/>
          </a:xfrm>
          <a:prstGeom prst="roundRect">
            <a:avLst>
              <a:gd name="adj" fmla="val 9412"/>
            </a:avLst>
          </a:prstGeom>
          <a:solidFill>
            <a:srgbClr val="2A2E33"/>
          </a:solidFill>
        </p:spPr>
      </p:sp>
      <p:sp>
        <p:nvSpPr>
          <p:cNvPr id="12" name="Text 10"/>
          <p:cNvSpPr/>
          <p:nvPr/>
        </p:nvSpPr>
        <p:spPr>
          <a:xfrm>
            <a:off x="1051560" y="5806440"/>
            <a:ext cx="10058400" cy="777240"/>
          </a:xfrm>
          <a:prstGeom prst="rect">
            <a:avLst/>
          </a:prstGeom>
          <a:noFill/>
        </p:spPr>
        <p:txBody>
          <a:bodyPr wrap="square" rtlCol="0" anchor="ctr"/>
          <a:lstStyle/>
          <a:p>
            <a:pPr marL="0" indent="0">
              <a:buNone/>
            </a:pPr>
            <a:r>
              <a:rPr lang="en-US" sz="2000" b="1" dirty="0">
                <a:solidFill>
                  <a:srgbClr val="02C39A"/>
                </a:solidFill>
                <a:latin typeface="Calibri" panose="020F0502020204030204" pitchFamily="34" charset="0"/>
                <a:ea typeface="Calibri" panose="020F0502020204030204" pitchFamily="34" charset="-122"/>
                <a:cs typeface="Calibri" panose="020F0502020204030204" pitchFamily="34" charset="-120"/>
              </a:rPr>
              <a:t>Why this matters:  </a:t>
            </a:r>
            <a:r>
              <a:rPr lang="en-US" sz="2000" dirty="0">
                <a:solidFill>
                  <a:srgbClr val="FFFFFF"/>
                </a:solidFill>
                <a:latin typeface="Calibri" panose="020F0502020204030204" pitchFamily="34" charset="0"/>
                <a:ea typeface="Calibri" panose="020F0502020204030204" pitchFamily="34" charset="-122"/>
                <a:cs typeface="Calibri" panose="020F0502020204030204" pitchFamily="34" charset="-120"/>
              </a:rPr>
              <a:t>3,010 staff are planned each day, but only 2,596 actually show up. Being adequately staffed "on average" still leaves nearly half of all shifts below the safe line.</a:t>
            </a:r>
            <a:endParaRPr lang="en-US" sz="20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Text 11"/>
          <p:cNvSpPr/>
          <p:nvPr/>
        </p:nvSpPr>
        <p:spPr>
          <a:xfrm>
            <a:off x="11521440" y="6492240"/>
            <a:ext cx="457200" cy="274320"/>
          </a:xfrm>
          <a:prstGeom prst="rect">
            <a:avLst/>
          </a:prstGeom>
          <a:noFill/>
        </p:spPr>
        <p:txBody>
          <a:bodyPr wrap="square" rtlCol="0" anchor="ctr"/>
          <a:lstStyle/>
          <a:p>
            <a:pPr marL="0" indent="0" algn="r">
              <a:buNone/>
            </a:pPr>
            <a:r>
              <a:rPr lang="en-US" sz="1000" dirty="0">
                <a:solidFill>
                  <a:srgbClr val="9CA3AF"/>
                </a:solidFill>
                <a:latin typeface="Calibri" panose="020F0502020204030204" pitchFamily="34" charset="0"/>
                <a:ea typeface="Calibri" panose="020F0502020204030204" pitchFamily="34" charset="-122"/>
                <a:cs typeface="Calibri" panose="020F0502020204030204"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p:spPr>
        <p:txBody>
          <a:bodyPr wrap="square" rtlCol="0" anchor="ctr"/>
          <a:lstStyle/>
          <a:p>
            <a:pPr marL="0" indent="0">
              <a:buNone/>
            </a:pPr>
            <a:r>
              <a:rPr lang="en-US" sz="28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Planned vs. Actual Staff, Ward by Ward</a:t>
            </a:r>
            <a:endParaRPr lang="en-US" sz="28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3" name="Text 1"/>
          <p:cNvSpPr/>
          <p:nvPr/>
        </p:nvSpPr>
        <p:spPr>
          <a:xfrm>
            <a:off x="548640" y="960120"/>
            <a:ext cx="10058400" cy="365760"/>
          </a:xfrm>
          <a:prstGeom prst="rect">
            <a:avLst/>
          </a:prstGeom>
          <a:noFill/>
        </p:spPr>
        <p:txBody>
          <a:bodyPr wrap="square" rtlCol="0" anchor="ctr"/>
          <a:lstStyle/>
          <a:p>
            <a:pPr marL="0" indent="0">
              <a:buNone/>
            </a:pPr>
            <a:r>
              <a:rPr lang="en-US" i="1" dirty="0">
                <a:solidFill>
                  <a:srgbClr val="6B7280"/>
                </a:solidFill>
                <a:latin typeface="Calibri" panose="020F0502020204030204" pitchFamily="34" charset="0"/>
                <a:ea typeface="Calibri" panose="020F0502020204030204" pitchFamily="34" charset="-122"/>
                <a:cs typeface="Calibri" panose="020F0502020204030204" pitchFamily="34" charset="-120"/>
              </a:rPr>
              <a:t>HDU has the lowest staffing ratio—and it sits right next to General Medicine</a:t>
            </a:r>
            <a:endParaRPr lang="en-US" i="1"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4" name="Chart 0"/>
          <p:cNvGraphicFramePr/>
          <p:nvPr/>
        </p:nvGraphicFramePr>
        <p:xfrm>
          <a:off x="548640" y="1508760"/>
          <a:ext cx="6766560" cy="429768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7543800" y="1508760"/>
            <a:ext cx="4069080" cy="4297680"/>
          </a:xfrm>
          <a:prstGeom prst="roundRect">
            <a:avLst>
              <a:gd name="adj" fmla="val 2247"/>
            </a:avLst>
          </a:prstGeom>
          <a:solidFill>
            <a:srgbClr val="F7F9F9"/>
          </a:solidFill>
          <a:ln w="12700">
            <a:solidFill>
              <a:srgbClr val="E5E7EB"/>
            </a:solidFill>
            <a:prstDash val="solid"/>
          </a:ln>
        </p:spPr>
      </p:sp>
      <p:sp>
        <p:nvSpPr>
          <p:cNvPr id="6" name="Text 3"/>
          <p:cNvSpPr/>
          <p:nvPr/>
        </p:nvSpPr>
        <p:spPr>
          <a:xfrm>
            <a:off x="7863840" y="1737360"/>
            <a:ext cx="3474720" cy="365760"/>
          </a:xfrm>
          <a:prstGeom prst="rect">
            <a:avLst/>
          </a:prstGeom>
          <a:noFill/>
        </p:spPr>
        <p:txBody>
          <a:bodyPr wrap="square" rtlCol="0" anchor="ctr"/>
          <a:lstStyle/>
          <a:p>
            <a:pPr marL="0" indent="0">
              <a:buNone/>
            </a:pPr>
            <a:r>
              <a:rPr lang="en-US" sz="1600" b="1" dirty="0">
                <a:solidFill>
                  <a:srgbClr val="028090"/>
                </a:solidFill>
                <a:latin typeface="Bookman Old Style" panose="02050604050505020204" pitchFamily="34" charset="0"/>
                <a:ea typeface="Bookman Old Style" panose="02050604050505020204" pitchFamily="34" charset="-122"/>
                <a:cs typeface="Bookman Old Style" panose="02050604050505020204" pitchFamily="34" charset="-120"/>
              </a:rPr>
              <a:t>What stands out</a:t>
            </a:r>
            <a:endParaRPr lang="en-US" sz="1600" dirty="0"/>
          </a:p>
        </p:txBody>
      </p:sp>
      <p:sp>
        <p:nvSpPr>
          <p:cNvPr id="7" name="Text 4"/>
          <p:cNvSpPr/>
          <p:nvPr/>
        </p:nvSpPr>
        <p:spPr>
          <a:xfrm>
            <a:off x="7863840" y="2240280"/>
            <a:ext cx="3474720" cy="3383280"/>
          </a:xfrm>
          <a:prstGeom prst="rect">
            <a:avLst/>
          </a:prstGeom>
          <a:noFill/>
        </p:spPr>
        <p:txBody>
          <a:bodyPr wrap="square" rtlCol="0" anchor="t"/>
          <a:lstStyle/>
          <a:p>
            <a:pPr marL="342900" indent="-342900">
              <a:lnSpc>
                <a:spcPct val="120000"/>
              </a:lnSpc>
              <a:spcAft>
                <a:spcPts val="1400"/>
              </a:spcAft>
              <a:buSzPct val="100000"/>
              <a:buChar char="✦"/>
            </a:pPr>
            <a:r>
              <a:rPr lang="en-US" sz="1600" dirty="0">
                <a:solidFill>
                  <a:srgbClr val="222222"/>
                </a:solidFill>
                <a:latin typeface="Calibri" panose="020F0502020204030204" pitchFamily="34" charset="0"/>
                <a:ea typeface="Calibri" panose="020F0502020204030204" pitchFamily="34" charset="-122"/>
                <a:cs typeface="Calibri" panose="020F0502020204030204" pitchFamily="34" charset="-120"/>
              </a:rPr>
              <a:t>ICU and General Medicine are staffed best, at 89%.</a:t>
            </a:r>
            <a:endParaRPr lang="en-US" sz="1600" dirty="0"/>
          </a:p>
          <a:p>
            <a:pPr marL="342900" indent="-342900">
              <a:lnSpc>
                <a:spcPct val="120000"/>
              </a:lnSpc>
              <a:spcAft>
                <a:spcPts val="1400"/>
              </a:spcAft>
              <a:buSzPct val="100000"/>
              <a:buChar char="✦"/>
            </a:pPr>
            <a:r>
              <a:rPr lang="en-US" sz="1600" dirty="0">
                <a:solidFill>
                  <a:srgbClr val="222222"/>
                </a:solidFill>
                <a:latin typeface="Calibri" panose="020F0502020204030204" pitchFamily="34" charset="0"/>
                <a:ea typeface="Calibri" panose="020F0502020204030204" pitchFamily="34" charset="-122"/>
                <a:cs typeface="Calibri" panose="020F0502020204030204" pitchFamily="34" charset="-120"/>
              </a:rPr>
              <a:t>HDU is the weakest ward, at 79%.</a:t>
            </a:r>
            <a:endParaRPr lang="en-US" sz="1600" dirty="0"/>
          </a:p>
          <a:p>
            <a:pPr marL="342900" indent="-342900">
              <a:lnSpc>
                <a:spcPct val="120000"/>
              </a:lnSpc>
              <a:spcAft>
                <a:spcPts val="1400"/>
              </a:spcAft>
              <a:buSzPct val="100000"/>
              <a:buChar char="✦"/>
            </a:pPr>
            <a:r>
              <a:rPr lang="en-US" sz="1600" dirty="0">
                <a:solidFill>
                  <a:srgbClr val="222222"/>
                </a:solidFill>
                <a:latin typeface="Calibri" panose="020F0502020204030204" pitchFamily="34" charset="0"/>
                <a:ea typeface="Calibri" panose="020F0502020204030204" pitchFamily="34" charset="-122"/>
                <a:cs typeface="Calibri" panose="020F0502020204030204" pitchFamily="34" charset="-120"/>
              </a:rPr>
              <a:t>HDU is also a key overflow point from General Medicine.</a:t>
            </a:r>
            <a:endParaRPr lang="en-US" sz="1600" dirty="0"/>
          </a:p>
          <a:p>
            <a:pPr marL="342900" indent="-342900">
              <a:lnSpc>
                <a:spcPct val="120000"/>
              </a:lnSpc>
              <a:spcAft>
                <a:spcPts val="1400"/>
              </a:spcAft>
              <a:buSzPct val="100000"/>
              <a:buChar char="✦"/>
            </a:pPr>
            <a:r>
              <a:rPr lang="en-US" sz="1600" dirty="0">
                <a:solidFill>
                  <a:srgbClr val="222222"/>
                </a:solidFill>
                <a:latin typeface="Calibri" panose="020F0502020204030204" pitchFamily="34" charset="0"/>
                <a:ea typeface="Calibri" panose="020F0502020204030204" pitchFamily="34" charset="-122"/>
                <a:cs typeface="Calibri" panose="020F0502020204030204" pitchFamily="34" charset="-120"/>
              </a:rPr>
              <a:t>If winter demand rises, HDU is most likely to feel it first.</a:t>
            </a:r>
            <a:endParaRPr lang="en-US" sz="1600" dirty="0">
              <a:solidFill>
                <a:srgbClr val="222222"/>
              </a:solidFill>
              <a:latin typeface="Calibri" panose="020F0502020204030204" pitchFamily="34" charset="0"/>
              <a:ea typeface="Calibri" panose="020F0502020204030204" pitchFamily="34" charset="-122"/>
              <a:cs typeface="Calibri" panose="020F0502020204030204" pitchFamily="34" charset="-120"/>
            </a:endParaRPr>
          </a:p>
        </p:txBody>
      </p:sp>
      <p:sp>
        <p:nvSpPr>
          <p:cNvPr id="8" name="Text 5"/>
          <p:cNvSpPr/>
          <p:nvPr/>
        </p:nvSpPr>
        <p:spPr>
          <a:xfrm>
            <a:off x="11521440" y="6492240"/>
            <a:ext cx="457200" cy="274320"/>
          </a:xfrm>
          <a:prstGeom prst="rect">
            <a:avLst/>
          </a:prstGeom>
          <a:noFill/>
        </p:spPr>
        <p:txBody>
          <a:bodyPr wrap="square"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9"/>
        </a:solidFill>
        <a:effectLst/>
      </p:bgPr>
    </p:bg>
    <p:spTree>
      <p:nvGrpSpPr>
        <p:cNvPr id="1" name=""/>
        <p:cNvGrpSpPr/>
        <p:nvPr/>
      </p:nvGrpSpPr>
      <p:grpSpPr>
        <a:xfrm>
          <a:off x="0" y="0"/>
          <a:ext cx="0" cy="0"/>
          <a:chOff x="0" y="0"/>
          <a:chExt cx="0" cy="0"/>
        </a:xfrm>
      </p:grpSpPr>
      <p:sp>
        <p:nvSpPr>
          <p:cNvPr id="2" name="Text 0"/>
          <p:cNvSpPr/>
          <p:nvPr/>
        </p:nvSpPr>
        <p:spPr>
          <a:xfrm>
            <a:off x="548640" y="411480"/>
            <a:ext cx="9601200" cy="548640"/>
          </a:xfrm>
          <a:prstGeom prst="rect">
            <a:avLst/>
          </a:prstGeom>
          <a:noFill/>
        </p:spPr>
        <p:txBody>
          <a:bodyPr wrap="square" rtlCol="0" anchor="ctr"/>
          <a:lstStyle/>
          <a:p>
            <a:pPr marL="0" indent="0">
              <a:buNone/>
            </a:pPr>
            <a:r>
              <a:rPr lang="en-US" sz="28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The Hidden Risk: Winter Staffing Dips</a:t>
            </a:r>
            <a:endParaRPr lang="en-US" sz="2800" dirty="0"/>
          </a:p>
        </p:txBody>
      </p:sp>
      <p:sp>
        <p:nvSpPr>
          <p:cNvPr id="3" name="Text 1"/>
          <p:cNvSpPr/>
          <p:nvPr/>
        </p:nvSpPr>
        <p:spPr>
          <a:xfrm>
            <a:off x="548640" y="960120"/>
            <a:ext cx="10058400" cy="365760"/>
          </a:xfrm>
          <a:prstGeom prst="rect">
            <a:avLst/>
          </a:prstGeom>
          <a:noFill/>
        </p:spPr>
        <p:txBody>
          <a:bodyPr wrap="square" rtlCol="0" anchor="ctr"/>
          <a:lstStyle/>
          <a:p>
            <a:pPr marL="0" indent="0">
              <a:buNone/>
            </a:pPr>
            <a:r>
              <a:rPr lang="en-US" i="1" dirty="0">
                <a:solidFill>
                  <a:srgbClr val="6B7280"/>
                </a:solidFill>
                <a:latin typeface="Calibri" panose="020F0502020204030204" pitchFamily="34" charset="0"/>
                <a:ea typeface="Calibri" panose="020F0502020204030204" pitchFamily="34" charset="-122"/>
                <a:cs typeface="Calibri" panose="020F0502020204030204" pitchFamily="34" charset="-120"/>
              </a:rPr>
              <a:t>Looking at staffing by calendar month reveals a seasonal pattern</a:t>
            </a:r>
            <a:endParaRPr lang="en-US" i="1"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graphicFrame>
        <p:nvGraphicFramePr>
          <p:cNvPr id="4" name="Chart 0"/>
          <p:cNvGraphicFramePr/>
          <p:nvPr/>
        </p:nvGraphicFramePr>
        <p:xfrm>
          <a:off x="548640" y="1600200"/>
          <a:ext cx="11064240" cy="2743200"/>
        </p:xfrm>
        <a:graphic>
          <a:graphicData uri="http://schemas.openxmlformats.org/drawingml/2006/chart">
            <c:chart xmlns:c="http://schemas.openxmlformats.org/drawingml/2006/chart" xmlns:r="http://schemas.openxmlformats.org/officeDocument/2006/relationships" r:id="rId1"/>
          </a:graphicData>
        </a:graphic>
      </p:graphicFrame>
      <p:sp>
        <p:nvSpPr>
          <p:cNvPr id="5" name="Shape 2"/>
          <p:cNvSpPr/>
          <p:nvPr/>
        </p:nvSpPr>
        <p:spPr>
          <a:xfrm>
            <a:off x="10378440" y="1737360"/>
            <a:ext cx="960120" cy="2468880"/>
          </a:xfrm>
          <a:prstGeom prst="roundRect">
            <a:avLst>
              <a:gd name="adj" fmla="val 4762"/>
            </a:avLst>
          </a:prstGeom>
          <a:solidFill>
            <a:srgbClr val="D64545">
              <a:alpha val="18000"/>
            </a:srgbClr>
          </a:solidFill>
          <a:ln w="19050">
            <a:solidFill>
              <a:srgbClr val="D64545"/>
            </a:solidFill>
            <a:prstDash val="dash"/>
          </a:ln>
        </p:spPr>
      </p:sp>
      <p:sp>
        <p:nvSpPr>
          <p:cNvPr id="6" name="Text 3"/>
          <p:cNvSpPr/>
          <p:nvPr/>
        </p:nvSpPr>
        <p:spPr>
          <a:xfrm>
            <a:off x="10195560" y="4206240"/>
            <a:ext cx="1371600" cy="457200"/>
          </a:xfrm>
          <a:prstGeom prst="rect">
            <a:avLst/>
          </a:prstGeom>
          <a:noFill/>
        </p:spPr>
        <p:txBody>
          <a:bodyPr wrap="square" rtlCol="0" anchor="ctr"/>
          <a:lstStyle/>
          <a:p>
            <a:pPr marL="0" indent="0" algn="ctr">
              <a:buNone/>
            </a:pPr>
            <a:r>
              <a:rPr lang="en-US" sz="1000" b="1" dirty="0">
                <a:solidFill>
                  <a:srgbClr val="D64545"/>
                </a:solidFill>
                <a:latin typeface="Calibri" panose="020F0502020204030204" pitchFamily="34" charset="0"/>
                <a:ea typeface="Calibri" panose="020F0502020204030204" pitchFamily="34" charset="-122"/>
                <a:cs typeface="Calibri" panose="020F0502020204030204" pitchFamily="34" charset="-120"/>
              </a:rPr>
              <a:t>Lowest</a:t>
            </a:r>
            <a:endParaRPr lang="en-US" sz="1000" dirty="0"/>
          </a:p>
          <a:p>
            <a:pPr marL="0" indent="0" algn="ctr">
              <a:buNone/>
            </a:pPr>
            <a:r>
              <a:rPr lang="en-US" sz="1000" b="1" dirty="0">
                <a:solidFill>
                  <a:srgbClr val="D64545"/>
                </a:solidFill>
                <a:latin typeface="Calibri" panose="020F0502020204030204" pitchFamily="34" charset="0"/>
                <a:ea typeface="Calibri" panose="020F0502020204030204" pitchFamily="34" charset="-122"/>
                <a:cs typeface="Calibri" panose="020F0502020204030204" pitchFamily="34" charset="-120"/>
              </a:rPr>
              <a:t>point</a:t>
            </a:r>
            <a:endParaRPr lang="en-US" sz="1000" dirty="0"/>
          </a:p>
        </p:txBody>
      </p:sp>
      <p:sp>
        <p:nvSpPr>
          <p:cNvPr id="7" name="Shape 4"/>
          <p:cNvSpPr/>
          <p:nvPr/>
        </p:nvSpPr>
        <p:spPr>
          <a:xfrm>
            <a:off x="548640" y="4617720"/>
            <a:ext cx="11064240" cy="1508760"/>
          </a:xfrm>
          <a:prstGeom prst="roundRect">
            <a:avLst>
              <a:gd name="adj" fmla="val 6061"/>
            </a:avLst>
          </a:prstGeom>
          <a:solidFill>
            <a:srgbClr val="1B1F23"/>
          </a:solidFill>
        </p:spPr>
      </p:sp>
      <p:sp>
        <p:nvSpPr>
          <p:cNvPr id="8" name="Text 5"/>
          <p:cNvSpPr/>
          <p:nvPr/>
        </p:nvSpPr>
        <p:spPr>
          <a:xfrm>
            <a:off x="914400" y="4800600"/>
            <a:ext cx="7315200" cy="365760"/>
          </a:xfrm>
          <a:prstGeom prst="rect">
            <a:avLst/>
          </a:prstGeom>
          <a:noFill/>
        </p:spPr>
        <p:txBody>
          <a:bodyPr wrap="square" rtlCol="0" anchor="ctr"/>
          <a:lstStyle/>
          <a:p>
            <a:pPr marL="0" indent="0">
              <a:buNone/>
            </a:pPr>
            <a:r>
              <a:rPr lang="en-US" sz="2000" b="1" dirty="0">
                <a:solidFill>
                  <a:srgbClr val="02C39A"/>
                </a:solidFill>
                <a:latin typeface="Bookman Old Style" panose="02050604050505020204" pitchFamily="34" charset="0"/>
                <a:ea typeface="Bookman Old Style" panose="02050604050505020204" pitchFamily="34" charset="-122"/>
                <a:cs typeface="Bookman Old Style" panose="02050604050505020204" pitchFamily="34" charset="-120"/>
              </a:rPr>
              <a:t>Why this matters</a:t>
            </a:r>
            <a:endParaRPr lang="en-US" sz="2000" b="1" dirty="0">
              <a:solidFill>
                <a:srgbClr val="02C39A"/>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9" name="Text 6"/>
          <p:cNvSpPr/>
          <p:nvPr/>
        </p:nvSpPr>
        <p:spPr>
          <a:xfrm>
            <a:off x="914400" y="5094605"/>
            <a:ext cx="10332720" cy="914400"/>
          </a:xfrm>
          <a:prstGeom prst="rect">
            <a:avLst/>
          </a:prstGeom>
          <a:noFill/>
        </p:spPr>
        <p:txBody>
          <a:bodyPr wrap="square" rtlCol="0" anchor="t"/>
          <a:lstStyle/>
          <a:p>
            <a:pPr marL="0" indent="0" algn="just">
              <a:lnSpc>
                <a:spcPct val="120000"/>
              </a:lnSpc>
              <a:buNone/>
            </a:pPr>
            <a:r>
              <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rPr>
              <a:t>Staffing ratio historically falls to its lowest point in December, after holding fairly steady through the summer. Winter is also when patient admissions typically climb. This means our thinnest staffing lines up with our busiest season—the single biggest risk window of the year.</a:t>
            </a:r>
            <a:endParaRPr lang="en-US" sz="1600"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Text 7"/>
          <p:cNvSpPr/>
          <p:nvPr/>
        </p:nvSpPr>
        <p:spPr>
          <a:xfrm>
            <a:off x="11521440" y="6492240"/>
            <a:ext cx="457200" cy="274320"/>
          </a:xfrm>
          <a:prstGeom prst="rect">
            <a:avLst/>
          </a:prstGeom>
          <a:noFill/>
        </p:spPr>
        <p:txBody>
          <a:bodyPr wrap="square"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9144000" cy="548640"/>
          </a:xfrm>
          <a:prstGeom prst="rect">
            <a:avLst/>
          </a:prstGeom>
          <a:noFill/>
        </p:spPr>
        <p:txBody>
          <a:bodyPr wrap="square" rtlCol="0" anchor="ctr"/>
          <a:lstStyle/>
          <a:p>
            <a:pPr marL="0" indent="0">
              <a:buNone/>
            </a:pPr>
            <a:r>
              <a:rPr lang="en-US" sz="32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Our Beds Are Nearly Full, All Year</a:t>
            </a:r>
            <a:endParaRPr lang="en-US" sz="32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3" name="Text 1"/>
          <p:cNvSpPr/>
          <p:nvPr/>
        </p:nvSpPr>
        <p:spPr>
          <a:xfrm>
            <a:off x="548640" y="960120"/>
            <a:ext cx="10515600" cy="365760"/>
          </a:xfrm>
          <a:prstGeom prst="rect">
            <a:avLst/>
          </a:prstGeom>
          <a:noFill/>
        </p:spPr>
        <p:txBody>
          <a:bodyPr wrap="square" rtlCol="0" anchor="ctr"/>
          <a:lstStyle/>
          <a:p>
            <a:pPr marL="0" indent="0">
              <a:buNone/>
            </a:pPr>
            <a:r>
              <a:rPr lang="en-US" sz="1600" b="1" i="1" dirty="0">
                <a:solidFill>
                  <a:srgbClr val="6B7280"/>
                </a:solidFill>
                <a:latin typeface="Calibri" panose="020F0502020204030204" pitchFamily="34" charset="0"/>
                <a:ea typeface="Calibri" panose="020F0502020204030204" pitchFamily="34" charset="-122"/>
                <a:cs typeface="Calibri" panose="020F0502020204030204" pitchFamily="34" charset="-120"/>
              </a:rPr>
              <a:t>The same 86% occupancy holds across 16+ months of data—this is a steady state, not a blip</a:t>
            </a:r>
            <a:endParaRPr lang="en-US" sz="1600" b="1" i="1"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Shape 2"/>
          <p:cNvSpPr/>
          <p:nvPr/>
        </p:nvSpPr>
        <p:spPr>
          <a:xfrm>
            <a:off x="548640" y="1600200"/>
            <a:ext cx="2606040" cy="1828800"/>
          </a:xfrm>
          <a:prstGeom prst="roundRect">
            <a:avLst>
              <a:gd name="adj" fmla="val 5000"/>
            </a:avLst>
          </a:prstGeom>
          <a:solidFill>
            <a:srgbClr val="F7F9F9"/>
          </a:solidFill>
          <a:ln w="12700">
            <a:solidFill>
              <a:srgbClr val="E5E7EB"/>
            </a:solidFill>
            <a:prstDash val="solid"/>
          </a:ln>
          <a:effectLst>
            <a:outerShdw blurRad="63500" dist="25400" dir="5400000" algn="bl" rotWithShape="0">
              <a:srgbClr val="000000">
                <a:alpha val="10000"/>
              </a:srgbClr>
            </a:outerShdw>
          </a:effectLst>
        </p:spPr>
      </p:sp>
      <p:sp>
        <p:nvSpPr>
          <p:cNvPr id="5" name="Text 3"/>
          <p:cNvSpPr/>
          <p:nvPr/>
        </p:nvSpPr>
        <p:spPr>
          <a:xfrm>
            <a:off x="548640" y="1737360"/>
            <a:ext cx="2606040" cy="914400"/>
          </a:xfrm>
          <a:prstGeom prst="rect">
            <a:avLst/>
          </a:prstGeom>
          <a:noFill/>
        </p:spPr>
        <p:txBody>
          <a:bodyPr wrap="square" rtlCol="0" anchor="ctr"/>
          <a:lstStyle/>
          <a:p>
            <a:pPr marL="0" indent="0" algn="ctr">
              <a:buNone/>
            </a:pPr>
            <a:r>
              <a:rPr lang="en-US" sz="3400" b="1" dirty="0">
                <a:solidFill>
                  <a:srgbClr val="028090"/>
                </a:solidFill>
                <a:latin typeface="Bookman Old Style" panose="02050604050505020204" pitchFamily="34" charset="0"/>
                <a:ea typeface="Bookman Old Style" panose="02050604050505020204" pitchFamily="34" charset="-122"/>
                <a:cs typeface="Bookman Old Style" panose="02050604050505020204" pitchFamily="34" charset="-120"/>
              </a:rPr>
              <a:t>86%</a:t>
            </a:r>
            <a:endParaRPr lang="en-US" sz="3400" dirty="0"/>
          </a:p>
        </p:txBody>
      </p:sp>
      <p:sp>
        <p:nvSpPr>
          <p:cNvPr id="6" name="Text 4"/>
          <p:cNvSpPr/>
          <p:nvPr/>
        </p:nvSpPr>
        <p:spPr>
          <a:xfrm>
            <a:off x="731520" y="2697480"/>
            <a:ext cx="2240280" cy="640080"/>
          </a:xfrm>
          <a:prstGeom prst="rect">
            <a:avLst/>
          </a:prstGeom>
          <a:noFill/>
        </p:spPr>
        <p:txBody>
          <a:bodyPr wrap="square" rtlCol="0" anchor="ctr"/>
          <a:lstStyle/>
          <a:p>
            <a:pPr marL="0" indent="0" algn="ctr">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Beds occupied on average</a:t>
            </a:r>
            <a:endPar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endParaRPr>
          </a:p>
        </p:txBody>
      </p:sp>
      <p:sp>
        <p:nvSpPr>
          <p:cNvPr id="7" name="Shape 5"/>
          <p:cNvSpPr/>
          <p:nvPr/>
        </p:nvSpPr>
        <p:spPr>
          <a:xfrm>
            <a:off x="3383280" y="1600200"/>
            <a:ext cx="2606040" cy="1828800"/>
          </a:xfrm>
          <a:prstGeom prst="roundRect">
            <a:avLst>
              <a:gd name="adj" fmla="val 5000"/>
            </a:avLst>
          </a:prstGeom>
          <a:solidFill>
            <a:srgbClr val="F7F9F9"/>
          </a:solidFill>
          <a:ln w="12700">
            <a:solidFill>
              <a:srgbClr val="E5E7EB"/>
            </a:solidFill>
            <a:prstDash val="solid"/>
          </a:ln>
          <a:effectLst>
            <a:outerShdw blurRad="63500" dist="25400" dir="5400000" algn="bl" rotWithShape="0">
              <a:srgbClr val="000000">
                <a:alpha val="10000"/>
              </a:srgbClr>
            </a:outerShdw>
          </a:effectLst>
        </p:spPr>
      </p:sp>
      <p:sp>
        <p:nvSpPr>
          <p:cNvPr id="8" name="Text 6"/>
          <p:cNvSpPr/>
          <p:nvPr/>
        </p:nvSpPr>
        <p:spPr>
          <a:xfrm>
            <a:off x="3383280" y="1737360"/>
            <a:ext cx="2606040" cy="914400"/>
          </a:xfrm>
          <a:prstGeom prst="rect">
            <a:avLst/>
          </a:prstGeom>
          <a:noFill/>
        </p:spPr>
        <p:txBody>
          <a:bodyPr wrap="square" rtlCol="0" anchor="ctr"/>
          <a:lstStyle/>
          <a:p>
            <a:pPr marL="0" indent="0" algn="ctr">
              <a:buNone/>
            </a:pPr>
            <a:r>
              <a:rPr lang="en-US" sz="3400" b="1" dirty="0">
                <a:solidFill>
                  <a:srgbClr val="00A896"/>
                </a:solidFill>
                <a:latin typeface="Bookman Old Style" panose="02050604050505020204" pitchFamily="34" charset="0"/>
                <a:ea typeface="Bookman Old Style" panose="02050604050505020204" pitchFamily="34" charset="-122"/>
                <a:cs typeface="Bookman Old Style" panose="02050604050505020204" pitchFamily="34" charset="-120"/>
              </a:rPr>
              <a:t>5,097</a:t>
            </a:r>
            <a:endParaRPr lang="en-US" sz="3400" dirty="0"/>
          </a:p>
        </p:txBody>
      </p:sp>
      <p:sp>
        <p:nvSpPr>
          <p:cNvPr id="9" name="Text 7"/>
          <p:cNvSpPr/>
          <p:nvPr/>
        </p:nvSpPr>
        <p:spPr>
          <a:xfrm>
            <a:off x="3444240" y="2697480"/>
            <a:ext cx="2545715" cy="640080"/>
          </a:xfrm>
          <a:prstGeom prst="rect">
            <a:avLst/>
          </a:prstGeom>
          <a:noFill/>
        </p:spPr>
        <p:txBody>
          <a:bodyPr wrap="square" rtlCol="0" anchor="ctr"/>
          <a:lstStyle/>
          <a:p>
            <a:pPr marL="0" indent="0" algn="ctr">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Beds staffed and ready per day</a:t>
            </a:r>
            <a:endPar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endParaRPr>
          </a:p>
        </p:txBody>
      </p:sp>
      <p:sp>
        <p:nvSpPr>
          <p:cNvPr id="10" name="Shape 8"/>
          <p:cNvSpPr/>
          <p:nvPr/>
        </p:nvSpPr>
        <p:spPr>
          <a:xfrm>
            <a:off x="6217920" y="1600200"/>
            <a:ext cx="2606040" cy="1828800"/>
          </a:xfrm>
          <a:prstGeom prst="roundRect">
            <a:avLst>
              <a:gd name="adj" fmla="val 5000"/>
            </a:avLst>
          </a:prstGeom>
          <a:solidFill>
            <a:srgbClr val="F7F9F9"/>
          </a:solidFill>
          <a:ln w="12700">
            <a:solidFill>
              <a:srgbClr val="E5E7EB"/>
            </a:solidFill>
            <a:prstDash val="solid"/>
          </a:ln>
          <a:effectLst>
            <a:outerShdw blurRad="63500" dist="25400" dir="5400000" algn="bl" rotWithShape="0">
              <a:srgbClr val="000000">
                <a:alpha val="10000"/>
              </a:srgbClr>
            </a:outerShdw>
          </a:effectLst>
        </p:spPr>
      </p:sp>
      <p:sp>
        <p:nvSpPr>
          <p:cNvPr id="11" name="Text 9"/>
          <p:cNvSpPr/>
          <p:nvPr/>
        </p:nvSpPr>
        <p:spPr>
          <a:xfrm>
            <a:off x="6217920" y="1737360"/>
            <a:ext cx="2606040" cy="914400"/>
          </a:xfrm>
          <a:prstGeom prst="rect">
            <a:avLst/>
          </a:prstGeom>
          <a:noFill/>
        </p:spPr>
        <p:txBody>
          <a:bodyPr wrap="square" rtlCol="0" anchor="ctr"/>
          <a:lstStyle/>
          <a:p>
            <a:pPr marL="0" indent="0" algn="ctr">
              <a:buNone/>
            </a:pPr>
            <a:r>
              <a:rPr lang="en-US" sz="3400" b="1" dirty="0">
                <a:solidFill>
                  <a:srgbClr val="02C39A"/>
                </a:solidFill>
                <a:latin typeface="Bookman Old Style" panose="02050604050505020204" pitchFamily="34" charset="0"/>
                <a:ea typeface="Bookman Old Style" panose="02050604050505020204" pitchFamily="34" charset="-122"/>
                <a:cs typeface="Bookman Old Style" panose="02050604050505020204" pitchFamily="34" charset="-120"/>
              </a:rPr>
              <a:t>4,400</a:t>
            </a:r>
            <a:endParaRPr lang="en-US" sz="3400" dirty="0"/>
          </a:p>
        </p:txBody>
      </p:sp>
      <p:sp>
        <p:nvSpPr>
          <p:cNvPr id="12" name="Text 10"/>
          <p:cNvSpPr/>
          <p:nvPr/>
        </p:nvSpPr>
        <p:spPr>
          <a:xfrm>
            <a:off x="6218555" y="2697480"/>
            <a:ext cx="2606040" cy="640080"/>
          </a:xfrm>
          <a:prstGeom prst="rect">
            <a:avLst/>
          </a:prstGeom>
          <a:noFill/>
        </p:spPr>
        <p:txBody>
          <a:bodyPr wrap="square" rtlCol="0" anchor="ctr"/>
          <a:lstStyle/>
          <a:p>
            <a:pPr marL="0" indent="0" algn="ctr">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Beds actually occupied per day</a:t>
            </a:r>
            <a:endPar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endParaRPr>
          </a:p>
        </p:txBody>
      </p:sp>
      <p:sp>
        <p:nvSpPr>
          <p:cNvPr id="13" name="Shape 11"/>
          <p:cNvSpPr/>
          <p:nvPr/>
        </p:nvSpPr>
        <p:spPr>
          <a:xfrm>
            <a:off x="9052560" y="1600200"/>
            <a:ext cx="2606040" cy="1828800"/>
          </a:xfrm>
          <a:prstGeom prst="roundRect">
            <a:avLst>
              <a:gd name="adj" fmla="val 5000"/>
            </a:avLst>
          </a:prstGeom>
          <a:solidFill>
            <a:srgbClr val="F7F9F9"/>
          </a:solidFill>
          <a:ln w="12700">
            <a:solidFill>
              <a:srgbClr val="E5E7EB"/>
            </a:solidFill>
            <a:prstDash val="solid"/>
          </a:ln>
          <a:effectLst>
            <a:outerShdw blurRad="63500" dist="25400" dir="5400000" algn="bl" rotWithShape="0">
              <a:srgbClr val="000000">
                <a:alpha val="10000"/>
              </a:srgbClr>
            </a:outerShdw>
          </a:effectLst>
        </p:spPr>
      </p:sp>
      <p:sp>
        <p:nvSpPr>
          <p:cNvPr id="14" name="Text 12"/>
          <p:cNvSpPr/>
          <p:nvPr/>
        </p:nvSpPr>
        <p:spPr>
          <a:xfrm>
            <a:off x="9052560" y="1737360"/>
            <a:ext cx="2606040" cy="914400"/>
          </a:xfrm>
          <a:prstGeom prst="rect">
            <a:avLst/>
          </a:prstGeom>
          <a:noFill/>
        </p:spPr>
        <p:txBody>
          <a:bodyPr wrap="square" rtlCol="0" anchor="ctr"/>
          <a:lstStyle/>
          <a:p>
            <a:pPr marL="0" indent="0" algn="ctr">
              <a:buNone/>
            </a:pPr>
            <a:r>
              <a:rPr lang="en-US" sz="3400" b="1" dirty="0">
                <a:solidFill>
                  <a:srgbClr val="D64545"/>
                </a:solidFill>
                <a:latin typeface="Bookman Old Style" panose="02050604050505020204" pitchFamily="34" charset="0"/>
                <a:ea typeface="Bookman Old Style" panose="02050604050505020204" pitchFamily="34" charset="-122"/>
                <a:cs typeface="Bookman Old Style" panose="02050604050505020204" pitchFamily="34" charset="-120"/>
              </a:rPr>
              <a:t>154</a:t>
            </a:r>
            <a:endParaRPr lang="en-US" sz="3400" dirty="0"/>
          </a:p>
        </p:txBody>
      </p:sp>
      <p:sp>
        <p:nvSpPr>
          <p:cNvPr id="15" name="Text 13"/>
          <p:cNvSpPr/>
          <p:nvPr/>
        </p:nvSpPr>
        <p:spPr>
          <a:xfrm>
            <a:off x="9235440" y="2697480"/>
            <a:ext cx="2240280" cy="640080"/>
          </a:xfrm>
          <a:prstGeom prst="rect">
            <a:avLst/>
          </a:prstGeom>
          <a:noFill/>
        </p:spPr>
        <p:txBody>
          <a:bodyPr wrap="square" rtlCol="0" anchor="ctr"/>
          <a:lstStyle/>
          <a:p>
            <a:pPr marL="0" indent="0" algn="ctr">
              <a:buNone/>
            </a:pPr>
            <a:r>
              <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rPr>
              <a:t>Beds closed per day</a:t>
            </a:r>
            <a:endParaRPr lang="en-US" sz="1400" dirty="0">
              <a:solidFill>
                <a:srgbClr val="222222"/>
              </a:solidFill>
              <a:latin typeface="Calibri" panose="020F0502020204030204" pitchFamily="34" charset="0"/>
              <a:ea typeface="Calibri" panose="020F0502020204030204" pitchFamily="34" charset="-122"/>
              <a:cs typeface="Calibri" panose="020F0502020204030204" pitchFamily="34" charset="-120"/>
            </a:endParaRPr>
          </a:p>
        </p:txBody>
      </p:sp>
      <p:sp>
        <p:nvSpPr>
          <p:cNvPr id="16" name="Shape 14"/>
          <p:cNvSpPr/>
          <p:nvPr/>
        </p:nvSpPr>
        <p:spPr>
          <a:xfrm>
            <a:off x="548640" y="3794760"/>
            <a:ext cx="11064240" cy="2331720"/>
          </a:xfrm>
          <a:prstGeom prst="roundRect">
            <a:avLst>
              <a:gd name="adj" fmla="val 3922"/>
            </a:avLst>
          </a:prstGeom>
          <a:solidFill>
            <a:srgbClr val="1B1F23"/>
          </a:solidFill>
        </p:spPr>
      </p:sp>
      <p:sp>
        <p:nvSpPr>
          <p:cNvPr id="17" name="Text 15"/>
          <p:cNvSpPr/>
          <p:nvPr/>
        </p:nvSpPr>
        <p:spPr>
          <a:xfrm>
            <a:off x="914400" y="4023360"/>
            <a:ext cx="7315200" cy="365760"/>
          </a:xfrm>
          <a:prstGeom prst="rect">
            <a:avLst/>
          </a:prstGeom>
          <a:noFill/>
        </p:spPr>
        <p:txBody>
          <a:bodyPr wrap="square" rtlCol="0" anchor="ctr"/>
          <a:lstStyle/>
          <a:p>
            <a:pPr marL="0" indent="0">
              <a:buNone/>
            </a:pPr>
            <a:r>
              <a:rPr lang="en-US" sz="1600" b="1" dirty="0">
                <a:solidFill>
                  <a:srgbClr val="02C39A"/>
                </a:solidFill>
                <a:latin typeface="Bookman Old Style" panose="02050604050505020204" pitchFamily="34" charset="0"/>
                <a:ea typeface="Bookman Old Style" panose="02050604050505020204" pitchFamily="34" charset="-122"/>
                <a:cs typeface="Bookman Old Style" panose="02050604050505020204" pitchFamily="34" charset="-120"/>
              </a:rPr>
              <a:t>Why closed beds matter most</a:t>
            </a:r>
            <a:endParaRPr lang="en-US" sz="1600" dirty="0"/>
          </a:p>
        </p:txBody>
      </p:sp>
      <p:sp>
        <p:nvSpPr>
          <p:cNvPr id="18" name="Text 16"/>
          <p:cNvSpPr/>
          <p:nvPr/>
        </p:nvSpPr>
        <p:spPr>
          <a:xfrm>
            <a:off x="914400" y="4434840"/>
            <a:ext cx="10332720" cy="1554480"/>
          </a:xfrm>
          <a:prstGeom prst="rect">
            <a:avLst/>
          </a:prstGeom>
          <a:noFill/>
        </p:spPr>
        <p:txBody>
          <a:bodyPr wrap="square" rtlCol="0" anchor="t"/>
          <a:lstStyle/>
          <a:p>
            <a:pPr marL="0" indent="0" algn="just">
              <a:lnSpc>
                <a:spcPct val="125000"/>
              </a:lnSpc>
              <a:buNone/>
            </a:pPr>
            <a:r>
              <a:rPr lang="en-US" dirty="0">
                <a:solidFill>
                  <a:srgbClr val="FFFFFF"/>
                </a:solidFill>
                <a:latin typeface="Calibri" panose="020F0502020204030204" pitchFamily="34" charset="0"/>
                <a:ea typeface="Calibri" panose="020F0502020204030204" pitchFamily="34" charset="-122"/>
                <a:cs typeface="Calibri" panose="020F0502020204030204" pitchFamily="34" charset="-120"/>
              </a:rPr>
              <a:t>154 beds a day are closed. These beds exist on paper, but patients cannot use them. The most likely reason is the same staffing gap we just saw—a closed bed is often a bed with no one to safely staff it. Going into winter, when staffing is already historically thinnest, this number is likely to get worse before it gets better.</a:t>
            </a:r>
            <a:endParaRPr lang="en-US" dirty="0">
              <a:solidFill>
                <a:srgbClr val="FFFFFF"/>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Text 17"/>
          <p:cNvSpPr/>
          <p:nvPr/>
        </p:nvSpPr>
        <p:spPr>
          <a:xfrm>
            <a:off x="11521440" y="6492240"/>
            <a:ext cx="457200" cy="274320"/>
          </a:xfrm>
          <a:prstGeom prst="rect">
            <a:avLst/>
          </a:prstGeom>
          <a:noFill/>
        </p:spPr>
        <p:txBody>
          <a:bodyPr wrap="square"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9"/>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548640"/>
          </a:xfrm>
          <a:prstGeom prst="rect">
            <a:avLst/>
          </a:prstGeom>
          <a:noFill/>
        </p:spPr>
        <p:txBody>
          <a:bodyPr wrap="square" rtlCol="0" anchor="ctr"/>
          <a:lstStyle/>
          <a:p>
            <a:pPr marL="0" indent="0">
              <a:buNone/>
            </a:pPr>
            <a:r>
              <a:rPr lang="en-US" sz="30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How It All Connects</a:t>
            </a:r>
            <a:endParaRPr lang="en-US" sz="3000" dirty="0"/>
          </a:p>
        </p:txBody>
      </p:sp>
      <p:sp>
        <p:nvSpPr>
          <p:cNvPr id="3" name="Text 1"/>
          <p:cNvSpPr/>
          <p:nvPr/>
        </p:nvSpPr>
        <p:spPr>
          <a:xfrm>
            <a:off x="548640" y="960120"/>
            <a:ext cx="8229600" cy="365760"/>
          </a:xfrm>
          <a:prstGeom prst="rect">
            <a:avLst/>
          </a:prstGeom>
          <a:noFill/>
        </p:spPr>
        <p:txBody>
          <a:bodyPr wrap="square" rtlCol="0" anchor="ctr"/>
          <a:lstStyle/>
          <a:p>
            <a:pPr marL="0" indent="0">
              <a:buNone/>
            </a:pPr>
            <a:r>
              <a:rPr lang="en-US" b="1" i="1" dirty="0">
                <a:solidFill>
                  <a:srgbClr val="6B7280"/>
                </a:solidFill>
                <a:latin typeface="Calibri" panose="020F0502020204030204" pitchFamily="34" charset="0"/>
                <a:ea typeface="Calibri" panose="020F0502020204030204" pitchFamily="34" charset="-122"/>
                <a:cs typeface="Calibri" panose="020F0502020204030204" pitchFamily="34" charset="-120"/>
              </a:rPr>
              <a:t>Five dots, one line</a:t>
            </a:r>
            <a:endParaRPr lang="en-US" b="1" i="1"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Shape 2"/>
          <p:cNvSpPr/>
          <p:nvPr/>
        </p:nvSpPr>
        <p:spPr>
          <a:xfrm>
            <a:off x="1216152" y="1874520"/>
            <a:ext cx="676656" cy="676656"/>
          </a:xfrm>
          <a:prstGeom prst="ellipse">
            <a:avLst/>
          </a:prstGeom>
          <a:solidFill>
            <a:srgbClr val="028090"/>
          </a:solidFill>
        </p:spPr>
      </p:sp>
      <p:sp>
        <p:nvSpPr>
          <p:cNvPr id="5" name="Text 3"/>
          <p:cNvSpPr/>
          <p:nvPr/>
        </p:nvSpPr>
        <p:spPr>
          <a:xfrm>
            <a:off x="1216152" y="1874520"/>
            <a:ext cx="676656" cy="676656"/>
          </a:xfrm>
          <a:prstGeom prst="rect">
            <a:avLst/>
          </a:prstGeom>
          <a:noFill/>
        </p:spPr>
        <p:txBody>
          <a:bodyPr wrap="square" rtlCol="0" anchor="ctr"/>
          <a:lstStyle/>
          <a:p>
            <a:pPr marL="0" indent="0" algn="ctr">
              <a:buNone/>
            </a:pPr>
            <a:r>
              <a:rPr lang="en-US" sz="22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rPr>
              <a:t>1</a:t>
            </a:r>
            <a:endParaRPr lang="en-US" sz="2200" dirty="0"/>
          </a:p>
        </p:txBody>
      </p:sp>
      <p:sp>
        <p:nvSpPr>
          <p:cNvPr id="6" name="Shape 4"/>
          <p:cNvSpPr/>
          <p:nvPr/>
        </p:nvSpPr>
        <p:spPr>
          <a:xfrm>
            <a:off x="548640" y="2743200"/>
            <a:ext cx="2011680" cy="2331720"/>
          </a:xfrm>
          <a:prstGeom prst="roundRect">
            <a:avLst>
              <a:gd name="adj" fmla="val 3636"/>
            </a:avLst>
          </a:prstGeom>
          <a:solidFill>
            <a:srgbClr val="FFFFFF"/>
          </a:solidFill>
          <a:ln w="12700">
            <a:solidFill>
              <a:srgbClr val="E5E7EB"/>
            </a:solidFill>
            <a:prstDash val="solid"/>
          </a:ln>
        </p:spPr>
      </p:sp>
      <p:sp>
        <p:nvSpPr>
          <p:cNvPr id="7" name="Text 5"/>
          <p:cNvSpPr/>
          <p:nvPr/>
        </p:nvSpPr>
        <p:spPr>
          <a:xfrm>
            <a:off x="640080" y="2926080"/>
            <a:ext cx="1828800" cy="502920"/>
          </a:xfrm>
          <a:prstGeom prst="rect">
            <a:avLst/>
          </a:prstGeom>
          <a:noFill/>
        </p:spPr>
        <p:txBody>
          <a:bodyPr wrap="square" rtlCol="0" anchor="ctr"/>
          <a:lstStyle/>
          <a:p>
            <a:pPr marL="0" indent="0" algn="ctr">
              <a:buNone/>
            </a:pPr>
            <a:r>
              <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Steady demand</a:t>
            </a:r>
            <a:endPar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8" name="Text 6"/>
          <p:cNvSpPr/>
          <p:nvPr/>
        </p:nvSpPr>
        <p:spPr>
          <a:xfrm>
            <a:off x="640080" y="3429000"/>
            <a:ext cx="1828800" cy="1463040"/>
          </a:xfrm>
          <a:prstGeom prst="rect">
            <a:avLst/>
          </a:prstGeom>
          <a:noFill/>
        </p:spPr>
        <p:txBody>
          <a:bodyPr wrap="square" rtlCol="0" anchor="t"/>
          <a:lstStyle/>
          <a:p>
            <a:pPr marL="0" indent="0" algn="ctr">
              <a:buNone/>
            </a:pP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278 patients a day, spread</a:t>
            </a:r>
            <a:endParaRPr lang="en-US" sz="1200" dirty="0"/>
          </a:p>
          <a:p>
            <a:pPr marL="0" indent="0" algn="ctr">
              <a:buNone/>
            </a:pP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evenly across specialties.</a:t>
            </a:r>
            <a:endPar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9" name="Text 7"/>
          <p:cNvSpPr/>
          <p:nvPr/>
        </p:nvSpPr>
        <p:spPr>
          <a:xfrm>
            <a:off x="2560320" y="1828800"/>
            <a:ext cx="219456" cy="731520"/>
          </a:xfrm>
          <a:prstGeom prst="rect">
            <a:avLst/>
          </a:prstGeom>
          <a:noFill/>
        </p:spPr>
        <p:txBody>
          <a:bodyPr wrap="square" rtlCol="0" anchor="ctr"/>
          <a:lstStyle/>
          <a:p>
            <a:pPr marL="0" indent="0" algn="ctr">
              <a:buNone/>
            </a:pPr>
            <a:r>
              <a:rPr lang="en-US" sz="2000" b="1" dirty="0">
                <a:solidFill>
                  <a:srgbClr val="E5E7EB"/>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0" name="Shape 8"/>
          <p:cNvSpPr/>
          <p:nvPr/>
        </p:nvSpPr>
        <p:spPr>
          <a:xfrm>
            <a:off x="3447288" y="1874520"/>
            <a:ext cx="676656" cy="676656"/>
          </a:xfrm>
          <a:prstGeom prst="ellipse">
            <a:avLst/>
          </a:prstGeom>
          <a:solidFill>
            <a:srgbClr val="00A896"/>
          </a:solidFill>
        </p:spPr>
      </p:sp>
      <p:sp>
        <p:nvSpPr>
          <p:cNvPr id="11" name="Text 9"/>
          <p:cNvSpPr/>
          <p:nvPr/>
        </p:nvSpPr>
        <p:spPr>
          <a:xfrm>
            <a:off x="3447288" y="1874520"/>
            <a:ext cx="676656" cy="676656"/>
          </a:xfrm>
          <a:prstGeom prst="rect">
            <a:avLst/>
          </a:prstGeom>
          <a:noFill/>
        </p:spPr>
        <p:txBody>
          <a:bodyPr wrap="square" rtlCol="0" anchor="ctr"/>
          <a:lstStyle/>
          <a:p>
            <a:pPr marL="0" indent="0" algn="ctr">
              <a:buNone/>
            </a:pPr>
            <a:r>
              <a:rPr lang="en-US" sz="22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rPr>
              <a:t>2</a:t>
            </a:r>
            <a:endParaRPr lang="en-US" sz="2200" dirty="0"/>
          </a:p>
        </p:txBody>
      </p:sp>
      <p:sp>
        <p:nvSpPr>
          <p:cNvPr id="12" name="Shape 10"/>
          <p:cNvSpPr/>
          <p:nvPr/>
        </p:nvSpPr>
        <p:spPr>
          <a:xfrm>
            <a:off x="2779776" y="2743200"/>
            <a:ext cx="2011680" cy="2331720"/>
          </a:xfrm>
          <a:prstGeom prst="roundRect">
            <a:avLst>
              <a:gd name="adj" fmla="val 3636"/>
            </a:avLst>
          </a:prstGeom>
          <a:solidFill>
            <a:srgbClr val="FFFFFF"/>
          </a:solidFill>
          <a:ln w="12700">
            <a:solidFill>
              <a:srgbClr val="E5E7EB"/>
            </a:solidFill>
            <a:prstDash val="solid"/>
          </a:ln>
        </p:spPr>
      </p:sp>
      <p:sp>
        <p:nvSpPr>
          <p:cNvPr id="13" name="Text 11"/>
          <p:cNvSpPr/>
          <p:nvPr/>
        </p:nvSpPr>
        <p:spPr>
          <a:xfrm>
            <a:off x="2871216" y="2926080"/>
            <a:ext cx="1828800" cy="502920"/>
          </a:xfrm>
          <a:prstGeom prst="rect">
            <a:avLst/>
          </a:prstGeom>
          <a:noFill/>
        </p:spPr>
        <p:txBody>
          <a:bodyPr wrap="square" rtlCol="0" anchor="ctr"/>
          <a:lstStyle/>
          <a:p>
            <a:pPr marL="0" indent="0" algn="ctr">
              <a:buNone/>
            </a:pPr>
            <a:r>
              <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One busy ward</a:t>
            </a:r>
            <a:endPar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14" name="Text 12"/>
          <p:cNvSpPr/>
          <p:nvPr/>
        </p:nvSpPr>
        <p:spPr>
          <a:xfrm>
            <a:off x="2871216" y="3429000"/>
            <a:ext cx="1828800" cy="1463040"/>
          </a:xfrm>
          <a:prstGeom prst="rect">
            <a:avLst/>
          </a:prstGeom>
          <a:noFill/>
        </p:spPr>
        <p:txBody>
          <a:bodyPr wrap="square" rtlCol="0" anchor="t"/>
          <a:lstStyle/>
          <a:p>
            <a:pPr marL="0" indent="0" algn="ctr">
              <a:buNone/>
            </a:pP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General Medicine takes 3x</a:t>
            </a:r>
            <a:endParaRPr lang="en-US" sz="1200" dirty="0"/>
          </a:p>
          <a:p>
            <a:pPr marL="0" indent="0" algn="ctr">
              <a:buNone/>
            </a:pP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more patients than any other.</a:t>
            </a:r>
            <a:endPar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15" name="Text 13"/>
          <p:cNvSpPr/>
          <p:nvPr/>
        </p:nvSpPr>
        <p:spPr>
          <a:xfrm>
            <a:off x="4791456" y="1828800"/>
            <a:ext cx="219456" cy="731520"/>
          </a:xfrm>
          <a:prstGeom prst="rect">
            <a:avLst/>
          </a:prstGeom>
          <a:noFill/>
        </p:spPr>
        <p:txBody>
          <a:bodyPr wrap="square" rtlCol="0" anchor="ctr"/>
          <a:lstStyle/>
          <a:p>
            <a:pPr marL="0" indent="0" algn="ctr">
              <a:buNone/>
            </a:pPr>
            <a:r>
              <a:rPr lang="en-US" sz="2000" b="1" dirty="0">
                <a:solidFill>
                  <a:srgbClr val="E5E7EB"/>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16" name="Shape 14"/>
          <p:cNvSpPr/>
          <p:nvPr/>
        </p:nvSpPr>
        <p:spPr>
          <a:xfrm>
            <a:off x="5678424" y="1874520"/>
            <a:ext cx="676656" cy="676656"/>
          </a:xfrm>
          <a:prstGeom prst="ellipse">
            <a:avLst/>
          </a:prstGeom>
          <a:solidFill>
            <a:srgbClr val="D64545"/>
          </a:solidFill>
        </p:spPr>
      </p:sp>
      <p:sp>
        <p:nvSpPr>
          <p:cNvPr id="17" name="Text 15"/>
          <p:cNvSpPr/>
          <p:nvPr/>
        </p:nvSpPr>
        <p:spPr>
          <a:xfrm>
            <a:off x="5678424" y="1874520"/>
            <a:ext cx="676656" cy="676656"/>
          </a:xfrm>
          <a:prstGeom prst="rect">
            <a:avLst/>
          </a:prstGeom>
          <a:noFill/>
        </p:spPr>
        <p:txBody>
          <a:bodyPr wrap="square" rtlCol="0" anchor="ctr"/>
          <a:lstStyle/>
          <a:p>
            <a:pPr marL="0" indent="0" algn="ctr">
              <a:buNone/>
            </a:pPr>
            <a:r>
              <a:rPr lang="en-US" sz="22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rPr>
              <a:t>3</a:t>
            </a:r>
            <a:endParaRPr lang="en-US" sz="2200" dirty="0"/>
          </a:p>
        </p:txBody>
      </p:sp>
      <p:sp>
        <p:nvSpPr>
          <p:cNvPr id="18" name="Shape 16"/>
          <p:cNvSpPr/>
          <p:nvPr/>
        </p:nvSpPr>
        <p:spPr>
          <a:xfrm>
            <a:off x="5010912" y="2743200"/>
            <a:ext cx="2011680" cy="2331720"/>
          </a:xfrm>
          <a:prstGeom prst="roundRect">
            <a:avLst>
              <a:gd name="adj" fmla="val 3636"/>
            </a:avLst>
          </a:prstGeom>
          <a:solidFill>
            <a:srgbClr val="FFFFFF"/>
          </a:solidFill>
          <a:ln w="12700">
            <a:solidFill>
              <a:srgbClr val="E5E7EB"/>
            </a:solidFill>
            <a:prstDash val="solid"/>
          </a:ln>
        </p:spPr>
      </p:sp>
      <p:sp>
        <p:nvSpPr>
          <p:cNvPr id="19" name="Text 17"/>
          <p:cNvSpPr/>
          <p:nvPr/>
        </p:nvSpPr>
        <p:spPr>
          <a:xfrm>
            <a:off x="5102352" y="2926080"/>
            <a:ext cx="1828800" cy="502920"/>
          </a:xfrm>
          <a:prstGeom prst="rect">
            <a:avLst/>
          </a:prstGeom>
          <a:noFill/>
        </p:spPr>
        <p:txBody>
          <a:bodyPr wrap="square" rtlCol="0" anchor="ctr"/>
          <a:lstStyle/>
          <a:p>
            <a:pPr marL="0" indent="0" algn="ctr">
              <a:buNone/>
            </a:pPr>
            <a:r>
              <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Thin staffing</a:t>
            </a:r>
            <a:endPar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20" name="Text 18"/>
          <p:cNvSpPr/>
          <p:nvPr/>
        </p:nvSpPr>
        <p:spPr>
          <a:xfrm>
            <a:off x="5102352" y="3429000"/>
            <a:ext cx="1828800" cy="1463040"/>
          </a:xfrm>
          <a:prstGeom prst="rect">
            <a:avLst/>
          </a:prstGeom>
          <a:noFill/>
        </p:spPr>
        <p:txBody>
          <a:bodyPr wrap="square" rtlCol="0" anchor="t"/>
          <a:lstStyle/>
          <a:p>
            <a:pPr marL="0" indent="0" algn="ctr">
              <a:buNone/>
            </a:pP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Only 47% of shifts meet</a:t>
            </a:r>
            <a:endParaRPr lang="en-US" sz="1200" dirty="0"/>
          </a:p>
          <a:p>
            <a:pPr marL="0" indent="0" algn="ctr">
              <a:buNone/>
            </a:pP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the safe staffing level.</a:t>
            </a:r>
            <a:endPar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21" name="Text 19"/>
          <p:cNvSpPr/>
          <p:nvPr/>
        </p:nvSpPr>
        <p:spPr>
          <a:xfrm>
            <a:off x="7022592" y="1828800"/>
            <a:ext cx="219456" cy="731520"/>
          </a:xfrm>
          <a:prstGeom prst="rect">
            <a:avLst/>
          </a:prstGeom>
          <a:noFill/>
        </p:spPr>
        <p:txBody>
          <a:bodyPr wrap="square" rtlCol="0" anchor="ctr"/>
          <a:lstStyle/>
          <a:p>
            <a:pPr marL="0" indent="0" algn="ctr">
              <a:buNone/>
            </a:pPr>
            <a:r>
              <a:rPr lang="en-US" sz="2000" b="1" dirty="0">
                <a:solidFill>
                  <a:srgbClr val="E5E7EB"/>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2" name="Shape 20"/>
          <p:cNvSpPr/>
          <p:nvPr/>
        </p:nvSpPr>
        <p:spPr>
          <a:xfrm>
            <a:off x="7909560" y="1874520"/>
            <a:ext cx="676656" cy="676656"/>
          </a:xfrm>
          <a:prstGeom prst="ellipse">
            <a:avLst/>
          </a:prstGeom>
          <a:solidFill>
            <a:srgbClr val="E0A030"/>
          </a:solidFill>
        </p:spPr>
      </p:sp>
      <p:sp>
        <p:nvSpPr>
          <p:cNvPr id="23" name="Text 21"/>
          <p:cNvSpPr/>
          <p:nvPr/>
        </p:nvSpPr>
        <p:spPr>
          <a:xfrm>
            <a:off x="7909560" y="1874520"/>
            <a:ext cx="676656" cy="676656"/>
          </a:xfrm>
          <a:prstGeom prst="rect">
            <a:avLst/>
          </a:prstGeom>
          <a:noFill/>
        </p:spPr>
        <p:txBody>
          <a:bodyPr wrap="square" rtlCol="0" anchor="ctr"/>
          <a:lstStyle/>
          <a:p>
            <a:pPr marL="0" indent="0" algn="ctr">
              <a:buNone/>
            </a:pPr>
            <a:r>
              <a:rPr lang="en-US" sz="22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rPr>
              <a:t>4</a:t>
            </a:r>
            <a:endParaRPr lang="en-US" sz="2200" dirty="0"/>
          </a:p>
        </p:txBody>
      </p:sp>
      <p:sp>
        <p:nvSpPr>
          <p:cNvPr id="24" name="Shape 22"/>
          <p:cNvSpPr/>
          <p:nvPr/>
        </p:nvSpPr>
        <p:spPr>
          <a:xfrm>
            <a:off x="7242048" y="2743200"/>
            <a:ext cx="2011680" cy="2331720"/>
          </a:xfrm>
          <a:prstGeom prst="roundRect">
            <a:avLst>
              <a:gd name="adj" fmla="val 3636"/>
            </a:avLst>
          </a:prstGeom>
          <a:solidFill>
            <a:srgbClr val="FFFFFF"/>
          </a:solidFill>
          <a:ln w="12700">
            <a:solidFill>
              <a:srgbClr val="E5E7EB"/>
            </a:solidFill>
            <a:prstDash val="solid"/>
          </a:ln>
        </p:spPr>
      </p:sp>
      <p:sp>
        <p:nvSpPr>
          <p:cNvPr id="25" name="Text 23"/>
          <p:cNvSpPr/>
          <p:nvPr/>
        </p:nvSpPr>
        <p:spPr>
          <a:xfrm>
            <a:off x="7333488" y="2926080"/>
            <a:ext cx="1828800" cy="502920"/>
          </a:xfrm>
          <a:prstGeom prst="rect">
            <a:avLst/>
          </a:prstGeom>
          <a:noFill/>
        </p:spPr>
        <p:txBody>
          <a:bodyPr wrap="square" rtlCol="0" anchor="ctr"/>
          <a:lstStyle/>
          <a:p>
            <a:pPr marL="0" indent="0" algn="ctr">
              <a:buNone/>
            </a:pPr>
            <a:r>
              <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Winter dip</a:t>
            </a:r>
            <a:endPar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26" name="Text 24"/>
          <p:cNvSpPr/>
          <p:nvPr/>
        </p:nvSpPr>
        <p:spPr>
          <a:xfrm>
            <a:off x="7333488" y="3429000"/>
            <a:ext cx="1828800" cy="1463040"/>
          </a:xfrm>
          <a:prstGeom prst="rect">
            <a:avLst/>
          </a:prstGeom>
          <a:noFill/>
        </p:spPr>
        <p:txBody>
          <a:bodyPr wrap="square" rtlCol="0" anchor="t"/>
          <a:lstStyle/>
          <a:p>
            <a:pPr marL="0" indent="0" algn="ctr">
              <a:buNone/>
            </a:pP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Staffing historically falls</a:t>
            </a:r>
            <a:endParaRPr lang="en-US" sz="1200" dirty="0"/>
          </a:p>
          <a:p>
            <a:pPr marL="0" indent="0" algn="ctr">
              <a:buNone/>
            </a:pP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lowest in December.</a:t>
            </a:r>
            <a:endPar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27" name="Text 25"/>
          <p:cNvSpPr/>
          <p:nvPr/>
        </p:nvSpPr>
        <p:spPr>
          <a:xfrm>
            <a:off x="9253728" y="1828800"/>
            <a:ext cx="219456" cy="731520"/>
          </a:xfrm>
          <a:prstGeom prst="rect">
            <a:avLst/>
          </a:prstGeom>
          <a:noFill/>
        </p:spPr>
        <p:txBody>
          <a:bodyPr wrap="square" rtlCol="0" anchor="ctr"/>
          <a:lstStyle/>
          <a:p>
            <a:pPr marL="0" indent="0" algn="ctr">
              <a:buNone/>
            </a:pPr>
            <a:r>
              <a:rPr lang="en-US" sz="2000" b="1" dirty="0">
                <a:solidFill>
                  <a:srgbClr val="E5E7EB"/>
                </a:solidFill>
                <a:latin typeface="Calibri" panose="020F0502020204030204" pitchFamily="34" charset="0"/>
                <a:ea typeface="Calibri" panose="020F0502020204030204" pitchFamily="34" charset="-122"/>
                <a:cs typeface="Calibri" panose="020F0502020204030204" pitchFamily="34" charset="-120"/>
              </a:rPr>
              <a:t>→</a:t>
            </a:r>
            <a:endParaRPr lang="en-US" sz="2000" dirty="0"/>
          </a:p>
        </p:txBody>
      </p:sp>
      <p:sp>
        <p:nvSpPr>
          <p:cNvPr id="28" name="Shape 26"/>
          <p:cNvSpPr/>
          <p:nvPr/>
        </p:nvSpPr>
        <p:spPr>
          <a:xfrm>
            <a:off x="10140696" y="1874520"/>
            <a:ext cx="676656" cy="676656"/>
          </a:xfrm>
          <a:prstGeom prst="ellipse">
            <a:avLst/>
          </a:prstGeom>
          <a:solidFill>
            <a:srgbClr val="02C39A"/>
          </a:solidFill>
        </p:spPr>
      </p:sp>
      <p:sp>
        <p:nvSpPr>
          <p:cNvPr id="29" name="Text 27"/>
          <p:cNvSpPr/>
          <p:nvPr/>
        </p:nvSpPr>
        <p:spPr>
          <a:xfrm>
            <a:off x="10140696" y="1874520"/>
            <a:ext cx="676656" cy="676656"/>
          </a:xfrm>
          <a:prstGeom prst="rect">
            <a:avLst/>
          </a:prstGeom>
          <a:noFill/>
        </p:spPr>
        <p:txBody>
          <a:bodyPr wrap="square" rtlCol="0" anchor="ctr"/>
          <a:lstStyle/>
          <a:p>
            <a:pPr marL="0" indent="0" algn="ctr">
              <a:buNone/>
            </a:pPr>
            <a:r>
              <a:rPr lang="en-US" sz="22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rPr>
              <a:t>5</a:t>
            </a:r>
            <a:endParaRPr lang="en-US" sz="2200" dirty="0"/>
          </a:p>
        </p:txBody>
      </p:sp>
      <p:sp>
        <p:nvSpPr>
          <p:cNvPr id="30" name="Shape 28"/>
          <p:cNvSpPr/>
          <p:nvPr/>
        </p:nvSpPr>
        <p:spPr>
          <a:xfrm>
            <a:off x="9473184" y="2743200"/>
            <a:ext cx="2011680" cy="2331720"/>
          </a:xfrm>
          <a:prstGeom prst="roundRect">
            <a:avLst>
              <a:gd name="adj" fmla="val 3636"/>
            </a:avLst>
          </a:prstGeom>
          <a:solidFill>
            <a:srgbClr val="FFFFFF"/>
          </a:solidFill>
          <a:ln w="12700">
            <a:solidFill>
              <a:srgbClr val="E5E7EB"/>
            </a:solidFill>
            <a:prstDash val="solid"/>
          </a:ln>
        </p:spPr>
      </p:sp>
      <p:sp>
        <p:nvSpPr>
          <p:cNvPr id="31" name="Text 29"/>
          <p:cNvSpPr/>
          <p:nvPr/>
        </p:nvSpPr>
        <p:spPr>
          <a:xfrm>
            <a:off x="9564624" y="2926080"/>
            <a:ext cx="1828800" cy="502920"/>
          </a:xfrm>
          <a:prstGeom prst="rect">
            <a:avLst/>
          </a:prstGeom>
          <a:noFill/>
        </p:spPr>
        <p:txBody>
          <a:bodyPr wrap="square" rtlCol="0" anchor="ctr"/>
          <a:lstStyle/>
          <a:p>
            <a:pPr marL="0" indent="0" algn="ctr">
              <a:buNone/>
            </a:pPr>
            <a:r>
              <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Closed beds</a:t>
            </a:r>
            <a:endPar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32" name="Text 30"/>
          <p:cNvSpPr/>
          <p:nvPr/>
        </p:nvSpPr>
        <p:spPr>
          <a:xfrm>
            <a:off x="9564624" y="3429000"/>
            <a:ext cx="1828800" cy="1463040"/>
          </a:xfrm>
          <a:prstGeom prst="rect">
            <a:avLst/>
          </a:prstGeom>
          <a:noFill/>
        </p:spPr>
        <p:txBody>
          <a:bodyPr wrap="square" rtlCol="0" anchor="t"/>
          <a:lstStyle/>
          <a:p>
            <a:pPr marL="0" indent="0" algn="ctr">
              <a:buNone/>
            </a:pP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154 beds a day sit empty</a:t>
            </a:r>
            <a:endParaRPr lang="en-US" sz="1200" dirty="0"/>
          </a:p>
          <a:p>
            <a:pPr marL="0" indent="0" algn="ctr">
              <a:buNone/>
            </a:pP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because no one can staff them.</a:t>
            </a:r>
            <a:endPar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33" name="Shape 31"/>
          <p:cNvSpPr/>
          <p:nvPr/>
        </p:nvSpPr>
        <p:spPr>
          <a:xfrm>
            <a:off x="548640" y="5257800"/>
            <a:ext cx="11064240" cy="1051560"/>
          </a:xfrm>
          <a:prstGeom prst="roundRect">
            <a:avLst>
              <a:gd name="adj" fmla="val 8696"/>
            </a:avLst>
          </a:prstGeom>
          <a:solidFill>
            <a:srgbClr val="1B1F23"/>
          </a:solidFill>
        </p:spPr>
      </p:sp>
      <p:sp>
        <p:nvSpPr>
          <p:cNvPr id="34" name="Text 32"/>
          <p:cNvSpPr/>
          <p:nvPr/>
        </p:nvSpPr>
        <p:spPr>
          <a:xfrm>
            <a:off x="822960" y="5257800"/>
            <a:ext cx="10515600" cy="1051560"/>
          </a:xfrm>
          <a:prstGeom prst="rect">
            <a:avLst/>
          </a:prstGeom>
          <a:noFill/>
        </p:spPr>
        <p:txBody>
          <a:bodyPr wrap="square" rtlCol="0" anchor="ctr"/>
          <a:lstStyle/>
          <a:p>
            <a:pPr marL="0" indent="0">
              <a:buNone/>
            </a:pPr>
            <a:r>
              <a:rPr lang="en-US" sz="1600" b="1" i="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rPr>
              <a:t>The short version: we don't have too many patients—we have too few safely-staffed beds, and the gap is set to widen as winter approaches.</a:t>
            </a:r>
            <a:endParaRPr lang="en-US" sz="1600" dirty="0"/>
          </a:p>
        </p:txBody>
      </p:sp>
      <p:sp>
        <p:nvSpPr>
          <p:cNvPr id="35" name="Text 33"/>
          <p:cNvSpPr/>
          <p:nvPr/>
        </p:nvSpPr>
        <p:spPr>
          <a:xfrm>
            <a:off x="11521440" y="6492240"/>
            <a:ext cx="457200" cy="274320"/>
          </a:xfrm>
          <a:prstGeom prst="rect">
            <a:avLst/>
          </a:prstGeom>
          <a:noFill/>
        </p:spPr>
        <p:txBody>
          <a:bodyPr wrap="square"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411480"/>
            <a:ext cx="8229600" cy="548640"/>
          </a:xfrm>
          <a:prstGeom prst="rect">
            <a:avLst/>
          </a:prstGeom>
          <a:noFill/>
        </p:spPr>
        <p:txBody>
          <a:bodyPr wrap="square" rtlCol="0" anchor="ctr"/>
          <a:lstStyle/>
          <a:p>
            <a:pPr marL="0" indent="0">
              <a:buNone/>
            </a:pPr>
            <a:r>
              <a:rPr lang="en-US" sz="30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What We Recommend</a:t>
            </a:r>
            <a:endParaRPr lang="en-US" sz="3000" dirty="0"/>
          </a:p>
        </p:txBody>
      </p:sp>
      <p:sp>
        <p:nvSpPr>
          <p:cNvPr id="3" name="Text 1"/>
          <p:cNvSpPr/>
          <p:nvPr/>
        </p:nvSpPr>
        <p:spPr>
          <a:xfrm>
            <a:off x="548640" y="960120"/>
            <a:ext cx="8229600" cy="365760"/>
          </a:xfrm>
          <a:prstGeom prst="rect">
            <a:avLst/>
          </a:prstGeom>
          <a:noFill/>
        </p:spPr>
        <p:txBody>
          <a:bodyPr wrap="square" rtlCol="0" anchor="ctr"/>
          <a:lstStyle/>
          <a:p>
            <a:pPr marL="0" indent="0">
              <a:buNone/>
            </a:pPr>
            <a:r>
              <a:rPr lang="en-US" i="1" dirty="0">
                <a:solidFill>
                  <a:srgbClr val="6B7280"/>
                </a:solidFill>
                <a:latin typeface="Calibri" panose="020F0502020204030204" pitchFamily="34" charset="0"/>
                <a:ea typeface="Calibri" panose="020F0502020204030204" pitchFamily="34" charset="-122"/>
                <a:cs typeface="Calibri" panose="020F0502020204030204" pitchFamily="34" charset="-120"/>
              </a:rPr>
              <a:t>Five simple next steps</a:t>
            </a:r>
            <a:endParaRPr lang="en-US" i="1"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4" name="Shape 2"/>
          <p:cNvSpPr/>
          <p:nvPr/>
        </p:nvSpPr>
        <p:spPr>
          <a:xfrm>
            <a:off x="548640" y="1600200"/>
            <a:ext cx="3502152" cy="1965960"/>
          </a:xfrm>
          <a:prstGeom prst="roundRect">
            <a:avLst>
              <a:gd name="adj" fmla="val 4651"/>
            </a:avLst>
          </a:prstGeom>
          <a:solidFill>
            <a:srgbClr val="F7F9F9"/>
          </a:solidFill>
          <a:ln w="12700">
            <a:solidFill>
              <a:srgbClr val="E5E7EB"/>
            </a:solidFill>
            <a:prstDash val="solid"/>
          </a:ln>
        </p:spPr>
      </p:sp>
      <p:sp>
        <p:nvSpPr>
          <p:cNvPr id="5" name="Shape 3"/>
          <p:cNvSpPr/>
          <p:nvPr/>
        </p:nvSpPr>
        <p:spPr>
          <a:xfrm>
            <a:off x="777240" y="1828800"/>
            <a:ext cx="457200" cy="457200"/>
          </a:xfrm>
          <a:prstGeom prst="ellipse">
            <a:avLst/>
          </a:prstGeom>
          <a:solidFill>
            <a:srgbClr val="028090"/>
          </a:solidFill>
        </p:spPr>
      </p:sp>
      <p:sp>
        <p:nvSpPr>
          <p:cNvPr id="6" name="Text 4"/>
          <p:cNvSpPr/>
          <p:nvPr/>
        </p:nvSpPr>
        <p:spPr>
          <a:xfrm>
            <a:off x="777240" y="1828800"/>
            <a:ext cx="457200" cy="457200"/>
          </a:xfrm>
          <a:prstGeom prst="rect">
            <a:avLst/>
          </a:prstGeom>
          <a:noFill/>
        </p:spPr>
        <p:txBody>
          <a:bodyPr wrap="square" rtlCol="0" anchor="ctr"/>
          <a:lstStyle/>
          <a:p>
            <a:pPr marL="0" indent="0" algn="ctr">
              <a:buNone/>
            </a:pPr>
            <a:r>
              <a:rPr lang="en-US" sz="16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rPr>
              <a:t>1</a:t>
            </a:r>
            <a:endParaRPr lang="en-US" sz="1600" dirty="0"/>
          </a:p>
        </p:txBody>
      </p:sp>
      <p:sp>
        <p:nvSpPr>
          <p:cNvPr id="7" name="Text 5"/>
          <p:cNvSpPr/>
          <p:nvPr/>
        </p:nvSpPr>
        <p:spPr>
          <a:xfrm>
            <a:off x="777240" y="2423160"/>
            <a:ext cx="3044952" cy="502920"/>
          </a:xfrm>
          <a:prstGeom prst="rect">
            <a:avLst/>
          </a:prstGeom>
          <a:noFill/>
        </p:spPr>
        <p:txBody>
          <a:bodyPr wrap="square" rtlCol="0" anchor="t"/>
          <a:lstStyle/>
          <a:p>
            <a:pPr marL="0" indent="0">
              <a:buNone/>
            </a:pPr>
            <a:r>
              <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Track safe staffing, not just averages</a:t>
            </a:r>
            <a:endPar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8" name="Text 6"/>
          <p:cNvSpPr/>
          <p:nvPr/>
        </p:nvSpPr>
        <p:spPr>
          <a:xfrm>
            <a:off x="664210" y="2898775"/>
            <a:ext cx="3157855" cy="640080"/>
          </a:xfrm>
          <a:prstGeom prst="rect">
            <a:avLst/>
          </a:prstGeom>
          <a:noFill/>
        </p:spPr>
        <p:txBody>
          <a:bodyPr wrap="square" rtlCol="0" anchor="t"/>
          <a:lstStyle/>
          <a:p>
            <a:pPr marL="0" indent="0" algn="just">
              <a:lnSpc>
                <a:spcPct val="110000"/>
              </a:lnSpc>
              <a:buNone/>
            </a:pPr>
            <a:r>
              <a:rPr lang="en-GB" alt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We need to ma</a:t>
            </a: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ke the 47% safe-staffing number the main number leaders watch, not the 86% average</a:t>
            </a:r>
            <a:r>
              <a:rPr lang="en-US" sz="1150" dirty="0">
                <a:solidFill>
                  <a:srgbClr val="6B7280"/>
                </a:solidFill>
                <a:latin typeface="Calibri" panose="020F0502020204030204" pitchFamily="34" charset="0"/>
                <a:ea typeface="Calibri" panose="020F0502020204030204" pitchFamily="34" charset="-122"/>
                <a:cs typeface="Calibri" panose="020F0502020204030204" pitchFamily="34" charset="-120"/>
              </a:rPr>
              <a:t>.</a:t>
            </a:r>
            <a:endParaRPr lang="en-US" sz="1150" dirty="0"/>
          </a:p>
        </p:txBody>
      </p:sp>
      <p:sp>
        <p:nvSpPr>
          <p:cNvPr id="9" name="Shape 7"/>
          <p:cNvSpPr/>
          <p:nvPr/>
        </p:nvSpPr>
        <p:spPr>
          <a:xfrm>
            <a:off x="4306824" y="1600200"/>
            <a:ext cx="3502152" cy="1965960"/>
          </a:xfrm>
          <a:prstGeom prst="roundRect">
            <a:avLst>
              <a:gd name="adj" fmla="val 4651"/>
            </a:avLst>
          </a:prstGeom>
          <a:solidFill>
            <a:srgbClr val="F7F9F9"/>
          </a:solidFill>
          <a:ln w="12700">
            <a:solidFill>
              <a:srgbClr val="E5E7EB"/>
            </a:solidFill>
            <a:prstDash val="solid"/>
          </a:ln>
        </p:spPr>
      </p:sp>
      <p:sp>
        <p:nvSpPr>
          <p:cNvPr id="10" name="Shape 8"/>
          <p:cNvSpPr/>
          <p:nvPr/>
        </p:nvSpPr>
        <p:spPr>
          <a:xfrm>
            <a:off x="4535424" y="1828800"/>
            <a:ext cx="457200" cy="457200"/>
          </a:xfrm>
          <a:prstGeom prst="ellipse">
            <a:avLst/>
          </a:prstGeom>
          <a:solidFill>
            <a:srgbClr val="00A896"/>
          </a:solidFill>
        </p:spPr>
      </p:sp>
      <p:sp>
        <p:nvSpPr>
          <p:cNvPr id="11" name="Text 9"/>
          <p:cNvSpPr/>
          <p:nvPr/>
        </p:nvSpPr>
        <p:spPr>
          <a:xfrm>
            <a:off x="4535424" y="1828800"/>
            <a:ext cx="457200" cy="457200"/>
          </a:xfrm>
          <a:prstGeom prst="rect">
            <a:avLst/>
          </a:prstGeom>
          <a:noFill/>
        </p:spPr>
        <p:txBody>
          <a:bodyPr wrap="square" rtlCol="0" anchor="ctr"/>
          <a:lstStyle/>
          <a:p>
            <a:pPr marL="0" indent="0" algn="ctr">
              <a:buNone/>
            </a:pPr>
            <a:r>
              <a:rPr lang="en-US" sz="16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rPr>
              <a:t>2</a:t>
            </a:r>
            <a:endParaRPr lang="en-US" sz="1600" dirty="0"/>
          </a:p>
        </p:txBody>
      </p:sp>
      <p:sp>
        <p:nvSpPr>
          <p:cNvPr id="12" name="Text 10"/>
          <p:cNvSpPr/>
          <p:nvPr/>
        </p:nvSpPr>
        <p:spPr>
          <a:xfrm>
            <a:off x="4535424" y="2423160"/>
            <a:ext cx="3044952" cy="502920"/>
          </a:xfrm>
          <a:prstGeom prst="rect">
            <a:avLst/>
          </a:prstGeom>
          <a:noFill/>
        </p:spPr>
        <p:txBody>
          <a:bodyPr wrap="square" rtlCol="0" anchor="t"/>
          <a:lstStyle/>
          <a:p>
            <a:pPr marL="0" indent="0">
              <a:buNone/>
            </a:pPr>
            <a:r>
              <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Fix HDU first</a:t>
            </a:r>
            <a:endPar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13" name="Text 11"/>
          <p:cNvSpPr/>
          <p:nvPr/>
        </p:nvSpPr>
        <p:spPr>
          <a:xfrm>
            <a:off x="4535424" y="2898648"/>
            <a:ext cx="3044952" cy="640080"/>
          </a:xfrm>
          <a:prstGeom prst="rect">
            <a:avLst/>
          </a:prstGeom>
          <a:noFill/>
        </p:spPr>
        <p:txBody>
          <a:bodyPr wrap="square" rtlCol="0" anchor="t"/>
          <a:lstStyle/>
          <a:p>
            <a:pPr marL="0" indent="0">
              <a:lnSpc>
                <a:spcPct val="110000"/>
              </a:lnSpc>
              <a:buNone/>
            </a:pP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HDU has the lowest staffing ratio and sits right next to our busiest ward.</a:t>
            </a:r>
            <a:endPar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14" name="Shape 12"/>
          <p:cNvSpPr/>
          <p:nvPr/>
        </p:nvSpPr>
        <p:spPr>
          <a:xfrm>
            <a:off x="8065008" y="1600200"/>
            <a:ext cx="3502152" cy="1965960"/>
          </a:xfrm>
          <a:prstGeom prst="roundRect">
            <a:avLst>
              <a:gd name="adj" fmla="val 4651"/>
            </a:avLst>
          </a:prstGeom>
          <a:solidFill>
            <a:srgbClr val="F7F9F9"/>
          </a:solidFill>
          <a:ln w="12700">
            <a:solidFill>
              <a:srgbClr val="E5E7EB"/>
            </a:solidFill>
            <a:prstDash val="solid"/>
          </a:ln>
        </p:spPr>
      </p:sp>
      <p:sp>
        <p:nvSpPr>
          <p:cNvPr id="15" name="Shape 13"/>
          <p:cNvSpPr/>
          <p:nvPr/>
        </p:nvSpPr>
        <p:spPr>
          <a:xfrm>
            <a:off x="8293608" y="1828800"/>
            <a:ext cx="457200" cy="457200"/>
          </a:xfrm>
          <a:prstGeom prst="ellipse">
            <a:avLst/>
          </a:prstGeom>
          <a:solidFill>
            <a:srgbClr val="E0A030"/>
          </a:solidFill>
        </p:spPr>
      </p:sp>
      <p:sp>
        <p:nvSpPr>
          <p:cNvPr id="16" name="Text 14"/>
          <p:cNvSpPr/>
          <p:nvPr/>
        </p:nvSpPr>
        <p:spPr>
          <a:xfrm>
            <a:off x="8293608" y="1828800"/>
            <a:ext cx="457200" cy="457200"/>
          </a:xfrm>
          <a:prstGeom prst="rect">
            <a:avLst/>
          </a:prstGeom>
          <a:noFill/>
        </p:spPr>
        <p:txBody>
          <a:bodyPr wrap="square" rtlCol="0" anchor="ctr"/>
          <a:lstStyle/>
          <a:p>
            <a:pPr marL="0" indent="0" algn="ctr">
              <a:buNone/>
            </a:pPr>
            <a:r>
              <a:rPr lang="en-US" sz="16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rPr>
              <a:t>3</a:t>
            </a:r>
            <a:endParaRPr lang="en-US" sz="1600" dirty="0"/>
          </a:p>
        </p:txBody>
      </p:sp>
      <p:sp>
        <p:nvSpPr>
          <p:cNvPr id="17" name="Text 15"/>
          <p:cNvSpPr/>
          <p:nvPr/>
        </p:nvSpPr>
        <p:spPr>
          <a:xfrm>
            <a:off x="8293608" y="2423160"/>
            <a:ext cx="3044952" cy="502920"/>
          </a:xfrm>
          <a:prstGeom prst="rect">
            <a:avLst/>
          </a:prstGeom>
          <a:noFill/>
        </p:spPr>
        <p:txBody>
          <a:bodyPr wrap="square" rtlCol="0" anchor="t"/>
          <a:lstStyle/>
          <a:p>
            <a:pPr marL="0" indent="0">
              <a:buNone/>
            </a:pPr>
            <a:r>
              <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Build a winter staffing plan now</a:t>
            </a:r>
            <a:endPar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18" name="Text 16"/>
          <p:cNvSpPr/>
          <p:nvPr/>
        </p:nvSpPr>
        <p:spPr>
          <a:xfrm>
            <a:off x="8293608" y="2898648"/>
            <a:ext cx="3044952" cy="640080"/>
          </a:xfrm>
          <a:prstGeom prst="rect">
            <a:avLst/>
          </a:prstGeom>
          <a:noFill/>
        </p:spPr>
        <p:txBody>
          <a:bodyPr wrap="square" rtlCol="0" anchor="t"/>
          <a:lstStyle/>
          <a:p>
            <a:pPr marL="0" indent="0">
              <a:lnSpc>
                <a:spcPct val="110000"/>
              </a:lnSpc>
              <a:buNone/>
            </a:pP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Staffing dips lowest in December. </a:t>
            </a:r>
            <a:r>
              <a:rPr lang="en-GB" alt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We need to l</a:t>
            </a: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ine up extra cover before the season starts.</a:t>
            </a:r>
            <a:endPar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19" name="Shape 17"/>
          <p:cNvSpPr/>
          <p:nvPr/>
        </p:nvSpPr>
        <p:spPr>
          <a:xfrm>
            <a:off x="2427732" y="3794760"/>
            <a:ext cx="3502152" cy="1965960"/>
          </a:xfrm>
          <a:prstGeom prst="roundRect">
            <a:avLst>
              <a:gd name="adj" fmla="val 4651"/>
            </a:avLst>
          </a:prstGeom>
          <a:solidFill>
            <a:srgbClr val="F7F9F9"/>
          </a:solidFill>
          <a:ln w="12700">
            <a:solidFill>
              <a:srgbClr val="E5E7EB"/>
            </a:solidFill>
            <a:prstDash val="solid"/>
          </a:ln>
        </p:spPr>
      </p:sp>
      <p:sp>
        <p:nvSpPr>
          <p:cNvPr id="20" name="Shape 18"/>
          <p:cNvSpPr/>
          <p:nvPr/>
        </p:nvSpPr>
        <p:spPr>
          <a:xfrm>
            <a:off x="2656332" y="4023360"/>
            <a:ext cx="457200" cy="457200"/>
          </a:xfrm>
          <a:prstGeom prst="ellipse">
            <a:avLst/>
          </a:prstGeom>
          <a:solidFill>
            <a:srgbClr val="02C39A"/>
          </a:solidFill>
        </p:spPr>
      </p:sp>
      <p:sp>
        <p:nvSpPr>
          <p:cNvPr id="21" name="Text 19"/>
          <p:cNvSpPr/>
          <p:nvPr/>
        </p:nvSpPr>
        <p:spPr>
          <a:xfrm>
            <a:off x="2656332" y="4023360"/>
            <a:ext cx="457200" cy="457200"/>
          </a:xfrm>
          <a:prstGeom prst="rect">
            <a:avLst/>
          </a:prstGeom>
          <a:noFill/>
        </p:spPr>
        <p:txBody>
          <a:bodyPr wrap="square" rtlCol="0" anchor="ctr"/>
          <a:lstStyle/>
          <a:p>
            <a:pPr marL="0" indent="0" algn="ctr">
              <a:buNone/>
            </a:pPr>
            <a:r>
              <a:rPr lang="en-US" sz="16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rPr>
              <a:t>4</a:t>
            </a:r>
            <a:endParaRPr lang="en-US" sz="1600" dirty="0"/>
          </a:p>
        </p:txBody>
      </p:sp>
      <p:sp>
        <p:nvSpPr>
          <p:cNvPr id="22" name="Text 20"/>
          <p:cNvSpPr/>
          <p:nvPr/>
        </p:nvSpPr>
        <p:spPr>
          <a:xfrm>
            <a:off x="2656332" y="4617720"/>
            <a:ext cx="3044952" cy="502920"/>
          </a:xfrm>
          <a:prstGeom prst="rect">
            <a:avLst/>
          </a:prstGeom>
          <a:noFill/>
        </p:spPr>
        <p:txBody>
          <a:bodyPr wrap="square" rtlCol="0" anchor="t"/>
          <a:lstStyle/>
          <a:p>
            <a:pPr marL="0" indent="0">
              <a:buNone/>
            </a:pPr>
            <a:r>
              <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Count the cost of closed beds</a:t>
            </a:r>
            <a:endPar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23" name="Text 21"/>
          <p:cNvSpPr/>
          <p:nvPr/>
        </p:nvSpPr>
        <p:spPr>
          <a:xfrm>
            <a:off x="2656332" y="5093208"/>
            <a:ext cx="3044952" cy="640080"/>
          </a:xfrm>
          <a:prstGeom prst="rect">
            <a:avLst/>
          </a:prstGeom>
          <a:noFill/>
        </p:spPr>
        <p:txBody>
          <a:bodyPr wrap="square" rtlCol="0" anchor="t"/>
          <a:lstStyle/>
          <a:p>
            <a:pPr marL="0" indent="0">
              <a:lnSpc>
                <a:spcPct val="110000"/>
              </a:lnSpc>
              <a:buNone/>
            </a:pPr>
            <a:r>
              <a:rPr lang="en-GB" alt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We need to w</a:t>
            </a: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ork out how many patients we could treat if those 154 closed beds a day were opened.</a:t>
            </a:r>
            <a:endPar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24" name="Shape 22"/>
          <p:cNvSpPr/>
          <p:nvPr/>
        </p:nvSpPr>
        <p:spPr>
          <a:xfrm>
            <a:off x="6185916" y="3794760"/>
            <a:ext cx="3502152" cy="1965960"/>
          </a:xfrm>
          <a:prstGeom prst="roundRect">
            <a:avLst>
              <a:gd name="adj" fmla="val 4651"/>
            </a:avLst>
          </a:prstGeom>
          <a:solidFill>
            <a:srgbClr val="F7F9F9"/>
          </a:solidFill>
          <a:ln w="12700">
            <a:solidFill>
              <a:srgbClr val="E5E7EB"/>
            </a:solidFill>
            <a:prstDash val="solid"/>
          </a:ln>
        </p:spPr>
      </p:sp>
      <p:sp>
        <p:nvSpPr>
          <p:cNvPr id="25" name="Shape 23"/>
          <p:cNvSpPr/>
          <p:nvPr/>
        </p:nvSpPr>
        <p:spPr>
          <a:xfrm>
            <a:off x="6414516" y="4023360"/>
            <a:ext cx="457200" cy="457200"/>
          </a:xfrm>
          <a:prstGeom prst="ellipse">
            <a:avLst/>
          </a:prstGeom>
          <a:solidFill>
            <a:srgbClr val="D64545"/>
          </a:solidFill>
        </p:spPr>
      </p:sp>
      <p:sp>
        <p:nvSpPr>
          <p:cNvPr id="26" name="Text 24"/>
          <p:cNvSpPr/>
          <p:nvPr/>
        </p:nvSpPr>
        <p:spPr>
          <a:xfrm>
            <a:off x="6414516" y="4023360"/>
            <a:ext cx="457200" cy="457200"/>
          </a:xfrm>
          <a:prstGeom prst="rect">
            <a:avLst/>
          </a:prstGeom>
          <a:noFill/>
        </p:spPr>
        <p:txBody>
          <a:bodyPr wrap="square" rtlCol="0" anchor="ctr"/>
          <a:lstStyle/>
          <a:p>
            <a:pPr marL="0" indent="0" algn="ctr">
              <a:buNone/>
            </a:pPr>
            <a:r>
              <a:rPr lang="en-US" sz="16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rPr>
              <a:t>5</a:t>
            </a:r>
            <a:endParaRPr lang="en-US" sz="1600" dirty="0"/>
          </a:p>
        </p:txBody>
      </p:sp>
      <p:sp>
        <p:nvSpPr>
          <p:cNvPr id="27" name="Text 25"/>
          <p:cNvSpPr/>
          <p:nvPr/>
        </p:nvSpPr>
        <p:spPr>
          <a:xfrm>
            <a:off x="6414516" y="4617720"/>
            <a:ext cx="3044952" cy="502920"/>
          </a:xfrm>
          <a:prstGeom prst="rect">
            <a:avLst/>
          </a:prstGeom>
          <a:noFill/>
        </p:spPr>
        <p:txBody>
          <a:bodyPr wrap="square" rtlCol="0" anchor="t"/>
          <a:lstStyle/>
          <a:p>
            <a:pPr marL="0" indent="0">
              <a:buNone/>
            </a:pPr>
            <a:r>
              <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rPr>
              <a:t>Recheck ward-level bed data</a:t>
            </a:r>
            <a:endParaRPr lang="en-US" sz="1400" b="1" dirty="0">
              <a:solidFill>
                <a:srgbClr val="222222"/>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28" name="Text 26"/>
          <p:cNvSpPr/>
          <p:nvPr/>
        </p:nvSpPr>
        <p:spPr>
          <a:xfrm>
            <a:off x="6414770" y="5093335"/>
            <a:ext cx="3251200" cy="640080"/>
          </a:xfrm>
          <a:prstGeom prst="rect">
            <a:avLst/>
          </a:prstGeom>
          <a:noFill/>
        </p:spPr>
        <p:txBody>
          <a:bodyPr wrap="square" rtlCol="0" anchor="t"/>
          <a:lstStyle/>
          <a:p>
            <a:pPr marL="0" indent="0">
              <a:lnSpc>
                <a:spcPct val="110000"/>
              </a:lnSpc>
              <a:buNone/>
            </a:pP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Occupancy and closed-bed figures look identical across wards—</a:t>
            </a:r>
            <a:r>
              <a:rPr lang="en-GB" alt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 it is </a:t>
            </a:r>
            <a:r>
              <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rPr>
              <a:t>worth a quick data check.</a:t>
            </a:r>
            <a:endParaRPr lang="en-US" sz="1200" dirty="0">
              <a:solidFill>
                <a:srgbClr val="6B7280"/>
              </a:solidFill>
              <a:latin typeface="Calibri" panose="020F0502020204030204" pitchFamily="34" charset="0"/>
              <a:ea typeface="Calibri" panose="020F0502020204030204" pitchFamily="34" charset="-122"/>
              <a:cs typeface="Calibri" panose="020F0502020204030204" pitchFamily="34" charset="-120"/>
            </a:endParaRPr>
          </a:p>
        </p:txBody>
      </p:sp>
      <p:sp>
        <p:nvSpPr>
          <p:cNvPr id="29" name="Text 27"/>
          <p:cNvSpPr/>
          <p:nvPr/>
        </p:nvSpPr>
        <p:spPr>
          <a:xfrm>
            <a:off x="11521440" y="6492240"/>
            <a:ext cx="457200" cy="274320"/>
          </a:xfrm>
          <a:prstGeom prst="rect">
            <a:avLst/>
          </a:prstGeom>
          <a:noFill/>
        </p:spPr>
        <p:txBody>
          <a:bodyPr wrap="square" rtlCol="0" anchor="ctr"/>
          <a:lstStyle/>
          <a:p>
            <a:pPr marL="0" indent="0" algn="r">
              <a:buNone/>
            </a:pPr>
            <a:r>
              <a:rPr lang="en-US" sz="1000" dirty="0">
                <a:solidFill>
                  <a:srgbClr val="6B7280"/>
                </a:solidFill>
                <a:latin typeface="Calibri" panose="020F0502020204030204" pitchFamily="34" charset="0"/>
                <a:ea typeface="Calibri" panose="020F0502020204030204" pitchFamily="34" charset="-122"/>
                <a:cs typeface="Calibri" panose="020F0502020204030204"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B1F23"/>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114800" cy="4114800"/>
          </a:xfrm>
          <a:prstGeom prst="ellipse">
            <a:avLst/>
          </a:prstGeom>
          <a:solidFill>
            <a:srgbClr val="028090">
              <a:alpha val="45000"/>
            </a:srgbClr>
          </a:solidFill>
        </p:spPr>
      </p:sp>
      <p:sp>
        <p:nvSpPr>
          <p:cNvPr id="3" name="Shape 1"/>
          <p:cNvSpPr/>
          <p:nvPr/>
        </p:nvSpPr>
        <p:spPr>
          <a:xfrm>
            <a:off x="9875520" y="4754880"/>
            <a:ext cx="3200400" cy="3200400"/>
          </a:xfrm>
          <a:prstGeom prst="ellipse">
            <a:avLst/>
          </a:prstGeom>
          <a:solidFill>
            <a:srgbClr val="00A896">
              <a:alpha val="40000"/>
            </a:srgbClr>
          </a:solidFill>
        </p:spPr>
      </p:sp>
      <p:sp>
        <p:nvSpPr>
          <p:cNvPr id="4" name="Text 2"/>
          <p:cNvSpPr/>
          <p:nvPr/>
        </p:nvSpPr>
        <p:spPr>
          <a:xfrm>
            <a:off x="731520" y="2651760"/>
            <a:ext cx="10515600" cy="914400"/>
          </a:xfrm>
          <a:prstGeom prst="rect">
            <a:avLst/>
          </a:prstGeom>
          <a:noFill/>
        </p:spPr>
        <p:txBody>
          <a:bodyPr wrap="square" rtlCol="0" anchor="ctr"/>
          <a:lstStyle/>
          <a:p>
            <a:pPr marL="0" indent="0">
              <a:buNone/>
            </a:pPr>
            <a:r>
              <a:rPr lang="en-US" sz="44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rPr>
              <a:t>Thank You</a:t>
            </a:r>
            <a:endParaRPr lang="en-US" sz="4400" b="1" dirty="0">
              <a:solidFill>
                <a:srgbClr val="FFFFFF"/>
              </a:solidFill>
              <a:latin typeface="Bookman Old Style" panose="02050604050505020204" pitchFamily="34" charset="0"/>
              <a:ea typeface="Bookman Old Style" panose="02050604050505020204" pitchFamily="34" charset="-122"/>
              <a:cs typeface="Bookman Old Style" panose="02050604050505020204" pitchFamily="34" charset="-120"/>
            </a:endParaRPr>
          </a:p>
        </p:txBody>
      </p:sp>
      <p:sp>
        <p:nvSpPr>
          <p:cNvPr id="5" name="Text 3"/>
          <p:cNvSpPr/>
          <p:nvPr/>
        </p:nvSpPr>
        <p:spPr>
          <a:xfrm>
            <a:off x="731520" y="3429000"/>
            <a:ext cx="9144000" cy="457200"/>
          </a:xfrm>
          <a:prstGeom prst="rect">
            <a:avLst/>
          </a:prstGeom>
          <a:noFill/>
        </p:spPr>
        <p:txBody>
          <a:bodyPr wrap="square" rtlCol="0" anchor="ctr"/>
          <a:lstStyle/>
          <a:p>
            <a:pPr marL="0" indent="0">
              <a:buNone/>
            </a:pPr>
            <a:r>
              <a:rPr lang="en-US" sz="1800" i="1" dirty="0">
                <a:solidFill>
                  <a:srgbClr val="E5E7EB"/>
                </a:solidFill>
                <a:latin typeface="Calibri" panose="020F0502020204030204" pitchFamily="34" charset="0"/>
                <a:ea typeface="Calibri" panose="020F0502020204030204" pitchFamily="34" charset="-122"/>
                <a:cs typeface="Calibri" panose="020F0502020204030204" pitchFamily="34" charset="-120"/>
              </a:rPr>
              <a:t>Questions and discussion welcome</a:t>
            </a:r>
            <a:endParaRPr lang="en-US" sz="1800" dirty="0"/>
          </a:p>
        </p:txBody>
      </p:sp>
      <p:sp>
        <p:nvSpPr>
          <p:cNvPr id="6" name="Text 4"/>
          <p:cNvSpPr/>
          <p:nvPr/>
        </p:nvSpPr>
        <p:spPr>
          <a:xfrm>
            <a:off x="731520" y="6126480"/>
            <a:ext cx="9144000" cy="365760"/>
          </a:xfrm>
          <a:prstGeom prst="rect">
            <a:avLst/>
          </a:prstGeom>
          <a:noFill/>
        </p:spPr>
        <p:txBody>
          <a:bodyPr wrap="square" rtlCol="0" anchor="ctr"/>
          <a:lstStyle/>
          <a:p>
            <a:pPr marL="0" indent="0">
              <a:buNone/>
            </a:pPr>
            <a:r>
              <a:rPr lang="en-US" sz="1600" dirty="0">
                <a:solidFill>
                  <a:srgbClr val="9CA3AF"/>
                </a:solidFill>
                <a:latin typeface="Calibri" panose="020F0502020204030204" pitchFamily="34" charset="0"/>
                <a:ea typeface="Calibri" panose="020F0502020204030204" pitchFamily="34" charset="-122"/>
                <a:cs typeface="Calibri" panose="020F0502020204030204" pitchFamily="34" charset="-120"/>
              </a:rPr>
              <a:t>Horizon Health Network  |  Bed Demand &amp; Workforce Analytics</a:t>
            </a:r>
            <a:endParaRPr lang="en-US" sz="1600" dirty="0">
              <a:solidFill>
                <a:srgbClr val="9CA3AF"/>
              </a:solidFill>
              <a:latin typeface="Calibri" panose="020F0502020204030204" pitchFamily="34" charset="0"/>
              <a:ea typeface="Calibri" panose="020F0502020204030204" pitchFamily="34" charset="-122"/>
              <a:cs typeface="Calibri" panose="020F0502020204030204" pitchFamily="34" charset="-12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4251</Words>
  <Application>WPS Presentation</Application>
  <PresentationFormat>On-screen Show (16:9)</PresentationFormat>
  <Paragraphs>231</Paragraphs>
  <Slides>11</Slides>
  <Notes>11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11</vt:i4>
      </vt:variant>
    </vt:vector>
  </HeadingPairs>
  <TitlesOfParts>
    <vt:vector size="24" baseType="lpstr">
      <vt:lpstr>Arial</vt:lpstr>
      <vt:lpstr>SimSun</vt:lpstr>
      <vt:lpstr>Wingdings</vt:lpstr>
      <vt:lpstr>Calibri</vt:lpstr>
      <vt:lpstr>Calibri</vt:lpstr>
      <vt:lpstr>Calibri</vt:lpstr>
      <vt:lpstr>Bookman Old Style</vt:lpstr>
      <vt:lpstr>Bookman Old Style</vt:lpstr>
      <vt:lpstr>Bookman Old Style</vt:lpstr>
      <vt:lpstr>Arial</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Iheanyi Okwara</cp:lastModifiedBy>
  <cp:revision>5</cp:revision>
  <dcterms:created xsi:type="dcterms:W3CDTF">2026-08-23T20:25:00Z</dcterms:created>
  <dcterms:modified xsi:type="dcterms:W3CDTF">2026-08-24T05:06:18Z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9FB718F032C74D06930CC179A2A75E3B_12</vt:lpwstr>
  </property>
</Properties>
</file>